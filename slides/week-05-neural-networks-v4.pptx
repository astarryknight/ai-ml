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7"/>
    <p:restoredTop sz="89168"/>
  </p:normalViewPr>
  <p:slideViewPr>
    <p:cSldViewPr snapToGrid="0">
      <p:cViewPr varScale="1">
        <p:scale>
          <a:sx n="137" d="100"/>
          <a:sy n="137" d="100"/>
        </p:scale>
        <p:origin x="9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Accuracy</c:v>
          </c:tx>
          <c:spPr>
            <a:solidFill>
              <a:srgbClr val="147D8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8A9AA6"/>
              </a:solidFill>
              <a:ln w="9525">
                <a:solidFill>
                  <a:srgbClr val="8A9AA6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DA64-7040-8873-A6612E321E67}"/>
              </c:ext>
            </c:extLst>
          </c:dPt>
          <c:dPt>
            <c:idx val="1"/>
            <c:invertIfNegative val="0"/>
            <c:bubble3D val="0"/>
            <c:spPr>
              <a:solidFill>
                <a:srgbClr val="147D88"/>
              </a:solidFill>
              <a:ln w="9525">
                <a:solidFill>
                  <a:srgbClr val="147D88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DA64-7040-8873-A6612E321E67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1">
                    <a:solidFill>
                      <a:srgbClr val="132A3A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Majority baseline</c:v>
                </c:pt>
                <c:pt idx="1">
                  <c:v>Neural network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0.622</c:v>
                </c:pt>
                <c:pt idx="1">
                  <c:v>0.97199999999999998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64-7040-8873-A6612E321E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0.0%" sourceLinked="1"/>
        <c:majorTickMark val="none"/>
        <c:minorTickMark val="none"/>
        <c:tickLblPos val="nextTo"/>
        <c:spPr>
          <a:ln w="9525">
            <a:solidFill>
              <a:srgbClr val="D9E4EA"/>
            </a:solidFill>
            <a:prstDash val="solid"/>
          </a:ln>
        </c:spPr>
        <c:txPr>
          <a:bodyPr anchorCtr="1"/>
          <a:lstStyle/>
          <a:p>
            <a:pPr>
              <a:defRPr sz="1200" b="1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noFill/>
        <a:ln w="0">
          <a:noFill/>
          <a:prstDash val="solid"/>
        </a:ln>
      </c:spPr>
    </c:plotArea>
    <c:plotVisOnly val="1"/>
    <c:dispBlanksAs val="zero"/>
    <c:showDLblsOverMax val="1"/>
  </c:chart>
  <c:spPr>
    <a:noFill/>
    <a:ln w="0">
      <a:noFill/>
      <a:prstDash val="solid"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0:00–0:40</a:t>
            </a:r>
          </a:p>
          <a:p>
            <a:r>
              <a:t>Open with the end goal: we are not proving every equation today. We are building enough intuition to understand every major line in the notebook.</a:t>
            </a:r>
          </a:p>
          <a:p>
            <a:r>
              <a:t>Ask: what would you want to know before trusting a model that predicts loan approval?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0:40–1:55</a:t>
            </a:r>
          </a:p>
          <a:p>
            <a:r>
              <a:t>Trace the direction of information from dendrites through the soma and down the axon.</a:t>
            </a:r>
          </a:p>
          <a:p>
            <a:r>
              <a:t>Keep the analogy modest. Artificial neural networks borrowed vocabulary and a broad input-combine-output idea, but their units are mathematical functions rather than biological cells.</a:t>
            </a:r>
          </a:p>
          <a:p>
            <a:r>
              <a:t>Biology source: https://openstax.org/books/psychology/pages/3-2-cells-of-the-nervous-system</a:t>
            </a:r>
          </a:p>
          <a:p>
            <a:r>
              <a:t>Image source and license: https://commons.wikimedia.org/wiki/File:Neuron3.svg, CC BY-SA 4.0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1:55–3:15</a:t>
            </a:r>
          </a:p>
          <a:p>
            <a:r>
              <a:t>Name each layer from left to right. Inputs hold values, hidden neurons learn combinations, and outputs hold scores or predictions.</a:t>
            </a:r>
          </a:p>
          <a:p>
            <a:r>
              <a:t>The lines represent learned connections. Each connection has a weight that changes during training.</a:t>
            </a:r>
          </a:p>
          <a:p>
            <a:r>
              <a:t>Preview the notebook: our model stays small and uses one hidden layer with eight neurons.</a:t>
            </a:r>
          </a:p>
          <a:p>
            <a:r>
              <a:t>Theory source: 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3:15–4:15</a:t>
            </a:r>
          </a:p>
          <a:p>
            <a:r>
              <a:t>Name the six inputs slowly. They are concrete financial fields, which makes the example easier to reason about than raw pixels.</a:t>
            </a:r>
          </a:p>
          <a:p>
            <a:r>
              <a:t>Emphasize that the target is the dataset's historical approval label. Prediction is not the same as a fair or legitimate lending decision.</a:t>
            </a:r>
          </a:p>
          <a:p>
            <a:r>
              <a:t>Source: https://www.kaggle.com/datasets/architsharma01/loan-approval-prediction-dataset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4:15–5:15</a:t>
            </a:r>
          </a:p>
          <a:p>
            <a:r>
              <a:t>Avoid equations unless the room asks. A neuron is a weighted evidence collector: multiply, add, then pass a signal forward.</a:t>
            </a:r>
          </a:p>
          <a:p>
            <a:r>
              <a:t>The signs shown are intuition, not a claim about the fitted model's exact learned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5:15–6:20</a:t>
            </a:r>
          </a:p>
          <a:p>
            <a:r>
              <a:t>Point from left to right. Six numbers enter, eight small pattern detectors sit in the hidden layer, and one approval probability comes out.</a:t>
            </a:r>
          </a:p>
          <a:p>
            <a:r>
              <a:t>Use the practical example: the same loan amount can mean something different at different income and credit-score levels.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6:20–7:20</a:t>
            </a:r>
          </a:p>
          <a:p>
            <a:r>
              <a:t>Demonstrate ReLU with the two numbers. This is the only activation math learners need before the notebook.</a:t>
            </a:r>
          </a:p>
          <a:p>
            <a:r>
              <a:t>Connect back to the task: the network can learn interactions instead of relying on one straight boundary.</a:t>
            </a:r>
          </a:p>
          <a:p>
            <a:r>
              <a:t>Source: https://scikit-learn.org/stable/modules/generated/sklearn.neural_network.MLPClassifier.html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7:20–8:20</a:t>
            </a:r>
          </a:p>
          <a:p>
            <a:r>
              <a:t>Walk clockwise through the loop. Backpropagation answers which connections contributed to the error. The optimizer then nudges those weights.</a:t>
            </a:r>
          </a:p>
          <a:p>
            <a:r>
              <a:t>Lower the intimidation level: scikit-learn handles derivatives and updates when we call fit().</a:t>
            </a:r>
          </a:p>
          <a:p>
            <a:r>
              <a:t>Source: https://scikit-learn.org/stable/modules/neural_networks_supervised.html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8:20–9:15</a:t>
            </a:r>
          </a:p>
          <a:p>
            <a:r>
              <a:t>The numeric examples on the right are illustrative, not values from a specific row. The point is comparable scale, not the exact standardized result.</a:t>
            </a:r>
          </a:p>
          <a:p>
            <a:r>
              <a:t>Stress the train-only rule because fitting the scaler on all data leaks information from the test set.</a:t>
            </a:r>
          </a:p>
          <a:p>
            <a:r>
              <a:t>Source: https://scikit-learn.org/stable/modules/generated/sklearn.preprocessing.StandardScaler.html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9:15–10:15</a:t>
            </a:r>
          </a:p>
          <a:p>
            <a:r>
              <a:t>Make the distinction explicit: predict_proba returns a score first. The threshold turns that score into a class label.</a:t>
            </a:r>
          </a:p>
          <a:p>
            <a:r>
              <a:t>The three percentages are illustrative. Ask which case deserves more human review: 54 percent is intentionally close to the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10:15–11:40</a:t>
            </a:r>
          </a:p>
          <a:p>
            <a:r>
              <a:t>Compare the baseline and network first. Then point to balanced accuracy so learners see that class balance was considered.</a:t>
            </a:r>
          </a:p>
          <a:p>
            <a:r>
              <a:t>Do not oversell the result. The source dataset does not clearly document collection process or currency units, and a held-out score does not establish fairness.</a:t>
            </a:r>
          </a:p>
          <a:p>
            <a:r>
              <a:t>Metrics reproduced from notebooks/week-05-neural-networks.ipynb with random_state=42.</a:t>
            </a:r>
          </a:p>
          <a:p>
            <a:r>
              <a:t>Dataset source: https://www.kaggle.com/datasets/architsharma01/loan-approval-prediction-dataset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11:40–12:30</a:t>
            </a:r>
          </a:p>
          <a:p>
            <a:r>
              <a:t>Transition immediately into the notebook. The first code cell shows the finished result, then the class rebuilds the pipeline step by step.</a:t>
            </a:r>
          </a:p>
          <a:p>
            <a:r>
              <a:t>Invite learners to keep the four questions visible while reading code. They turn implementation details into a model-inspection habit.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A14432D-B914-44D0-9316-FEC335EB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9342ED64-4229-4F36-8330-27E81AEFB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1B858D2-1E67-4478-A8BE-53811EFDF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BE37696-60FA-4788-81E6-03984E7D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6BD3084-FFC0-4A4A-80A0-0C70CD873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A268456-57CD-4165-A2B2-C0A08CD58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CEF09B5-AF22-4F6F-8D24-11D83E5BC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466EF95-0DEE-4504-881A-3616FAEB95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A51B5AA-5C5F-42DE-B304-630FE9BE3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9A60B6E-73DD-4BD6-929D-A30858D51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FFC4FA9-AEF3-4839-8740-A6F0F0689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9525000" y="5257800"/>
            <a:ext cx="1809750" cy="7810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F5EBC9B-8042-4D90-BFFC-7F15BB557B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F2B81-B7EB-4538-9269-EC0F36FE6637}"/>
              </a:ext>
            </a:extLst>
          </p:cNvPr>
          <p:cNvSpPr>
            <a:spLocks noGrp="1"/>
          </p:cNvSpPr>
          <p:nvPr/>
        </p:nvSpPr>
        <p:spPr>
          <a:xfrm>
            <a:off x="819150" y="10668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05F75D-BC0B-4E11-95E0-3F32D126EA63}"/>
              </a:ext>
            </a:extLst>
          </p:cNvPr>
          <p:cNvSpPr>
            <a:spLocks noGrp="1"/>
          </p:cNvSpPr>
          <p:nvPr/>
        </p:nvSpPr>
        <p:spPr>
          <a:xfrm>
            <a:off x="819150" y="1676400"/>
            <a:ext cx="8763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Neural Networks</a:t>
            </a:r>
          </a:p>
          <a:p>
            <a:pPr algn="l">
              <a:buNone/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Loan Approval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B5AD93-E733-4133-87EF-9A791592D396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809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A quick theory primer before the code deep dive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84F773A6-427B-47DC-BA70-F8BEBC3E5A33}"/>
              </a:ext>
            </a:extLst>
          </p:cNvPr>
          <p:cNvSpPr>
            <a:spLocks noGrp="1"/>
          </p:cNvSpPr>
          <p:nvPr/>
        </p:nvSpPr>
        <p:spPr>
          <a:xfrm>
            <a:off x="857250" y="4686300"/>
            <a:ext cx="2952750" cy="0"/>
          </a:xfrm>
          <a:prstGeom prst="line">
            <a:avLst/>
          </a:prstGeom>
          <a:noFill/>
          <a:ln w="2857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B7C9BBC-E5E0-4495-8F47-D576BDC4C3F8}"/>
              </a:ext>
            </a:extLst>
          </p:cNvPr>
          <p:cNvSpPr>
            <a:spLocks noGrp="1"/>
          </p:cNvSpPr>
          <p:nvPr/>
        </p:nvSpPr>
        <p:spPr>
          <a:xfrm>
            <a:off x="857250" y="5000625"/>
            <a:ext cx="4953000" cy="419100"/>
          </a:xfrm>
          <a:prstGeom prst="roundRect">
            <a:avLst>
              <a:gd name="adj" fmla="val 50000"/>
            </a:avLst>
          </a:prstGeom>
          <a:solidFill>
            <a:srgbClr val="183849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8D5D5"/>
                </a:solidFill>
                <a:latin typeface="Helvetica Neue"/>
                <a:ea typeface="Helvetica Neue"/>
                <a:cs typeface="Helvetica Neue"/>
              </a:rPr>
              <a:t>6 financial inputs  →  1 approval probability</a:t>
            </a:r>
          </a:p>
        </p:txBody>
      </p:sp>
    </p:spTree>
    <p:extLst>
      <p:ext uri="{BB962C8B-B14F-4D97-AF65-F5344CB8AC3E}">
        <p14:creationId xmlns:p14="http://schemas.microsoft.com/office/powerpoint/2010/main" val="1545414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52CC5AF-43A8-4F27-BEC5-3E2E10CF0A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EE85FA-9032-485F-BEE8-3D440A7CFF9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414B2A-9C1A-4D41-B411-EDA544BD823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biological neuron passes a signal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820139B-D019-46BA-8420-6636E0A8D2B1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684B98-D205-402F-9630-1A0275560045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5734DE9-82B6-4CEA-B300-BC79E20A3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685800" y="1809750"/>
            <a:ext cx="6667500" cy="36766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49ED14-2749-4CDD-80AD-4BBFA5F340BB}"/>
              </a:ext>
            </a:extLst>
          </p:cNvPr>
          <p:cNvSpPr>
            <a:spLocks noGrp="1"/>
          </p:cNvSpPr>
          <p:nvPr/>
        </p:nvSpPr>
        <p:spPr>
          <a:xfrm>
            <a:off x="7848600" y="19240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Dendrites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913BA2-63F8-4F92-AE04-D51376F635F8}"/>
              </a:ext>
            </a:extLst>
          </p:cNvPr>
          <p:cNvSpPr>
            <a:spLocks noGrp="1"/>
          </p:cNvSpPr>
          <p:nvPr/>
        </p:nvSpPr>
        <p:spPr>
          <a:xfrm>
            <a:off x="7848600" y="2343150"/>
            <a:ext cx="3238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Receive signals from other neurons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16FBE76D-DA33-467B-98AA-48DB2CECAB29}"/>
              </a:ext>
            </a:extLst>
          </p:cNvPr>
          <p:cNvSpPr>
            <a:spLocks noGrp="1"/>
          </p:cNvSpPr>
          <p:nvPr/>
        </p:nvSpPr>
        <p:spPr>
          <a:xfrm>
            <a:off x="7848600" y="3105150"/>
            <a:ext cx="3238500" cy="0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BCCC74-315C-44EB-9D4E-9BDDA5E8600B}"/>
              </a:ext>
            </a:extLst>
          </p:cNvPr>
          <p:cNvSpPr>
            <a:spLocks noGrp="1"/>
          </p:cNvSpPr>
          <p:nvPr/>
        </p:nvSpPr>
        <p:spPr>
          <a:xfrm>
            <a:off x="7848600" y="329565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Soma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95511A-A522-4965-A45C-C18F8025D048}"/>
              </a:ext>
            </a:extLst>
          </p:cNvPr>
          <p:cNvSpPr>
            <a:spLocks noGrp="1"/>
          </p:cNvSpPr>
          <p:nvPr/>
        </p:nvSpPr>
        <p:spPr>
          <a:xfrm>
            <a:off x="7848600" y="371475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Combines incoming activity inside the cell body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0D5949E3-2AD5-4E90-9494-EA49E3EDF6A0}"/>
              </a:ext>
            </a:extLst>
          </p:cNvPr>
          <p:cNvSpPr>
            <a:spLocks noGrp="1"/>
          </p:cNvSpPr>
          <p:nvPr/>
        </p:nvSpPr>
        <p:spPr>
          <a:xfrm>
            <a:off x="7848600" y="4495800"/>
            <a:ext cx="3238500" cy="0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5005D3-2A87-46C4-A576-DD5E552AC7C1}"/>
              </a:ext>
            </a:extLst>
          </p:cNvPr>
          <p:cNvSpPr>
            <a:spLocks noGrp="1"/>
          </p:cNvSpPr>
          <p:nvPr/>
        </p:nvSpPr>
        <p:spPr>
          <a:xfrm>
            <a:off x="7848600" y="4686300"/>
            <a:ext cx="285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Axon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932AED-52BF-4BDF-B2B5-BEBA5791C167}"/>
              </a:ext>
            </a:extLst>
          </p:cNvPr>
          <p:cNvSpPr>
            <a:spLocks noGrp="1"/>
          </p:cNvSpPr>
          <p:nvPr/>
        </p:nvSpPr>
        <p:spPr>
          <a:xfrm>
            <a:off x="7848600" y="5105400"/>
            <a:ext cx="32385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Carries the outgoing signal toward other cells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E71B7B-7001-41CA-BAFB-3F3945CF3682}"/>
              </a:ext>
            </a:extLst>
          </p:cNvPr>
          <p:cNvSpPr>
            <a:spLocks noGrp="1"/>
          </p:cNvSpPr>
          <p:nvPr/>
        </p:nvSpPr>
        <p:spPr>
          <a:xfrm>
            <a:off x="1066800" y="5829300"/>
            <a:ext cx="10058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525" lnSpcReduction="10000"/>
          </a:bodyPr>
          <a:lstStyle>
            <a:def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6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Artificial neurons borrow the idea that many inputs influence one outgoing signal. </a:t>
            </a:r>
            <a:r>
              <a:rPr lang="en-US" sz="165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They do not reproduce a real brain cell.</a:t>
            </a:r>
            <a:endParaRPr sz="1650" b="1" dirty="0">
              <a:solidFill>
                <a:srgbClr val="132A3A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D92D41-BE6D-4236-B44B-E5B074BBB736}"/>
              </a:ext>
            </a:extLst>
          </p:cNvPr>
          <p:cNvSpPr>
            <a:spLocks noGrp="1"/>
          </p:cNvSpPr>
          <p:nvPr/>
        </p:nvSpPr>
        <p:spPr>
          <a:xfrm>
            <a:off x="685800" y="6267450"/>
            <a:ext cx="6858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9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9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Diagram: Egm4313.s12, CC BY-SA 4.0, via Wikimedia Commons</a:t>
            </a:r>
          </a:p>
        </p:txBody>
      </p:sp>
    </p:spTree>
    <p:extLst>
      <p:ext uri="{BB962C8B-B14F-4D97-AF65-F5344CB8AC3E}">
        <p14:creationId xmlns:p14="http://schemas.microsoft.com/office/powerpoint/2010/main" val="1689343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78">
            <a:extLst>
              <a:ext uri="{FF2B5EF4-FFF2-40B4-BE49-F238E27FC236}">
                <a16:creationId xmlns:a16="http://schemas.microsoft.com/office/drawing/2014/main" id="{511438E6-6CA2-4B47-978A-EEAF09CA81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1607B1-4F73-4B9F-924C-9E1D61A4C89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DB9E3-E317-4567-85DD-60257C58B8DE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general structure of a neural network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A884FA5-D5CD-42A3-80B6-25A93957295B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00A75A-F290-434C-84A6-CB65295DEDE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41783E-872E-4F48-9F1E-0B52CD6EE7C0}"/>
              </a:ext>
            </a:extLst>
          </p:cNvPr>
          <p:cNvSpPr>
            <a:spLocks noGrp="1"/>
          </p:cNvSpPr>
          <p:nvPr/>
        </p:nvSpPr>
        <p:spPr>
          <a:xfrm>
            <a:off x="1143000" y="1733550"/>
            <a:ext cx="990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Values move through layers of connected artificial neurons.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5E65DE9-9A4B-4656-934B-898933527B13}"/>
              </a:ext>
            </a:extLst>
          </p:cNvPr>
          <p:cNvSpPr>
            <a:spLocks noGrp="1"/>
          </p:cNvSpPr>
          <p:nvPr/>
        </p:nvSpPr>
        <p:spPr>
          <a:xfrm flipV="1">
            <a:off x="2019300" y="2581275"/>
            <a:ext cx="2190750" cy="2667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B1CAECD6-1A31-4D34-9D05-4D0C659725B4}"/>
              </a:ext>
            </a:extLst>
          </p:cNvPr>
          <p:cNvSpPr>
            <a:spLocks noGrp="1"/>
          </p:cNvSpPr>
          <p:nvPr/>
        </p:nvSpPr>
        <p:spPr>
          <a:xfrm>
            <a:off x="2019300" y="2847975"/>
            <a:ext cx="2190750" cy="3619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447A6288-1F20-43C7-B850-D2225683AE70}"/>
              </a:ext>
            </a:extLst>
          </p:cNvPr>
          <p:cNvSpPr>
            <a:spLocks noGrp="1"/>
          </p:cNvSpPr>
          <p:nvPr/>
        </p:nvSpPr>
        <p:spPr>
          <a:xfrm>
            <a:off x="2019300" y="2847975"/>
            <a:ext cx="2190750" cy="9906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7149638-2AA9-422E-993C-62262579DF92}"/>
              </a:ext>
            </a:extLst>
          </p:cNvPr>
          <p:cNvSpPr>
            <a:spLocks noGrp="1"/>
          </p:cNvSpPr>
          <p:nvPr/>
        </p:nvSpPr>
        <p:spPr>
          <a:xfrm>
            <a:off x="2019300" y="2847975"/>
            <a:ext cx="2190750" cy="16192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532C6D92-FF9B-469F-BD41-9374D95E174F}"/>
              </a:ext>
            </a:extLst>
          </p:cNvPr>
          <p:cNvSpPr>
            <a:spLocks noGrp="1"/>
          </p:cNvSpPr>
          <p:nvPr/>
        </p:nvSpPr>
        <p:spPr>
          <a:xfrm>
            <a:off x="2019300" y="2847975"/>
            <a:ext cx="2190750" cy="22479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EA512B03-0AA7-4137-9499-8A6FA27FE267}"/>
              </a:ext>
            </a:extLst>
          </p:cNvPr>
          <p:cNvSpPr>
            <a:spLocks noGrp="1"/>
          </p:cNvSpPr>
          <p:nvPr/>
        </p:nvSpPr>
        <p:spPr>
          <a:xfrm flipV="1">
            <a:off x="2019300" y="2581275"/>
            <a:ext cx="2190750" cy="9334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5D8AFCB-84F2-4B87-A4DE-D27EE809EC93}"/>
              </a:ext>
            </a:extLst>
          </p:cNvPr>
          <p:cNvSpPr>
            <a:spLocks noGrp="1"/>
          </p:cNvSpPr>
          <p:nvPr/>
        </p:nvSpPr>
        <p:spPr>
          <a:xfrm flipV="1">
            <a:off x="2019300" y="3209925"/>
            <a:ext cx="2190750" cy="3048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C2E6F6F8-D044-4E87-8ECB-C52009622D2D}"/>
              </a:ext>
            </a:extLst>
          </p:cNvPr>
          <p:cNvSpPr>
            <a:spLocks noGrp="1"/>
          </p:cNvSpPr>
          <p:nvPr/>
        </p:nvSpPr>
        <p:spPr>
          <a:xfrm>
            <a:off x="2019300" y="3514725"/>
            <a:ext cx="2190750" cy="3238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E3986D4-CD66-4002-8799-8ABC9179B3FD}"/>
              </a:ext>
            </a:extLst>
          </p:cNvPr>
          <p:cNvSpPr>
            <a:spLocks noGrp="1"/>
          </p:cNvSpPr>
          <p:nvPr/>
        </p:nvSpPr>
        <p:spPr>
          <a:xfrm>
            <a:off x="2019300" y="3514725"/>
            <a:ext cx="2190750" cy="9525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B6B6518E-69F0-4282-8FC5-0AD50EC808F0}"/>
              </a:ext>
            </a:extLst>
          </p:cNvPr>
          <p:cNvSpPr>
            <a:spLocks noGrp="1"/>
          </p:cNvSpPr>
          <p:nvPr/>
        </p:nvSpPr>
        <p:spPr>
          <a:xfrm>
            <a:off x="2019300" y="3514725"/>
            <a:ext cx="2190750" cy="15811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89AEB87F-7714-45BB-9A68-D624DE1EB7F7}"/>
              </a:ext>
            </a:extLst>
          </p:cNvPr>
          <p:cNvSpPr>
            <a:spLocks noGrp="1"/>
          </p:cNvSpPr>
          <p:nvPr/>
        </p:nvSpPr>
        <p:spPr>
          <a:xfrm flipV="1">
            <a:off x="2019300" y="2581275"/>
            <a:ext cx="2190750" cy="16002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4BAB14D2-88EA-4FE0-B6DD-ACDA4BF863F5}"/>
              </a:ext>
            </a:extLst>
          </p:cNvPr>
          <p:cNvSpPr>
            <a:spLocks noGrp="1"/>
          </p:cNvSpPr>
          <p:nvPr/>
        </p:nvSpPr>
        <p:spPr>
          <a:xfrm flipV="1">
            <a:off x="2019300" y="3209925"/>
            <a:ext cx="2190750" cy="9715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B9AD035E-CF15-4E25-8DD6-95E104267FCC}"/>
              </a:ext>
            </a:extLst>
          </p:cNvPr>
          <p:cNvSpPr>
            <a:spLocks noGrp="1"/>
          </p:cNvSpPr>
          <p:nvPr/>
        </p:nvSpPr>
        <p:spPr>
          <a:xfrm flipV="1">
            <a:off x="2019300" y="3838575"/>
            <a:ext cx="2190750" cy="3429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EE989BA2-642D-4112-81D2-ABD56A75D21C}"/>
              </a:ext>
            </a:extLst>
          </p:cNvPr>
          <p:cNvSpPr>
            <a:spLocks noGrp="1"/>
          </p:cNvSpPr>
          <p:nvPr/>
        </p:nvSpPr>
        <p:spPr>
          <a:xfrm>
            <a:off x="2019300" y="4181475"/>
            <a:ext cx="2190750" cy="2857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7E31BB5-DF3C-49D3-8E46-DD398A995D1F}"/>
              </a:ext>
            </a:extLst>
          </p:cNvPr>
          <p:cNvSpPr>
            <a:spLocks noGrp="1"/>
          </p:cNvSpPr>
          <p:nvPr/>
        </p:nvSpPr>
        <p:spPr>
          <a:xfrm>
            <a:off x="2019300" y="4181475"/>
            <a:ext cx="2190750" cy="9144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7C778FAC-13D7-4CBA-BD39-7B50DF03F4E0}"/>
              </a:ext>
            </a:extLst>
          </p:cNvPr>
          <p:cNvSpPr>
            <a:spLocks noGrp="1"/>
          </p:cNvSpPr>
          <p:nvPr/>
        </p:nvSpPr>
        <p:spPr>
          <a:xfrm flipV="1">
            <a:off x="2019300" y="2581275"/>
            <a:ext cx="2190750" cy="22669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90680AC0-B832-4FC9-BC9C-EABA354F0E7A}"/>
              </a:ext>
            </a:extLst>
          </p:cNvPr>
          <p:cNvSpPr>
            <a:spLocks noGrp="1"/>
          </p:cNvSpPr>
          <p:nvPr/>
        </p:nvSpPr>
        <p:spPr>
          <a:xfrm flipV="1">
            <a:off x="2019300" y="3209925"/>
            <a:ext cx="2190750" cy="16383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5D3AC873-0C49-44A7-AFC3-A8D0C7FF99B0}"/>
              </a:ext>
            </a:extLst>
          </p:cNvPr>
          <p:cNvSpPr>
            <a:spLocks noGrp="1"/>
          </p:cNvSpPr>
          <p:nvPr/>
        </p:nvSpPr>
        <p:spPr>
          <a:xfrm flipV="1">
            <a:off x="2019300" y="3838575"/>
            <a:ext cx="2190750" cy="10096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traight Connector 24">
            <a:extLst>
              <a:ext uri="{FF2B5EF4-FFF2-40B4-BE49-F238E27FC236}">
                <a16:creationId xmlns:a16="http://schemas.microsoft.com/office/drawing/2014/main" id="{9766E642-7D92-4AF2-8160-27EFAE5D4FC8}"/>
              </a:ext>
            </a:extLst>
          </p:cNvPr>
          <p:cNvSpPr>
            <a:spLocks noGrp="1"/>
          </p:cNvSpPr>
          <p:nvPr/>
        </p:nvSpPr>
        <p:spPr>
          <a:xfrm flipV="1">
            <a:off x="2019300" y="4467225"/>
            <a:ext cx="2190750" cy="3810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800ECC0C-B4FD-4B13-BC32-2920CDD8F901}"/>
              </a:ext>
            </a:extLst>
          </p:cNvPr>
          <p:cNvSpPr>
            <a:spLocks noGrp="1"/>
          </p:cNvSpPr>
          <p:nvPr/>
        </p:nvSpPr>
        <p:spPr>
          <a:xfrm>
            <a:off x="2019300" y="4848225"/>
            <a:ext cx="2190750" cy="2476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traight Connector 26">
            <a:extLst>
              <a:ext uri="{FF2B5EF4-FFF2-40B4-BE49-F238E27FC236}">
                <a16:creationId xmlns:a16="http://schemas.microsoft.com/office/drawing/2014/main" id="{5D8AFF73-9201-49C0-AE3B-50E932C96802}"/>
              </a:ext>
            </a:extLst>
          </p:cNvPr>
          <p:cNvSpPr>
            <a:spLocks noGrp="1"/>
          </p:cNvSpPr>
          <p:nvPr/>
        </p:nvSpPr>
        <p:spPr>
          <a:xfrm>
            <a:off x="4610100" y="2581275"/>
            <a:ext cx="2190750" cy="2667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traight Connector 27">
            <a:extLst>
              <a:ext uri="{FF2B5EF4-FFF2-40B4-BE49-F238E27FC236}">
                <a16:creationId xmlns:a16="http://schemas.microsoft.com/office/drawing/2014/main" id="{76093EE0-23FF-43AE-BBD7-74D74F2B347C}"/>
              </a:ext>
            </a:extLst>
          </p:cNvPr>
          <p:cNvSpPr>
            <a:spLocks noGrp="1"/>
          </p:cNvSpPr>
          <p:nvPr/>
        </p:nvSpPr>
        <p:spPr>
          <a:xfrm>
            <a:off x="4610100" y="2581275"/>
            <a:ext cx="2190750" cy="9334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traight Connector 28">
            <a:extLst>
              <a:ext uri="{FF2B5EF4-FFF2-40B4-BE49-F238E27FC236}">
                <a16:creationId xmlns:a16="http://schemas.microsoft.com/office/drawing/2014/main" id="{1E50AA09-DA02-4174-BA0E-F4A1C070A9CB}"/>
              </a:ext>
            </a:extLst>
          </p:cNvPr>
          <p:cNvSpPr>
            <a:spLocks noGrp="1"/>
          </p:cNvSpPr>
          <p:nvPr/>
        </p:nvSpPr>
        <p:spPr>
          <a:xfrm>
            <a:off x="4610100" y="2581275"/>
            <a:ext cx="2190750" cy="16002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traight Connector 29">
            <a:extLst>
              <a:ext uri="{FF2B5EF4-FFF2-40B4-BE49-F238E27FC236}">
                <a16:creationId xmlns:a16="http://schemas.microsoft.com/office/drawing/2014/main" id="{000EEB41-713B-4828-AEBB-DDF705317B2F}"/>
              </a:ext>
            </a:extLst>
          </p:cNvPr>
          <p:cNvSpPr>
            <a:spLocks noGrp="1"/>
          </p:cNvSpPr>
          <p:nvPr/>
        </p:nvSpPr>
        <p:spPr>
          <a:xfrm>
            <a:off x="4610100" y="2581275"/>
            <a:ext cx="2190750" cy="22669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traight Connector 30">
            <a:extLst>
              <a:ext uri="{FF2B5EF4-FFF2-40B4-BE49-F238E27FC236}">
                <a16:creationId xmlns:a16="http://schemas.microsoft.com/office/drawing/2014/main" id="{86673848-F1F9-453A-87D1-6C9A8020CE50}"/>
              </a:ext>
            </a:extLst>
          </p:cNvPr>
          <p:cNvSpPr>
            <a:spLocks noGrp="1"/>
          </p:cNvSpPr>
          <p:nvPr/>
        </p:nvSpPr>
        <p:spPr>
          <a:xfrm flipV="1">
            <a:off x="4610100" y="2847975"/>
            <a:ext cx="2190750" cy="3619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traight Connector 31">
            <a:extLst>
              <a:ext uri="{FF2B5EF4-FFF2-40B4-BE49-F238E27FC236}">
                <a16:creationId xmlns:a16="http://schemas.microsoft.com/office/drawing/2014/main" id="{7431ABC2-F407-4C66-9325-078CB9A8C1FC}"/>
              </a:ext>
            </a:extLst>
          </p:cNvPr>
          <p:cNvSpPr>
            <a:spLocks noGrp="1"/>
          </p:cNvSpPr>
          <p:nvPr/>
        </p:nvSpPr>
        <p:spPr>
          <a:xfrm>
            <a:off x="4610100" y="3209925"/>
            <a:ext cx="2190750" cy="3048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traight Connector 32">
            <a:extLst>
              <a:ext uri="{FF2B5EF4-FFF2-40B4-BE49-F238E27FC236}">
                <a16:creationId xmlns:a16="http://schemas.microsoft.com/office/drawing/2014/main" id="{93A088AA-ECA9-4D70-A76E-192DA78241DD}"/>
              </a:ext>
            </a:extLst>
          </p:cNvPr>
          <p:cNvSpPr>
            <a:spLocks noGrp="1"/>
          </p:cNvSpPr>
          <p:nvPr/>
        </p:nvSpPr>
        <p:spPr>
          <a:xfrm>
            <a:off x="4610100" y="3209925"/>
            <a:ext cx="2190750" cy="9715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traight Connector 33">
            <a:extLst>
              <a:ext uri="{FF2B5EF4-FFF2-40B4-BE49-F238E27FC236}">
                <a16:creationId xmlns:a16="http://schemas.microsoft.com/office/drawing/2014/main" id="{528342CE-7435-4707-99B3-7C82B81066DF}"/>
              </a:ext>
            </a:extLst>
          </p:cNvPr>
          <p:cNvSpPr>
            <a:spLocks noGrp="1"/>
          </p:cNvSpPr>
          <p:nvPr/>
        </p:nvSpPr>
        <p:spPr>
          <a:xfrm>
            <a:off x="4610100" y="3209925"/>
            <a:ext cx="2190750" cy="16383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traight Connector 34">
            <a:extLst>
              <a:ext uri="{FF2B5EF4-FFF2-40B4-BE49-F238E27FC236}">
                <a16:creationId xmlns:a16="http://schemas.microsoft.com/office/drawing/2014/main" id="{7C83F064-6D11-4573-93F3-6C7B70BA78ED}"/>
              </a:ext>
            </a:extLst>
          </p:cNvPr>
          <p:cNvSpPr>
            <a:spLocks noGrp="1"/>
          </p:cNvSpPr>
          <p:nvPr/>
        </p:nvSpPr>
        <p:spPr>
          <a:xfrm flipV="1">
            <a:off x="4610100" y="2847975"/>
            <a:ext cx="2190750" cy="9906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24A7404A-A1C9-4557-9953-41AF84869B11}"/>
              </a:ext>
            </a:extLst>
          </p:cNvPr>
          <p:cNvSpPr>
            <a:spLocks noGrp="1"/>
          </p:cNvSpPr>
          <p:nvPr/>
        </p:nvSpPr>
        <p:spPr>
          <a:xfrm flipV="1">
            <a:off x="4610100" y="3514725"/>
            <a:ext cx="2190750" cy="3238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traight Connector 36">
            <a:extLst>
              <a:ext uri="{FF2B5EF4-FFF2-40B4-BE49-F238E27FC236}">
                <a16:creationId xmlns:a16="http://schemas.microsoft.com/office/drawing/2014/main" id="{58B873BC-44FF-4C09-86E2-4313B33F65BC}"/>
              </a:ext>
            </a:extLst>
          </p:cNvPr>
          <p:cNvSpPr>
            <a:spLocks noGrp="1"/>
          </p:cNvSpPr>
          <p:nvPr/>
        </p:nvSpPr>
        <p:spPr>
          <a:xfrm>
            <a:off x="4610100" y="3838575"/>
            <a:ext cx="2190750" cy="3429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traight Connector 37">
            <a:extLst>
              <a:ext uri="{FF2B5EF4-FFF2-40B4-BE49-F238E27FC236}">
                <a16:creationId xmlns:a16="http://schemas.microsoft.com/office/drawing/2014/main" id="{E49B2BD4-EF48-4FA3-BC6C-E1501E5DFC5D}"/>
              </a:ext>
            </a:extLst>
          </p:cNvPr>
          <p:cNvSpPr>
            <a:spLocks noGrp="1"/>
          </p:cNvSpPr>
          <p:nvPr/>
        </p:nvSpPr>
        <p:spPr>
          <a:xfrm>
            <a:off x="4610100" y="3838575"/>
            <a:ext cx="2190750" cy="10096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traight Connector 38">
            <a:extLst>
              <a:ext uri="{FF2B5EF4-FFF2-40B4-BE49-F238E27FC236}">
                <a16:creationId xmlns:a16="http://schemas.microsoft.com/office/drawing/2014/main" id="{B1E3C90A-4B7E-416F-B448-92B809EDFF1A}"/>
              </a:ext>
            </a:extLst>
          </p:cNvPr>
          <p:cNvSpPr>
            <a:spLocks noGrp="1"/>
          </p:cNvSpPr>
          <p:nvPr/>
        </p:nvSpPr>
        <p:spPr>
          <a:xfrm flipV="1">
            <a:off x="4610100" y="2847975"/>
            <a:ext cx="2190750" cy="16192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traight Connector 39">
            <a:extLst>
              <a:ext uri="{FF2B5EF4-FFF2-40B4-BE49-F238E27FC236}">
                <a16:creationId xmlns:a16="http://schemas.microsoft.com/office/drawing/2014/main" id="{8D64D2C3-4DAE-4446-BEC3-634D663EB240}"/>
              </a:ext>
            </a:extLst>
          </p:cNvPr>
          <p:cNvSpPr>
            <a:spLocks noGrp="1"/>
          </p:cNvSpPr>
          <p:nvPr/>
        </p:nvSpPr>
        <p:spPr>
          <a:xfrm flipV="1">
            <a:off x="4610100" y="3514725"/>
            <a:ext cx="2190750" cy="9525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traight Connector 40">
            <a:extLst>
              <a:ext uri="{FF2B5EF4-FFF2-40B4-BE49-F238E27FC236}">
                <a16:creationId xmlns:a16="http://schemas.microsoft.com/office/drawing/2014/main" id="{055BD8D1-430E-4255-A34D-ED8F272EA2DA}"/>
              </a:ext>
            </a:extLst>
          </p:cNvPr>
          <p:cNvSpPr>
            <a:spLocks noGrp="1"/>
          </p:cNvSpPr>
          <p:nvPr/>
        </p:nvSpPr>
        <p:spPr>
          <a:xfrm flipV="1">
            <a:off x="4610100" y="4181475"/>
            <a:ext cx="2190750" cy="2857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traight Connector 41">
            <a:extLst>
              <a:ext uri="{FF2B5EF4-FFF2-40B4-BE49-F238E27FC236}">
                <a16:creationId xmlns:a16="http://schemas.microsoft.com/office/drawing/2014/main" id="{0A45F43A-DBF2-48B8-8900-07F133D671C0}"/>
              </a:ext>
            </a:extLst>
          </p:cNvPr>
          <p:cNvSpPr>
            <a:spLocks noGrp="1"/>
          </p:cNvSpPr>
          <p:nvPr/>
        </p:nvSpPr>
        <p:spPr>
          <a:xfrm>
            <a:off x="4610100" y="4467225"/>
            <a:ext cx="2190750" cy="3810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traight Connector 42">
            <a:extLst>
              <a:ext uri="{FF2B5EF4-FFF2-40B4-BE49-F238E27FC236}">
                <a16:creationId xmlns:a16="http://schemas.microsoft.com/office/drawing/2014/main" id="{2EEF17FB-CF29-406A-8BCC-56D57C205CEB}"/>
              </a:ext>
            </a:extLst>
          </p:cNvPr>
          <p:cNvSpPr>
            <a:spLocks noGrp="1"/>
          </p:cNvSpPr>
          <p:nvPr/>
        </p:nvSpPr>
        <p:spPr>
          <a:xfrm flipV="1">
            <a:off x="4610100" y="2847975"/>
            <a:ext cx="2190750" cy="22479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traight Connector 43">
            <a:extLst>
              <a:ext uri="{FF2B5EF4-FFF2-40B4-BE49-F238E27FC236}">
                <a16:creationId xmlns:a16="http://schemas.microsoft.com/office/drawing/2014/main" id="{4DF54964-6EB1-4411-953E-E4FDA57ACC29}"/>
              </a:ext>
            </a:extLst>
          </p:cNvPr>
          <p:cNvSpPr>
            <a:spLocks noGrp="1"/>
          </p:cNvSpPr>
          <p:nvPr/>
        </p:nvSpPr>
        <p:spPr>
          <a:xfrm flipV="1">
            <a:off x="4610100" y="3514725"/>
            <a:ext cx="2190750" cy="15811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traight Connector 44">
            <a:extLst>
              <a:ext uri="{FF2B5EF4-FFF2-40B4-BE49-F238E27FC236}">
                <a16:creationId xmlns:a16="http://schemas.microsoft.com/office/drawing/2014/main" id="{3775084B-302C-4922-882B-A113512218C1}"/>
              </a:ext>
            </a:extLst>
          </p:cNvPr>
          <p:cNvSpPr>
            <a:spLocks noGrp="1"/>
          </p:cNvSpPr>
          <p:nvPr/>
        </p:nvSpPr>
        <p:spPr>
          <a:xfrm flipV="1">
            <a:off x="4610100" y="4181475"/>
            <a:ext cx="2190750" cy="9144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traight Connector 45">
            <a:extLst>
              <a:ext uri="{FF2B5EF4-FFF2-40B4-BE49-F238E27FC236}">
                <a16:creationId xmlns:a16="http://schemas.microsoft.com/office/drawing/2014/main" id="{5F0956EB-BA5D-430F-A70F-E615A09CB4A3}"/>
              </a:ext>
            </a:extLst>
          </p:cNvPr>
          <p:cNvSpPr>
            <a:spLocks noGrp="1"/>
          </p:cNvSpPr>
          <p:nvPr/>
        </p:nvSpPr>
        <p:spPr>
          <a:xfrm flipV="1">
            <a:off x="4610100" y="4848225"/>
            <a:ext cx="2190750" cy="2476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traight Connector 46">
            <a:extLst>
              <a:ext uri="{FF2B5EF4-FFF2-40B4-BE49-F238E27FC236}">
                <a16:creationId xmlns:a16="http://schemas.microsoft.com/office/drawing/2014/main" id="{8827C3F9-C05E-4480-840F-07A7A6B15564}"/>
              </a:ext>
            </a:extLst>
          </p:cNvPr>
          <p:cNvSpPr>
            <a:spLocks noGrp="1"/>
          </p:cNvSpPr>
          <p:nvPr/>
        </p:nvSpPr>
        <p:spPr>
          <a:xfrm>
            <a:off x="7200900" y="2847975"/>
            <a:ext cx="2419350" cy="6096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traight Connector 47">
            <a:extLst>
              <a:ext uri="{FF2B5EF4-FFF2-40B4-BE49-F238E27FC236}">
                <a16:creationId xmlns:a16="http://schemas.microsoft.com/office/drawing/2014/main" id="{2C7D399A-7DC8-4A76-9A54-0AB2AEDB0327}"/>
              </a:ext>
            </a:extLst>
          </p:cNvPr>
          <p:cNvSpPr>
            <a:spLocks noGrp="1"/>
          </p:cNvSpPr>
          <p:nvPr/>
        </p:nvSpPr>
        <p:spPr>
          <a:xfrm>
            <a:off x="7200900" y="2847975"/>
            <a:ext cx="2419350" cy="14478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traight Connector 48">
            <a:extLst>
              <a:ext uri="{FF2B5EF4-FFF2-40B4-BE49-F238E27FC236}">
                <a16:creationId xmlns:a16="http://schemas.microsoft.com/office/drawing/2014/main" id="{B385F593-7D67-4AEF-B6DE-A4028C7A1B03}"/>
              </a:ext>
            </a:extLst>
          </p:cNvPr>
          <p:cNvSpPr>
            <a:spLocks noGrp="1"/>
          </p:cNvSpPr>
          <p:nvPr/>
        </p:nvSpPr>
        <p:spPr>
          <a:xfrm flipV="1">
            <a:off x="7200900" y="3457575"/>
            <a:ext cx="2419350" cy="571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traight Connector 49">
            <a:extLst>
              <a:ext uri="{FF2B5EF4-FFF2-40B4-BE49-F238E27FC236}">
                <a16:creationId xmlns:a16="http://schemas.microsoft.com/office/drawing/2014/main" id="{8C014B29-8465-42F2-A7EC-941947099685}"/>
              </a:ext>
            </a:extLst>
          </p:cNvPr>
          <p:cNvSpPr>
            <a:spLocks noGrp="1"/>
          </p:cNvSpPr>
          <p:nvPr/>
        </p:nvSpPr>
        <p:spPr>
          <a:xfrm>
            <a:off x="7200900" y="3514725"/>
            <a:ext cx="2419350" cy="7810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traight Connector 50">
            <a:extLst>
              <a:ext uri="{FF2B5EF4-FFF2-40B4-BE49-F238E27FC236}">
                <a16:creationId xmlns:a16="http://schemas.microsoft.com/office/drawing/2014/main" id="{D7F4F816-9C87-4530-BC62-C25B59749626}"/>
              </a:ext>
            </a:extLst>
          </p:cNvPr>
          <p:cNvSpPr>
            <a:spLocks noGrp="1"/>
          </p:cNvSpPr>
          <p:nvPr/>
        </p:nvSpPr>
        <p:spPr>
          <a:xfrm flipV="1">
            <a:off x="7200900" y="3457575"/>
            <a:ext cx="2419350" cy="7239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traight Connector 51">
            <a:extLst>
              <a:ext uri="{FF2B5EF4-FFF2-40B4-BE49-F238E27FC236}">
                <a16:creationId xmlns:a16="http://schemas.microsoft.com/office/drawing/2014/main" id="{93919D15-00EC-4419-B33D-823221BA7241}"/>
              </a:ext>
            </a:extLst>
          </p:cNvPr>
          <p:cNvSpPr>
            <a:spLocks noGrp="1"/>
          </p:cNvSpPr>
          <p:nvPr/>
        </p:nvSpPr>
        <p:spPr>
          <a:xfrm>
            <a:off x="7200900" y="4181475"/>
            <a:ext cx="2419350" cy="11430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traight Connector 52">
            <a:extLst>
              <a:ext uri="{FF2B5EF4-FFF2-40B4-BE49-F238E27FC236}">
                <a16:creationId xmlns:a16="http://schemas.microsoft.com/office/drawing/2014/main" id="{931F2199-5918-4881-A5F3-62733B8F5136}"/>
              </a:ext>
            </a:extLst>
          </p:cNvPr>
          <p:cNvSpPr>
            <a:spLocks noGrp="1"/>
          </p:cNvSpPr>
          <p:nvPr/>
        </p:nvSpPr>
        <p:spPr>
          <a:xfrm flipV="1">
            <a:off x="7200900" y="3457575"/>
            <a:ext cx="2419350" cy="13906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traight Connector 53">
            <a:extLst>
              <a:ext uri="{FF2B5EF4-FFF2-40B4-BE49-F238E27FC236}">
                <a16:creationId xmlns:a16="http://schemas.microsoft.com/office/drawing/2014/main" id="{AFB1BB5D-07C0-49DA-908B-1392810D17E7}"/>
              </a:ext>
            </a:extLst>
          </p:cNvPr>
          <p:cNvSpPr>
            <a:spLocks noGrp="1"/>
          </p:cNvSpPr>
          <p:nvPr/>
        </p:nvSpPr>
        <p:spPr>
          <a:xfrm flipV="1">
            <a:off x="7200900" y="4295775"/>
            <a:ext cx="2419350" cy="552450"/>
          </a:xfrm>
          <a:prstGeom prst="line">
            <a:avLst/>
          </a:prstGeom>
          <a:noFill/>
          <a:ln w="9525">
            <a:solidFill>
              <a:srgbClr val="C8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90E193-DF3B-414C-AEC3-3BDBF1183F10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Input layer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141A8A35-76BD-4F61-A7EB-4BDDACF17D4A}"/>
              </a:ext>
            </a:extLst>
          </p:cNvPr>
          <p:cNvSpPr>
            <a:spLocks noGrp="1"/>
          </p:cNvSpPr>
          <p:nvPr/>
        </p:nvSpPr>
        <p:spPr>
          <a:xfrm>
            <a:off x="1619250" y="2647950"/>
            <a:ext cx="400050" cy="400050"/>
          </a:xfrm>
          <a:prstGeom prst="ellipse">
            <a:avLst/>
          </a:prstGeom>
          <a:solidFill>
            <a:srgbClr val="EDF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17ED5DB-7FDD-4F4F-8339-92EA04EFBBAC}"/>
              </a:ext>
            </a:extLst>
          </p:cNvPr>
          <p:cNvSpPr>
            <a:spLocks noGrp="1"/>
          </p:cNvSpPr>
          <p:nvPr/>
        </p:nvSpPr>
        <p:spPr>
          <a:xfrm>
            <a:off x="1619250" y="3314700"/>
            <a:ext cx="400050" cy="400050"/>
          </a:xfrm>
          <a:prstGeom prst="ellipse">
            <a:avLst/>
          </a:prstGeom>
          <a:solidFill>
            <a:srgbClr val="EDF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35502FE-E1EC-45E9-85FF-6C1170E4ECE1}"/>
              </a:ext>
            </a:extLst>
          </p:cNvPr>
          <p:cNvSpPr>
            <a:spLocks noGrp="1"/>
          </p:cNvSpPr>
          <p:nvPr/>
        </p:nvSpPr>
        <p:spPr>
          <a:xfrm>
            <a:off x="1619250" y="3981450"/>
            <a:ext cx="400050" cy="400050"/>
          </a:xfrm>
          <a:prstGeom prst="ellipse">
            <a:avLst/>
          </a:prstGeom>
          <a:solidFill>
            <a:srgbClr val="EDF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1C39F0AF-B211-44B4-8169-23A1EAFB43FD}"/>
              </a:ext>
            </a:extLst>
          </p:cNvPr>
          <p:cNvSpPr>
            <a:spLocks noGrp="1"/>
          </p:cNvSpPr>
          <p:nvPr/>
        </p:nvSpPr>
        <p:spPr>
          <a:xfrm>
            <a:off x="1619250" y="4648200"/>
            <a:ext cx="400050" cy="400050"/>
          </a:xfrm>
          <a:prstGeom prst="ellipse">
            <a:avLst/>
          </a:prstGeom>
          <a:solidFill>
            <a:srgbClr val="EDF3F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3FB4177-7822-4693-B050-80FB2AFCDC08}"/>
              </a:ext>
            </a:extLst>
          </p:cNvPr>
          <p:cNvSpPr>
            <a:spLocks noGrp="1"/>
          </p:cNvSpPr>
          <p:nvPr/>
        </p:nvSpPr>
        <p:spPr>
          <a:xfrm>
            <a:off x="819150" y="53340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raw values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4D9C04CD-552B-4F5D-87C8-0F8F12FF198C}"/>
              </a:ext>
            </a:extLst>
          </p:cNvPr>
          <p:cNvSpPr>
            <a:spLocks noGrp="1"/>
          </p:cNvSpPr>
          <p:nvPr/>
        </p:nvSpPr>
        <p:spPr>
          <a:xfrm>
            <a:off x="3600450" y="2049233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Hidden layer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8EEFBCD8-363D-49B2-AF2A-09982733EFC5}"/>
              </a:ext>
            </a:extLst>
          </p:cNvPr>
          <p:cNvSpPr>
            <a:spLocks noGrp="1"/>
          </p:cNvSpPr>
          <p:nvPr/>
        </p:nvSpPr>
        <p:spPr>
          <a:xfrm>
            <a:off x="4210050" y="2381250"/>
            <a:ext cx="400050" cy="400050"/>
          </a:xfrm>
          <a:prstGeom prst="ellipse">
            <a:avLst/>
          </a:prstGeom>
          <a:solidFill>
            <a:srgbClr val="78D5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2DEBEFE3-01A5-4D56-AAAC-C8400AB6A6F7}"/>
              </a:ext>
            </a:extLst>
          </p:cNvPr>
          <p:cNvSpPr>
            <a:spLocks noGrp="1"/>
          </p:cNvSpPr>
          <p:nvPr/>
        </p:nvSpPr>
        <p:spPr>
          <a:xfrm>
            <a:off x="4210050" y="3009900"/>
            <a:ext cx="400050" cy="400050"/>
          </a:xfrm>
          <a:prstGeom prst="ellipse">
            <a:avLst/>
          </a:prstGeom>
          <a:solidFill>
            <a:srgbClr val="78D5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558997BD-9F1F-4550-907F-75EA3DCF5F34}"/>
              </a:ext>
            </a:extLst>
          </p:cNvPr>
          <p:cNvSpPr>
            <a:spLocks noGrp="1"/>
          </p:cNvSpPr>
          <p:nvPr/>
        </p:nvSpPr>
        <p:spPr>
          <a:xfrm>
            <a:off x="4210050" y="3638550"/>
            <a:ext cx="400050" cy="400050"/>
          </a:xfrm>
          <a:prstGeom prst="ellipse">
            <a:avLst/>
          </a:prstGeom>
          <a:solidFill>
            <a:srgbClr val="78D5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BE8BF836-02C3-472C-BF38-871D10799A75}"/>
              </a:ext>
            </a:extLst>
          </p:cNvPr>
          <p:cNvSpPr>
            <a:spLocks noGrp="1"/>
          </p:cNvSpPr>
          <p:nvPr/>
        </p:nvSpPr>
        <p:spPr>
          <a:xfrm>
            <a:off x="4210050" y="4267200"/>
            <a:ext cx="400050" cy="400050"/>
          </a:xfrm>
          <a:prstGeom prst="ellipse">
            <a:avLst/>
          </a:prstGeom>
          <a:solidFill>
            <a:srgbClr val="78D5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E6C3A7C6-F053-4854-98B3-FD73B07904B8}"/>
              </a:ext>
            </a:extLst>
          </p:cNvPr>
          <p:cNvSpPr>
            <a:spLocks noGrp="1"/>
          </p:cNvSpPr>
          <p:nvPr/>
        </p:nvSpPr>
        <p:spPr>
          <a:xfrm>
            <a:off x="4210050" y="4895850"/>
            <a:ext cx="400050" cy="400050"/>
          </a:xfrm>
          <a:prstGeom prst="ellipse">
            <a:avLst/>
          </a:prstGeom>
          <a:solidFill>
            <a:srgbClr val="78D5D5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25D6D070-44E8-486D-83D7-752FBD5BEDB6}"/>
              </a:ext>
            </a:extLst>
          </p:cNvPr>
          <p:cNvSpPr>
            <a:spLocks noGrp="1"/>
          </p:cNvSpPr>
          <p:nvPr/>
        </p:nvSpPr>
        <p:spPr>
          <a:xfrm>
            <a:off x="3409950" y="53340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learned combinations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E12B04C-4731-4322-A02A-E8A493A8933A}"/>
              </a:ext>
            </a:extLst>
          </p:cNvPr>
          <p:cNvSpPr>
            <a:spLocks noGrp="1"/>
          </p:cNvSpPr>
          <p:nvPr/>
        </p:nvSpPr>
        <p:spPr>
          <a:xfrm>
            <a:off x="6191250" y="22669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Hidden layer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2B35A1A8-350C-4DA7-8F53-98910E6801C8}"/>
              </a:ext>
            </a:extLst>
          </p:cNvPr>
          <p:cNvSpPr>
            <a:spLocks noGrp="1"/>
          </p:cNvSpPr>
          <p:nvPr/>
        </p:nvSpPr>
        <p:spPr>
          <a:xfrm>
            <a:off x="6800850" y="2647950"/>
            <a:ext cx="400050" cy="400050"/>
          </a:xfrm>
          <a:prstGeom prst="ellipse">
            <a:avLst/>
          </a:prstGeom>
          <a:solidFill>
            <a:srgbClr val="147D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DA569999-3C3F-49D6-BE61-49B01B3B2143}"/>
              </a:ext>
            </a:extLst>
          </p:cNvPr>
          <p:cNvSpPr>
            <a:spLocks noGrp="1"/>
          </p:cNvSpPr>
          <p:nvPr/>
        </p:nvSpPr>
        <p:spPr>
          <a:xfrm>
            <a:off x="6800850" y="3314700"/>
            <a:ext cx="400050" cy="400050"/>
          </a:xfrm>
          <a:prstGeom prst="ellipse">
            <a:avLst/>
          </a:prstGeom>
          <a:solidFill>
            <a:srgbClr val="147D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3E96B966-91F1-4BCD-8508-967D745B917D}"/>
              </a:ext>
            </a:extLst>
          </p:cNvPr>
          <p:cNvSpPr>
            <a:spLocks noGrp="1"/>
          </p:cNvSpPr>
          <p:nvPr/>
        </p:nvSpPr>
        <p:spPr>
          <a:xfrm>
            <a:off x="6800850" y="3981450"/>
            <a:ext cx="400050" cy="400050"/>
          </a:xfrm>
          <a:prstGeom prst="ellipse">
            <a:avLst/>
          </a:prstGeom>
          <a:solidFill>
            <a:srgbClr val="147D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6A52CB19-65FD-4682-B35C-88709582B11B}"/>
              </a:ext>
            </a:extLst>
          </p:cNvPr>
          <p:cNvSpPr>
            <a:spLocks noGrp="1"/>
          </p:cNvSpPr>
          <p:nvPr/>
        </p:nvSpPr>
        <p:spPr>
          <a:xfrm>
            <a:off x="6800850" y="4648200"/>
            <a:ext cx="400050" cy="400050"/>
          </a:xfrm>
          <a:prstGeom prst="ellipse">
            <a:avLst/>
          </a:prstGeom>
          <a:solidFill>
            <a:srgbClr val="147D8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4ECB36C-19E7-45C7-AD8D-AF3BDC2BB90F}"/>
              </a:ext>
            </a:extLst>
          </p:cNvPr>
          <p:cNvSpPr>
            <a:spLocks noGrp="1"/>
          </p:cNvSpPr>
          <p:nvPr/>
        </p:nvSpPr>
        <p:spPr>
          <a:xfrm>
            <a:off x="6000750" y="53340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new combinations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32F03F3-651C-4611-A694-F15D4E588E2F}"/>
              </a:ext>
            </a:extLst>
          </p:cNvPr>
          <p:cNvSpPr>
            <a:spLocks noGrp="1"/>
          </p:cNvSpPr>
          <p:nvPr/>
        </p:nvSpPr>
        <p:spPr>
          <a:xfrm>
            <a:off x="9010650" y="2266950"/>
            <a:ext cx="1619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Output layer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345A88C8-7875-49AE-8496-CA3E362DFC3B}"/>
              </a:ext>
            </a:extLst>
          </p:cNvPr>
          <p:cNvSpPr>
            <a:spLocks noGrp="1"/>
          </p:cNvSpPr>
          <p:nvPr/>
        </p:nvSpPr>
        <p:spPr>
          <a:xfrm>
            <a:off x="9620250" y="3257550"/>
            <a:ext cx="400050" cy="400050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0B1D148B-E296-43ED-83B6-7C6B74CDEF9D}"/>
              </a:ext>
            </a:extLst>
          </p:cNvPr>
          <p:cNvSpPr>
            <a:spLocks noGrp="1"/>
          </p:cNvSpPr>
          <p:nvPr/>
        </p:nvSpPr>
        <p:spPr>
          <a:xfrm>
            <a:off x="9620250" y="4095750"/>
            <a:ext cx="400050" cy="400050"/>
          </a:xfrm>
          <a:prstGeom prst="ellipse">
            <a:avLst/>
          </a:prstGeom>
          <a:solidFill>
            <a:srgbClr val="132A3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59E0C1A-65AF-47A6-96BB-41E031816E9D}"/>
              </a:ext>
            </a:extLst>
          </p:cNvPr>
          <p:cNvSpPr>
            <a:spLocks noGrp="1"/>
          </p:cNvSpPr>
          <p:nvPr/>
        </p:nvSpPr>
        <p:spPr>
          <a:xfrm>
            <a:off x="8820150" y="5334000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scores or predictions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E9D3673-8951-46BE-8670-2CA0F2F482F2}"/>
              </a:ext>
            </a:extLst>
          </p:cNvPr>
          <p:cNvSpPr>
            <a:spLocks noGrp="1"/>
          </p:cNvSpPr>
          <p:nvPr/>
        </p:nvSpPr>
        <p:spPr>
          <a:xfrm>
            <a:off x="1524000" y="5867400"/>
            <a:ext cx="914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450"/>
          </a:bodyPr>
          <a:lstStyle>
            <a:defPPr algn="ctr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dirty="0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 deeper network adds more hidden layers</a:t>
            </a:r>
            <a:r>
              <a:rPr lang="en-US" sz="1725" b="1" dirty="0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.</a:t>
            </a:r>
            <a:endParaRPr sz="1725" b="1" dirty="0">
              <a:solidFill>
                <a:srgbClr val="147D88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286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EA93694-1F45-4741-B584-B8A11BA68C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10CF33-60BA-4782-83EA-6F96725C4FE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12AE5C-11A9-48AC-8A4B-F10DB5CAB4B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Start with the prediction task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8F21A09A-1999-4C25-A168-EBAFCD42E0CA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DAB34-33FD-4A40-BC7F-45EB8F65418C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ED09266-A7EB-445F-A034-789DB80BD9B7}"/>
              </a:ext>
            </a:extLst>
          </p:cNvPr>
          <p:cNvSpPr>
            <a:spLocks noGrp="1"/>
          </p:cNvSpPr>
          <p:nvPr/>
        </p:nvSpPr>
        <p:spPr>
          <a:xfrm>
            <a:off x="742950" y="18669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3037F9-32F2-4400-B84B-445A0B7C6C9C}"/>
              </a:ext>
            </a:extLst>
          </p:cNvPr>
          <p:cNvSpPr>
            <a:spLocks noGrp="1"/>
          </p:cNvSpPr>
          <p:nvPr/>
        </p:nvSpPr>
        <p:spPr>
          <a:xfrm>
            <a:off x="933450" y="20383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Annual income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F2E8D0-7C95-4E0D-AEA2-CBA284C83608}"/>
              </a:ext>
            </a:extLst>
          </p:cNvPr>
          <p:cNvSpPr>
            <a:spLocks noGrp="1"/>
          </p:cNvSpPr>
          <p:nvPr/>
        </p:nvSpPr>
        <p:spPr>
          <a:xfrm>
            <a:off x="933450" y="23622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financial capacity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6B65B3-6CBA-42D8-81AE-77C0D26B43ED}"/>
              </a:ext>
            </a:extLst>
          </p:cNvPr>
          <p:cNvSpPr>
            <a:spLocks noGrp="1"/>
          </p:cNvSpPr>
          <p:nvPr/>
        </p:nvSpPr>
        <p:spPr>
          <a:xfrm>
            <a:off x="3143250" y="18669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2ACCC5-8474-466D-8F8C-452169C6DC9F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2C4738-EF65-4DFC-B304-9B97D51C5705}"/>
              </a:ext>
            </a:extLst>
          </p:cNvPr>
          <p:cNvSpPr>
            <a:spLocks noGrp="1"/>
          </p:cNvSpPr>
          <p:nvPr/>
        </p:nvSpPr>
        <p:spPr>
          <a:xfrm>
            <a:off x="3333750" y="23622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requested principal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829D9BE-3F75-491D-80EB-3B2D088F4EB5}"/>
              </a:ext>
            </a:extLst>
          </p:cNvPr>
          <p:cNvSpPr>
            <a:spLocks noGrp="1"/>
          </p:cNvSpPr>
          <p:nvPr/>
        </p:nvSpPr>
        <p:spPr>
          <a:xfrm>
            <a:off x="742950" y="29718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CCDC51-0874-43B3-BCF1-FD90D7E49E19}"/>
              </a:ext>
            </a:extLst>
          </p:cNvPr>
          <p:cNvSpPr>
            <a:spLocks noGrp="1"/>
          </p:cNvSpPr>
          <p:nvPr/>
        </p:nvSpPr>
        <p:spPr>
          <a:xfrm>
            <a:off x="933450" y="31432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Loan term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7738A1-0C25-437A-B86B-64EF8DEBCE57}"/>
              </a:ext>
            </a:extLst>
          </p:cNvPr>
          <p:cNvSpPr>
            <a:spLocks noGrp="1"/>
          </p:cNvSpPr>
          <p:nvPr/>
        </p:nvSpPr>
        <p:spPr>
          <a:xfrm>
            <a:off x="933450" y="34671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repayment window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9A6E039-8846-4463-AF51-127E88AF6C9C}"/>
              </a:ext>
            </a:extLst>
          </p:cNvPr>
          <p:cNvSpPr>
            <a:spLocks noGrp="1"/>
          </p:cNvSpPr>
          <p:nvPr/>
        </p:nvSpPr>
        <p:spPr>
          <a:xfrm>
            <a:off x="3143250" y="29718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AF6F6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B6906-2CFD-4240-BD87-CD600D83CFCD}"/>
              </a:ext>
            </a:extLst>
          </p:cNvPr>
          <p:cNvSpPr>
            <a:spLocks noGrp="1"/>
          </p:cNvSpPr>
          <p:nvPr/>
        </p:nvSpPr>
        <p:spPr>
          <a:xfrm>
            <a:off x="3333750" y="31432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CIBIL score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C5D4F2-CB2D-4FDC-95C4-50567ECA9166}"/>
              </a:ext>
            </a:extLst>
          </p:cNvPr>
          <p:cNvSpPr>
            <a:spLocks noGrp="1"/>
          </p:cNvSpPr>
          <p:nvPr/>
        </p:nvSpPr>
        <p:spPr>
          <a:xfrm>
            <a:off x="3333750" y="34671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credit history signal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8CA41A7-1B23-472E-B576-03B4F68FA716}"/>
              </a:ext>
            </a:extLst>
          </p:cNvPr>
          <p:cNvSpPr>
            <a:spLocks noGrp="1"/>
          </p:cNvSpPr>
          <p:nvPr/>
        </p:nvSpPr>
        <p:spPr>
          <a:xfrm>
            <a:off x="742950" y="40767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36100B-DB42-4E37-B8E4-ADDD139CD00B}"/>
              </a:ext>
            </a:extLst>
          </p:cNvPr>
          <p:cNvSpPr>
            <a:spLocks noGrp="1"/>
          </p:cNvSpPr>
          <p:nvPr/>
        </p:nvSpPr>
        <p:spPr>
          <a:xfrm>
            <a:off x="933450" y="42481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Residential assets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574D39-4D31-40A5-AF26-B2265C7B3A77}"/>
              </a:ext>
            </a:extLst>
          </p:cNvPr>
          <p:cNvSpPr>
            <a:spLocks noGrp="1"/>
          </p:cNvSpPr>
          <p:nvPr/>
        </p:nvSpPr>
        <p:spPr>
          <a:xfrm>
            <a:off x="933450" y="45720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declared asset value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150A2B7-D511-422C-9A2D-D229520BFAD6}"/>
              </a:ext>
            </a:extLst>
          </p:cNvPr>
          <p:cNvSpPr>
            <a:spLocks noGrp="1"/>
          </p:cNvSpPr>
          <p:nvPr/>
        </p:nvSpPr>
        <p:spPr>
          <a:xfrm>
            <a:off x="3143250" y="4076700"/>
            <a:ext cx="2152650" cy="876300"/>
          </a:xfrm>
          <a:prstGeom prst="roundRect">
            <a:avLst>
              <a:gd name="adj" fmla="val 1956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13BAC9-E637-4B3B-A3B2-254D86A4206D}"/>
              </a:ext>
            </a:extLst>
          </p:cNvPr>
          <p:cNvSpPr>
            <a:spLocks noGrp="1"/>
          </p:cNvSpPr>
          <p:nvPr/>
        </p:nvSpPr>
        <p:spPr>
          <a:xfrm>
            <a:off x="3333750" y="42481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Bank assets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C0D87AD-3531-4202-9889-AF236C8659A0}"/>
              </a:ext>
            </a:extLst>
          </p:cNvPr>
          <p:cNvSpPr>
            <a:spLocks noGrp="1"/>
          </p:cNvSpPr>
          <p:nvPr/>
        </p:nvSpPr>
        <p:spPr>
          <a:xfrm>
            <a:off x="3333750" y="4572000"/>
            <a:ext cx="17716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5000"/>
              </a:lnSpc>
              <a:buNone/>
              <a:def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declared liquid value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D08FF742-0507-452E-A966-C9ED428EDCE6}"/>
              </a:ext>
            </a:extLst>
          </p:cNvPr>
          <p:cNvSpPr>
            <a:spLocks noGrp="1"/>
          </p:cNvSpPr>
          <p:nvPr/>
        </p:nvSpPr>
        <p:spPr>
          <a:xfrm>
            <a:off x="5619750" y="3219450"/>
            <a:ext cx="666750" cy="4572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C5C9E50-0C28-4117-A45F-AB188D407AD0}"/>
              </a:ext>
            </a:extLst>
          </p:cNvPr>
          <p:cNvSpPr>
            <a:spLocks noGrp="1"/>
          </p:cNvSpPr>
          <p:nvPr/>
        </p:nvSpPr>
        <p:spPr>
          <a:xfrm>
            <a:off x="6591300" y="2324100"/>
            <a:ext cx="2076450" cy="2266950"/>
          </a:xfrm>
          <a:prstGeom prst="roundRect">
            <a:avLst>
              <a:gd name="adj" fmla="val 8257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AA8339-3535-447F-A231-08F381B816A7}"/>
              </a:ext>
            </a:extLst>
          </p:cNvPr>
          <p:cNvSpPr>
            <a:spLocks noGrp="1"/>
          </p:cNvSpPr>
          <p:nvPr/>
        </p:nvSpPr>
        <p:spPr>
          <a:xfrm>
            <a:off x="6781800" y="2495550"/>
            <a:ext cx="1695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009"/>
          </a:bodyPr>
          <a:lstStyle>
            <a:defPPr algn="ctr"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Neural network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6E8E6B-61BF-48D6-A4C1-619FAA464837}"/>
              </a:ext>
            </a:extLst>
          </p:cNvPr>
          <p:cNvSpPr>
            <a:spLocks noGrp="1"/>
          </p:cNvSpPr>
          <p:nvPr/>
        </p:nvSpPr>
        <p:spPr>
          <a:xfrm>
            <a:off x="6781800" y="3048000"/>
            <a:ext cx="169545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Learns patterns across the six inputs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496BF3E7-6F02-46EC-A474-250E96BF5153}"/>
              </a:ext>
            </a:extLst>
          </p:cNvPr>
          <p:cNvSpPr>
            <a:spLocks noGrp="1"/>
          </p:cNvSpPr>
          <p:nvPr/>
        </p:nvSpPr>
        <p:spPr>
          <a:xfrm>
            <a:off x="8934450" y="3219450"/>
            <a:ext cx="666750" cy="4572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72E8B3D-9E42-49A9-B875-E0894B874355}"/>
              </a:ext>
            </a:extLst>
          </p:cNvPr>
          <p:cNvSpPr>
            <a:spLocks noGrp="1"/>
          </p:cNvSpPr>
          <p:nvPr/>
        </p:nvSpPr>
        <p:spPr>
          <a:xfrm>
            <a:off x="9886950" y="2628900"/>
            <a:ext cx="1524000" cy="1657350"/>
          </a:xfrm>
          <a:prstGeom prst="roundRect">
            <a:avLst>
              <a:gd name="adj" fmla="val 11250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620ECA-E2FD-496D-A3CC-D5BF14899C99}"/>
              </a:ext>
            </a:extLst>
          </p:cNvPr>
          <p:cNvSpPr>
            <a:spLocks noGrp="1"/>
          </p:cNvSpPr>
          <p:nvPr/>
        </p:nvSpPr>
        <p:spPr>
          <a:xfrm>
            <a:off x="10077450" y="2800350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839A3C2-D330-429F-B7F9-47804FEFFC69}"/>
              </a:ext>
            </a:extLst>
          </p:cNvPr>
          <p:cNvSpPr>
            <a:spLocks noGrp="1"/>
          </p:cNvSpPr>
          <p:nvPr/>
        </p:nvSpPr>
        <p:spPr>
          <a:xfrm>
            <a:off x="10077450" y="3295650"/>
            <a:ext cx="1143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probability</a:t>
            </a:r>
          </a:p>
          <a:p>
            <a:pPr algn="ctr">
              <a:lnSpc>
                <a:spcPct val="105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0 to 1</a:t>
            </a:r>
          </a:p>
        </p:txBody>
      </p:sp>
    </p:spTree>
    <p:extLst>
      <p:ext uri="{BB962C8B-B14F-4D97-AF65-F5344CB8AC3E}">
        <p14:creationId xmlns:p14="http://schemas.microsoft.com/office/powerpoint/2010/main" val="257946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65CECBF-F905-4B8C-9F57-71FBE6270C1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AE0C6-90F3-4776-85D3-07A1A55F90B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DFABD7-591C-42CC-B3D7-E916F60063D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neuron asks one weighted question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EC2B59BD-FD1F-4449-B734-DE9954410562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E5FCA-3F5F-4BFD-8C5A-7999696DD54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EE0AF-88A9-4533-8402-66F56CA4D368}"/>
              </a:ext>
            </a:extLst>
          </p:cNvPr>
          <p:cNvSpPr>
            <a:spLocks noGrp="1"/>
          </p:cNvSpPr>
          <p:nvPr/>
        </p:nvSpPr>
        <p:spPr>
          <a:xfrm>
            <a:off x="781050" y="1885950"/>
            <a:ext cx="4667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Every input gets a learned weight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F20E20E-1BF5-460E-B1F7-1EA732E2E0FF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credit score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C6C915-3981-41F9-89A1-853D2F13141A}"/>
              </a:ext>
            </a:extLst>
          </p:cNvPr>
          <p:cNvSpPr>
            <a:spLocks noGrp="1"/>
          </p:cNvSpPr>
          <p:nvPr/>
        </p:nvSpPr>
        <p:spPr>
          <a:xfrm>
            <a:off x="3105150" y="25908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× positive weight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FC031E6-DDF9-47BA-A6C7-D0FD913D287A}"/>
              </a:ext>
            </a:extLst>
          </p:cNvPr>
          <p:cNvSpPr>
            <a:spLocks noGrp="1"/>
          </p:cNvSpPr>
          <p:nvPr/>
        </p:nvSpPr>
        <p:spPr>
          <a:xfrm>
            <a:off x="838200" y="340995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loan amount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388251-E982-46FB-BD3B-07DC3566B1FC}"/>
              </a:ext>
            </a:extLst>
          </p:cNvPr>
          <p:cNvSpPr>
            <a:spLocks noGrp="1"/>
          </p:cNvSpPr>
          <p:nvPr/>
        </p:nvSpPr>
        <p:spPr>
          <a:xfrm>
            <a:off x="3105150" y="340995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rPr>
              <a:t>× negative weight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3D2F145-CB1D-4B53-8004-16E0A68F9CD9}"/>
              </a:ext>
            </a:extLst>
          </p:cNvPr>
          <p:cNvSpPr>
            <a:spLocks noGrp="1"/>
          </p:cNvSpPr>
          <p:nvPr/>
        </p:nvSpPr>
        <p:spPr>
          <a:xfrm>
            <a:off x="838200" y="4229100"/>
            <a:ext cx="200025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annual income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F9281-86B7-472D-96E9-EFCD89888056}"/>
              </a:ext>
            </a:extLst>
          </p:cNvPr>
          <p:cNvSpPr>
            <a:spLocks noGrp="1"/>
          </p:cNvSpPr>
          <p:nvPr/>
        </p:nvSpPr>
        <p:spPr>
          <a:xfrm>
            <a:off x="3105150" y="42291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× positive weight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147B60B0-5FDA-4EEE-87F7-4EDBE5EC1789}"/>
              </a:ext>
            </a:extLst>
          </p:cNvPr>
          <p:cNvSpPr>
            <a:spLocks noGrp="1"/>
          </p:cNvSpPr>
          <p:nvPr/>
        </p:nvSpPr>
        <p:spPr>
          <a:xfrm>
            <a:off x="5981700" y="1924050"/>
            <a:ext cx="0" cy="3467100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877373-704B-488F-91A1-CAE5EE8BF274}"/>
              </a:ext>
            </a:extLst>
          </p:cNvPr>
          <p:cNvSpPr>
            <a:spLocks noGrp="1"/>
          </p:cNvSpPr>
          <p:nvPr/>
        </p:nvSpPr>
        <p:spPr>
          <a:xfrm>
            <a:off x="6496050" y="2019300"/>
            <a:ext cx="4305300" cy="1200150"/>
          </a:xfrm>
          <a:prstGeom prst="roundRect">
            <a:avLst>
              <a:gd name="adj" fmla="val 14286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F378D9-A22B-489D-AB8E-83B71E6D9D53}"/>
              </a:ext>
            </a:extLst>
          </p:cNvPr>
          <p:cNvSpPr>
            <a:spLocks noGrp="1"/>
          </p:cNvSpPr>
          <p:nvPr/>
        </p:nvSpPr>
        <p:spPr>
          <a:xfrm>
            <a:off x="6686550" y="2190750"/>
            <a:ext cx="392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1. Add the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E88BE0-19B7-49EA-A610-E3C59C518CAF}"/>
              </a:ext>
            </a:extLst>
          </p:cNvPr>
          <p:cNvSpPr>
            <a:spLocks noGrp="1"/>
          </p:cNvSpPr>
          <p:nvPr/>
        </p:nvSpPr>
        <p:spPr>
          <a:xfrm>
            <a:off x="6686550" y="26670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weighted inputs + bias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3BB5297F-F69B-41A9-8667-D7A3AD8A6C4E}"/>
              </a:ext>
            </a:extLst>
          </p:cNvPr>
          <p:cNvSpPr>
            <a:spLocks noGrp="1"/>
          </p:cNvSpPr>
          <p:nvPr/>
        </p:nvSpPr>
        <p:spPr>
          <a:xfrm>
            <a:off x="8353425" y="3371850"/>
            <a:ext cx="590550" cy="40005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3310A9-F763-4FAF-841A-59EEDB8DBDB1}"/>
              </a:ext>
            </a:extLst>
          </p:cNvPr>
          <p:cNvSpPr>
            <a:spLocks noGrp="1"/>
          </p:cNvSpPr>
          <p:nvPr/>
        </p:nvSpPr>
        <p:spPr>
          <a:xfrm>
            <a:off x="6496050" y="3924300"/>
            <a:ext cx="4305300" cy="1276350"/>
          </a:xfrm>
          <a:prstGeom prst="roundRect">
            <a:avLst>
              <a:gd name="adj" fmla="val 13433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ACCE33-A42A-4025-BABE-BA6038A28B5C}"/>
              </a:ext>
            </a:extLst>
          </p:cNvPr>
          <p:cNvSpPr>
            <a:spLocks noGrp="1"/>
          </p:cNvSpPr>
          <p:nvPr/>
        </p:nvSpPr>
        <p:spPr>
          <a:xfrm>
            <a:off x="6686550" y="4095750"/>
            <a:ext cx="3924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2. Pass along a signal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481895-956A-4C76-B781-D0F8F214919D}"/>
              </a:ext>
            </a:extLst>
          </p:cNvPr>
          <p:cNvSpPr>
            <a:spLocks noGrp="1"/>
          </p:cNvSpPr>
          <p:nvPr/>
        </p:nvSpPr>
        <p:spPr>
          <a:xfrm>
            <a:off x="6686550" y="4591050"/>
            <a:ext cx="3924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711"/>
          </a:bodyPr>
          <a:lstStyle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stronger signal = stronger learned evidence</a:t>
            </a:r>
          </a:p>
        </p:txBody>
      </p:sp>
    </p:spTree>
    <p:extLst>
      <p:ext uri="{BB962C8B-B14F-4D97-AF65-F5344CB8AC3E}">
        <p14:creationId xmlns:p14="http://schemas.microsoft.com/office/powerpoint/2010/main" val="40985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DCF9849C-21F0-45FC-81BA-0C51EBCF47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9872D7-4D54-47CA-9B3E-1B77E197E18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3D02A-2EE5-4139-AA35-50A0271E5FA0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One hidden layer learns combinations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5EE6CD7-CC65-4B82-B753-7CBC86E5172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9177C-0110-42DE-B3FF-80EEE436A021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FCF156-0199-4390-87ED-6BCFEB9996EF}"/>
              </a:ext>
            </a:extLst>
          </p:cNvPr>
          <p:cNvSpPr>
            <a:spLocks noGrp="1"/>
          </p:cNvSpPr>
          <p:nvPr/>
        </p:nvSpPr>
        <p:spPr>
          <a:xfrm>
            <a:off x="838200" y="18669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6 inputs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237E0C3-153C-4793-AED9-1553883D60E1}"/>
              </a:ext>
            </a:extLst>
          </p:cNvPr>
          <p:cNvSpPr>
            <a:spLocks noGrp="1"/>
          </p:cNvSpPr>
          <p:nvPr/>
        </p:nvSpPr>
        <p:spPr>
          <a:xfrm>
            <a:off x="742950" y="24003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income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FB3D41C-AE1C-4F51-B647-2FF3CE1C436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amount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8CE7E7-3C76-4CAF-9D3D-C68A25FC7FDC}"/>
              </a:ext>
            </a:extLst>
          </p:cNvPr>
          <p:cNvSpPr>
            <a:spLocks noGrp="1"/>
          </p:cNvSpPr>
          <p:nvPr/>
        </p:nvSpPr>
        <p:spPr>
          <a:xfrm>
            <a:off x="742950" y="34290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term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E903F87-451B-41C6-8159-4710EC95613B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credit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DE6218-99E9-4AE7-9BB3-E13ABF7335B9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home assets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4A4A1D-8647-499A-87D4-AD62308C3817}"/>
              </a:ext>
            </a:extLst>
          </p:cNvPr>
          <p:cNvSpPr>
            <a:spLocks noGrp="1"/>
          </p:cNvSpPr>
          <p:nvPr/>
        </p:nvSpPr>
        <p:spPr>
          <a:xfrm>
            <a:off x="742950" y="4972050"/>
            <a:ext cx="1905000" cy="419100"/>
          </a:xfrm>
          <a:prstGeom prst="roundRect">
            <a:avLst>
              <a:gd name="adj" fmla="val 50000"/>
            </a:avLst>
          </a:prstGeom>
          <a:solidFill>
            <a:srgbClr val="EDF3F7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bank assets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C84AC9B-1F6E-4D63-99A1-941A5FBD7389}"/>
              </a:ext>
            </a:extLst>
          </p:cNvPr>
          <p:cNvSpPr>
            <a:spLocks noGrp="1"/>
          </p:cNvSpPr>
          <p:nvPr/>
        </p:nvSpPr>
        <p:spPr>
          <a:xfrm>
            <a:off x="3028950" y="3533775"/>
            <a:ext cx="723900" cy="4953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2C8E0DD-8530-402C-97F9-D17215C84CF4}"/>
              </a:ext>
            </a:extLst>
          </p:cNvPr>
          <p:cNvSpPr>
            <a:spLocks noGrp="1"/>
          </p:cNvSpPr>
          <p:nvPr/>
        </p:nvSpPr>
        <p:spPr>
          <a:xfrm>
            <a:off x="4171950" y="2095500"/>
            <a:ext cx="3543300" cy="3276600"/>
          </a:xfrm>
          <a:prstGeom prst="roundRect">
            <a:avLst>
              <a:gd name="adj" fmla="val 5233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E9C2F4-21F0-46B0-9943-3065E74D6AD8}"/>
              </a:ext>
            </a:extLst>
          </p:cNvPr>
          <p:cNvSpPr>
            <a:spLocks noGrp="1"/>
          </p:cNvSpPr>
          <p:nvPr/>
        </p:nvSpPr>
        <p:spPr>
          <a:xfrm>
            <a:off x="4362450" y="2266950"/>
            <a:ext cx="3162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hidden neurons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FECF07-5831-4D89-9BFD-733E7E7D312F}"/>
              </a:ext>
            </a:extLst>
          </p:cNvPr>
          <p:cNvSpPr>
            <a:spLocks noGrp="1"/>
          </p:cNvSpPr>
          <p:nvPr/>
        </p:nvSpPr>
        <p:spPr>
          <a:xfrm>
            <a:off x="4705350" y="299085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7F606D8-FCA4-415B-A4A5-3BAA0EA6F811}"/>
              </a:ext>
            </a:extLst>
          </p:cNvPr>
          <p:cNvSpPr>
            <a:spLocks noGrp="1"/>
          </p:cNvSpPr>
          <p:nvPr/>
        </p:nvSpPr>
        <p:spPr>
          <a:xfrm>
            <a:off x="5391150" y="299085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D757F44-00D0-4261-9204-32B7048AD408}"/>
              </a:ext>
            </a:extLst>
          </p:cNvPr>
          <p:cNvSpPr>
            <a:spLocks noGrp="1"/>
          </p:cNvSpPr>
          <p:nvPr/>
        </p:nvSpPr>
        <p:spPr>
          <a:xfrm>
            <a:off x="6076950" y="299085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474D05E-8E95-4F9C-8246-E23D6A7F645C}"/>
              </a:ext>
            </a:extLst>
          </p:cNvPr>
          <p:cNvSpPr>
            <a:spLocks noGrp="1"/>
          </p:cNvSpPr>
          <p:nvPr/>
        </p:nvSpPr>
        <p:spPr>
          <a:xfrm>
            <a:off x="6762750" y="299085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F471BE9-9441-4738-B6EE-2712B26F8B9B}"/>
              </a:ext>
            </a:extLst>
          </p:cNvPr>
          <p:cNvSpPr>
            <a:spLocks noGrp="1"/>
          </p:cNvSpPr>
          <p:nvPr/>
        </p:nvSpPr>
        <p:spPr>
          <a:xfrm>
            <a:off x="4705350" y="354330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B10CDA3-FEFE-4575-98E9-639947225AC6}"/>
              </a:ext>
            </a:extLst>
          </p:cNvPr>
          <p:cNvSpPr>
            <a:spLocks noGrp="1"/>
          </p:cNvSpPr>
          <p:nvPr/>
        </p:nvSpPr>
        <p:spPr>
          <a:xfrm>
            <a:off x="5391150" y="354330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DEF1DA-21CC-46EA-ADAB-A69E576C666D}"/>
              </a:ext>
            </a:extLst>
          </p:cNvPr>
          <p:cNvSpPr>
            <a:spLocks noGrp="1"/>
          </p:cNvSpPr>
          <p:nvPr/>
        </p:nvSpPr>
        <p:spPr>
          <a:xfrm>
            <a:off x="6076950" y="354330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8B1349-9BB9-4790-865D-141D70E10E79}"/>
              </a:ext>
            </a:extLst>
          </p:cNvPr>
          <p:cNvSpPr>
            <a:spLocks noGrp="1"/>
          </p:cNvSpPr>
          <p:nvPr/>
        </p:nvSpPr>
        <p:spPr>
          <a:xfrm>
            <a:off x="6762750" y="3543300"/>
            <a:ext cx="304800" cy="3048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6E775BA-B386-403B-B219-75D330546550}"/>
              </a:ext>
            </a:extLst>
          </p:cNvPr>
          <p:cNvSpPr>
            <a:spLocks noGrp="1"/>
          </p:cNvSpPr>
          <p:nvPr/>
        </p:nvSpPr>
        <p:spPr>
          <a:xfrm>
            <a:off x="4476750" y="4171950"/>
            <a:ext cx="2933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Different neurons can learn different combinations of the same six inputs.</a:t>
            </a:r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D37BEE47-3895-42FA-9EFD-ABD3DD50B9EB}"/>
              </a:ext>
            </a:extLst>
          </p:cNvPr>
          <p:cNvSpPr>
            <a:spLocks noGrp="1"/>
          </p:cNvSpPr>
          <p:nvPr/>
        </p:nvSpPr>
        <p:spPr>
          <a:xfrm>
            <a:off x="8134350" y="3533775"/>
            <a:ext cx="723900" cy="4953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1166AFE-AEDF-4C9E-B8A3-ABAF6F81EC7A}"/>
              </a:ext>
            </a:extLst>
          </p:cNvPr>
          <p:cNvSpPr>
            <a:spLocks noGrp="1"/>
          </p:cNvSpPr>
          <p:nvPr/>
        </p:nvSpPr>
        <p:spPr>
          <a:xfrm>
            <a:off x="9258300" y="2705100"/>
            <a:ext cx="2095500" cy="2057400"/>
          </a:xfrm>
          <a:prstGeom prst="roundRect">
            <a:avLst>
              <a:gd name="adj" fmla="val 8333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9351C5-59FA-42E7-9F1D-FAE18741454D}"/>
              </a:ext>
            </a:extLst>
          </p:cNvPr>
          <p:cNvSpPr>
            <a:spLocks noGrp="1"/>
          </p:cNvSpPr>
          <p:nvPr/>
        </p:nvSpPr>
        <p:spPr>
          <a:xfrm>
            <a:off x="9448800" y="28765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1 output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D2CDAE-DF17-4013-B5C5-79BC5282C48E}"/>
              </a:ext>
            </a:extLst>
          </p:cNvPr>
          <p:cNvSpPr>
            <a:spLocks noGrp="1"/>
          </p:cNvSpPr>
          <p:nvPr/>
        </p:nvSpPr>
        <p:spPr>
          <a:xfrm>
            <a:off x="9448800" y="3505200"/>
            <a:ext cx="17145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approval</a:t>
            </a:r>
          </a:p>
          <a:p>
            <a:pPr algn="ctr">
              <a:lnSpc>
                <a:spcPct val="105000"/>
              </a:lnSpc>
              <a:buNone/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probability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D713707-3219-42A6-973B-B3F6FD048A36}"/>
              </a:ext>
            </a:extLst>
          </p:cNvPr>
          <p:cNvSpPr>
            <a:spLocks noGrp="1"/>
          </p:cNvSpPr>
          <p:nvPr/>
        </p:nvSpPr>
        <p:spPr>
          <a:xfrm>
            <a:off x="2381250" y="57150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Fully connected means every hidden neuron can use every input.</a:t>
            </a:r>
          </a:p>
        </p:txBody>
      </p:sp>
    </p:spTree>
    <p:extLst>
      <p:ext uri="{BB962C8B-B14F-4D97-AF65-F5344CB8AC3E}">
        <p14:creationId xmlns:p14="http://schemas.microsoft.com/office/powerpoint/2010/main" val="2102514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B43D265-2062-4C25-A5C1-B28F4CBD78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03B8BA-6FC7-4804-BAEE-F55DE48E8B6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319A1E-4370-402E-974F-2ABBDE8C5AD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ReLU gives the network a bend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41721E32-CD90-472E-A2B6-5B64C02E9C87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4B6BFF-6724-4BC1-8A57-05450A6AFA9A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C9EA00-6F44-48D2-B621-9737E5D3E27E}"/>
              </a:ext>
            </a:extLst>
          </p:cNvPr>
          <p:cNvSpPr>
            <a:spLocks noGrp="1"/>
          </p:cNvSpPr>
          <p:nvPr/>
        </p:nvSpPr>
        <p:spPr>
          <a:xfrm>
            <a:off x="838200" y="18478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ReLU keeps positive signals and clips negative ones to zero.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FD3E64-C22A-4D3C-B4D5-ABD4A84E326C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3105150" cy="1676400"/>
          </a:xfrm>
          <a:prstGeom prst="roundRect">
            <a:avLst>
              <a:gd name="adj" fmla="val 10227"/>
            </a:avLst>
          </a:prstGeom>
          <a:solidFill>
            <a:srgbClr val="FCEDED"/>
          </a:solidFill>
          <a:ln w="9525">
            <a:solidFill>
              <a:srgbClr val="E8BAB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BD5BA7-FC75-4B09-BA43-62217389775F}"/>
              </a:ext>
            </a:extLst>
          </p:cNvPr>
          <p:cNvSpPr>
            <a:spLocks noGrp="1"/>
          </p:cNvSpPr>
          <p:nvPr/>
        </p:nvSpPr>
        <p:spPr>
          <a:xfrm>
            <a:off x="1066800" y="289560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325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rPr>
              <a:t>Signal: −1.2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BBF9B2-4572-4186-A8DB-AC0CDA1C8A89}"/>
              </a:ext>
            </a:extLst>
          </p:cNvPr>
          <p:cNvSpPr>
            <a:spLocks noGrp="1"/>
          </p:cNvSpPr>
          <p:nvPr/>
        </p:nvSpPr>
        <p:spPr>
          <a:xfrm>
            <a:off x="1066800" y="3562350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ReLU output: 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F931B3-A990-4C33-9327-DEDED03E53A8}"/>
              </a:ext>
            </a:extLst>
          </p:cNvPr>
          <p:cNvSpPr>
            <a:spLocks noGrp="1"/>
          </p:cNvSpPr>
          <p:nvPr/>
        </p:nvSpPr>
        <p:spPr>
          <a:xfrm>
            <a:off x="990600" y="455295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negative evidence stops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1F6ABF2-559E-4C5B-BC1E-FD0DA3CDC52D}"/>
              </a:ext>
            </a:extLst>
          </p:cNvPr>
          <p:cNvSpPr>
            <a:spLocks noGrp="1"/>
          </p:cNvSpPr>
          <p:nvPr/>
        </p:nvSpPr>
        <p:spPr>
          <a:xfrm>
            <a:off x="4552950" y="2724150"/>
            <a:ext cx="3105150" cy="1676400"/>
          </a:xfrm>
          <a:prstGeom prst="roundRect">
            <a:avLst>
              <a:gd name="adj" fmla="val 10227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E10AED-1936-451C-B04A-8EC33D297CAF}"/>
              </a:ext>
            </a:extLst>
          </p:cNvPr>
          <p:cNvSpPr>
            <a:spLocks noGrp="1"/>
          </p:cNvSpPr>
          <p:nvPr/>
        </p:nvSpPr>
        <p:spPr>
          <a:xfrm>
            <a:off x="4743450" y="2895600"/>
            <a:ext cx="2724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Signal: +2.4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A0555-9533-4976-80B4-4EE59A744D2B}"/>
              </a:ext>
            </a:extLst>
          </p:cNvPr>
          <p:cNvSpPr>
            <a:spLocks noGrp="1"/>
          </p:cNvSpPr>
          <p:nvPr/>
        </p:nvSpPr>
        <p:spPr>
          <a:xfrm>
            <a:off x="4743450" y="3562350"/>
            <a:ext cx="2724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ReLU output: 2.4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E3E53F-8D11-4941-A56A-8860A2092DBC}"/>
              </a:ext>
            </a:extLst>
          </p:cNvPr>
          <p:cNvSpPr>
            <a:spLocks noGrp="1"/>
          </p:cNvSpPr>
          <p:nvPr/>
        </p:nvSpPr>
        <p:spPr>
          <a:xfrm>
            <a:off x="4667250" y="4552950"/>
            <a:ext cx="2876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positive evidence passes on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29251E1-4CAD-4B1A-8861-73FF83333F60}"/>
              </a:ext>
            </a:extLst>
          </p:cNvPr>
          <p:cNvSpPr>
            <a:spLocks noGrp="1"/>
          </p:cNvSpPr>
          <p:nvPr/>
        </p:nvSpPr>
        <p:spPr>
          <a:xfrm>
            <a:off x="8229600" y="2438400"/>
            <a:ext cx="2990850" cy="2724150"/>
          </a:xfrm>
          <a:prstGeom prst="roundRect">
            <a:avLst>
              <a:gd name="adj" fmla="val 6294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74FB33-A053-4501-B15C-0DFCB49B4B48}"/>
              </a:ext>
            </a:extLst>
          </p:cNvPr>
          <p:cNvSpPr>
            <a:spLocks noGrp="1"/>
          </p:cNvSpPr>
          <p:nvPr/>
        </p:nvSpPr>
        <p:spPr>
          <a:xfrm>
            <a:off x="8420100" y="2609850"/>
            <a:ext cx="2609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530CDE-8D93-487B-8FAF-9ACA237ABEB4}"/>
              </a:ext>
            </a:extLst>
          </p:cNvPr>
          <p:cNvSpPr>
            <a:spLocks noGrp="1"/>
          </p:cNvSpPr>
          <p:nvPr/>
        </p:nvSpPr>
        <p:spPr>
          <a:xfrm>
            <a:off x="8420100" y="3219450"/>
            <a:ext cx="2609850" cy="1771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513"/>
          </a:bodyPr>
          <a:lstStyle>
            <a:defPPr algn="ctr"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Without an activation, stacked layers collapse into one linear rule.</a:t>
            </a:r>
          </a:p>
          <a:p>
            <a:endParaRPr sz="1650" b="0">
              <a:solidFill>
                <a:srgbClr val="CFDCE5"/>
              </a:solidFill>
              <a:latin typeface="Helvetica Neue"/>
              <a:ea typeface="Helvetica Neue"/>
              <a:cs typeface="Helvetica Neue"/>
            </a:endParaRPr>
          </a:p>
          <a:p>
            <a:pPr algn="ctr">
              <a:lnSpc>
                <a:spcPct val="105000"/>
              </a:lnSpc>
              <a:buNone/>
              <a:def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ReLU lets simple pieces combine into more flexible patterns.</a:t>
            </a:r>
          </a:p>
        </p:txBody>
      </p:sp>
    </p:spTree>
    <p:extLst>
      <p:ext uri="{BB962C8B-B14F-4D97-AF65-F5344CB8AC3E}">
        <p14:creationId xmlns:p14="http://schemas.microsoft.com/office/powerpoint/2010/main" val="489336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9D9338D-EB74-4442-994C-02462B3DE7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DD3133-5136-4840-87A8-18591B4E57E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CFACF6-BA26-45C5-B8E0-97714796E24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Training is a repeatable loop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283C19D5-220D-49DF-8DC1-6F6F050473DD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DFA1B4-EA32-4707-A603-4C314B5AA5E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25AF55-A205-437B-9045-4CD5EF032A29}"/>
              </a:ext>
            </a:extLst>
          </p:cNvPr>
          <p:cNvSpPr>
            <a:spLocks noGrp="1"/>
          </p:cNvSpPr>
          <p:nvPr/>
        </p:nvSpPr>
        <p:spPr>
          <a:xfrm>
            <a:off x="742950" y="2343150"/>
            <a:ext cx="2343150" cy="2114550"/>
          </a:xfrm>
          <a:prstGeom prst="roundRect">
            <a:avLst>
              <a:gd name="adj" fmla="val 8108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53DEE0-ABCA-4766-BFE2-A786542720F0}"/>
              </a:ext>
            </a:extLst>
          </p:cNvPr>
          <p:cNvSpPr>
            <a:spLocks noGrp="1"/>
          </p:cNvSpPr>
          <p:nvPr/>
        </p:nvSpPr>
        <p:spPr>
          <a:xfrm>
            <a:off x="933450" y="25146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Predict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A5D5BC-4DA4-4264-A9D8-2CCD0D006102}"/>
              </a:ext>
            </a:extLst>
          </p:cNvPr>
          <p:cNvSpPr>
            <a:spLocks noGrp="1"/>
          </p:cNvSpPr>
          <p:nvPr/>
        </p:nvSpPr>
        <p:spPr>
          <a:xfrm>
            <a:off x="933450" y="3067050"/>
            <a:ext cx="1962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make a first guess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3B7AD31-20E5-4BE3-8066-038007C93A4E}"/>
              </a:ext>
            </a:extLst>
          </p:cNvPr>
          <p:cNvSpPr>
            <a:spLocks noGrp="1"/>
          </p:cNvSpPr>
          <p:nvPr/>
        </p:nvSpPr>
        <p:spPr>
          <a:xfrm>
            <a:off x="1609725" y="1809750"/>
            <a:ext cx="609600" cy="6096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BF58CD96-DF6B-4885-BE3D-364CAC9220B5}"/>
              </a:ext>
            </a:extLst>
          </p:cNvPr>
          <p:cNvSpPr>
            <a:spLocks noGrp="1"/>
          </p:cNvSpPr>
          <p:nvPr/>
        </p:nvSpPr>
        <p:spPr>
          <a:xfrm>
            <a:off x="3143250" y="3181350"/>
            <a:ext cx="285750" cy="3238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C5961B8-9ED1-4809-BC43-05862A5F5B1C}"/>
              </a:ext>
            </a:extLst>
          </p:cNvPr>
          <p:cNvSpPr>
            <a:spLocks noGrp="1"/>
          </p:cNvSpPr>
          <p:nvPr/>
        </p:nvSpPr>
        <p:spPr>
          <a:xfrm>
            <a:off x="3495675" y="2343150"/>
            <a:ext cx="2343150" cy="2114550"/>
          </a:xfrm>
          <a:prstGeom prst="roundRect">
            <a:avLst>
              <a:gd name="adj" fmla="val 8108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D45856-5A6E-4295-9519-49680DE43EC8}"/>
              </a:ext>
            </a:extLst>
          </p:cNvPr>
          <p:cNvSpPr>
            <a:spLocks noGrp="1"/>
          </p:cNvSpPr>
          <p:nvPr/>
        </p:nvSpPr>
        <p:spPr>
          <a:xfrm>
            <a:off x="3686175" y="25146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Measure loss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2E756D-C6E4-407A-B302-22280E0409D8}"/>
              </a:ext>
            </a:extLst>
          </p:cNvPr>
          <p:cNvSpPr>
            <a:spLocks noGrp="1"/>
          </p:cNvSpPr>
          <p:nvPr/>
        </p:nvSpPr>
        <p:spPr>
          <a:xfrm>
            <a:off x="3686175" y="3067050"/>
            <a:ext cx="1962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score how wrong it was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92E9F7-AD00-4B65-B34B-BBCE3788AF58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609600" cy="6096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5575F73-69CF-4437-8E0D-818E992CFED8}"/>
              </a:ext>
            </a:extLst>
          </p:cNvPr>
          <p:cNvSpPr>
            <a:spLocks noGrp="1"/>
          </p:cNvSpPr>
          <p:nvPr/>
        </p:nvSpPr>
        <p:spPr>
          <a:xfrm>
            <a:off x="5895975" y="3181350"/>
            <a:ext cx="285750" cy="3238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EBCB143-1673-47CE-9386-1DB892C1AA76}"/>
              </a:ext>
            </a:extLst>
          </p:cNvPr>
          <p:cNvSpPr>
            <a:spLocks noGrp="1"/>
          </p:cNvSpPr>
          <p:nvPr/>
        </p:nvSpPr>
        <p:spPr>
          <a:xfrm>
            <a:off x="6248400" y="2343150"/>
            <a:ext cx="2343150" cy="2114550"/>
          </a:xfrm>
          <a:prstGeom prst="roundRect">
            <a:avLst>
              <a:gd name="adj" fmla="val 8108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30E55-CE0E-4C73-BF85-1E881680A965}"/>
              </a:ext>
            </a:extLst>
          </p:cNvPr>
          <p:cNvSpPr>
            <a:spLocks noGrp="1"/>
          </p:cNvSpPr>
          <p:nvPr/>
        </p:nvSpPr>
        <p:spPr>
          <a:xfrm>
            <a:off x="6438900" y="25146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Backpropagate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211B3B5-1BBA-4A3C-96B6-7F0C157CB07B}"/>
              </a:ext>
            </a:extLst>
          </p:cNvPr>
          <p:cNvSpPr>
            <a:spLocks noGrp="1"/>
          </p:cNvSpPr>
          <p:nvPr/>
        </p:nvSpPr>
        <p:spPr>
          <a:xfrm>
            <a:off x="6438900" y="3067050"/>
            <a:ext cx="1962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trace responsibility backward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F6C422-09C6-448E-B082-7E61FA784C26}"/>
              </a:ext>
            </a:extLst>
          </p:cNvPr>
          <p:cNvSpPr>
            <a:spLocks noGrp="1"/>
          </p:cNvSpPr>
          <p:nvPr/>
        </p:nvSpPr>
        <p:spPr>
          <a:xfrm>
            <a:off x="7115175" y="1809750"/>
            <a:ext cx="609600" cy="609600"/>
          </a:xfrm>
          <a:prstGeom prst="ellipse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19052246-3027-4C0C-A23D-400938462AB9}"/>
              </a:ext>
            </a:extLst>
          </p:cNvPr>
          <p:cNvSpPr>
            <a:spLocks noGrp="1"/>
          </p:cNvSpPr>
          <p:nvPr/>
        </p:nvSpPr>
        <p:spPr>
          <a:xfrm>
            <a:off x="8648700" y="3181350"/>
            <a:ext cx="285750" cy="3238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C193A98-658C-48B9-9039-F66A4885507B}"/>
              </a:ext>
            </a:extLst>
          </p:cNvPr>
          <p:cNvSpPr>
            <a:spLocks noGrp="1"/>
          </p:cNvSpPr>
          <p:nvPr/>
        </p:nvSpPr>
        <p:spPr>
          <a:xfrm>
            <a:off x="9001125" y="2343150"/>
            <a:ext cx="2343150" cy="2114550"/>
          </a:xfrm>
          <a:prstGeom prst="roundRect">
            <a:avLst>
              <a:gd name="adj" fmla="val 8108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8F1831-5865-4F9A-A43B-F363AE135ECE}"/>
              </a:ext>
            </a:extLst>
          </p:cNvPr>
          <p:cNvSpPr>
            <a:spLocks noGrp="1"/>
          </p:cNvSpPr>
          <p:nvPr/>
        </p:nvSpPr>
        <p:spPr>
          <a:xfrm>
            <a:off x="9191625" y="2514600"/>
            <a:ext cx="1962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Update weights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253D5B-FFB9-4D27-ACA1-C2C973223BD2}"/>
              </a:ext>
            </a:extLst>
          </p:cNvPr>
          <p:cNvSpPr>
            <a:spLocks noGrp="1"/>
          </p:cNvSpPr>
          <p:nvPr/>
        </p:nvSpPr>
        <p:spPr>
          <a:xfrm>
            <a:off x="9191625" y="3067050"/>
            <a:ext cx="19621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5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take a small improving step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DE4B0A7-DB23-44CB-8C05-77A9ED0C8A5B}"/>
              </a:ext>
            </a:extLst>
          </p:cNvPr>
          <p:cNvSpPr>
            <a:spLocks noGrp="1"/>
          </p:cNvSpPr>
          <p:nvPr/>
        </p:nvSpPr>
        <p:spPr>
          <a:xfrm>
            <a:off x="9867900" y="1809750"/>
            <a:ext cx="609600" cy="609600"/>
          </a:xfrm>
          <a:prstGeom prst="ellipse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950689-BC6A-4086-8F69-8F5D5BA380FB}"/>
              </a:ext>
            </a:extLst>
          </p:cNvPr>
          <p:cNvSpPr>
            <a:spLocks noGrp="1"/>
          </p:cNvSpPr>
          <p:nvPr/>
        </p:nvSpPr>
        <p:spPr>
          <a:xfrm>
            <a:off x="1619250" y="4838700"/>
            <a:ext cx="8953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Repeat across many examples until validation performance stops improving.</a:t>
            </a:r>
          </a:p>
        </p:txBody>
      </p:sp>
    </p:spTree>
    <p:extLst>
      <p:ext uri="{BB962C8B-B14F-4D97-AF65-F5344CB8AC3E}">
        <p14:creationId xmlns:p14="http://schemas.microsoft.com/office/powerpoint/2010/main" val="924621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1E33AA3-3C3E-4976-A3DA-28CB15DC8A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99452B-8E8A-45B8-80F7-ED92894C6A9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F5248A-9201-4A66-945C-8FC4EA97585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Scaling keeps inputs on speaking terms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A839767-6201-405A-B7E7-E8126515B18E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1F2611-98A9-4ED6-97BD-31E45258EEA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79E656-73F9-48EF-A00F-8436E42F305D}"/>
              </a:ext>
            </a:extLst>
          </p:cNvPr>
          <p:cNvSpPr>
            <a:spLocks noGrp="1"/>
          </p:cNvSpPr>
          <p:nvPr/>
        </p:nvSpPr>
        <p:spPr>
          <a:xfrm>
            <a:off x="781050" y="180975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Raw features live on very different numeric scales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1E4CB4-F510-4C0F-975A-CE3B470D1A1E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3333750" cy="742950"/>
          </a:xfrm>
          <a:prstGeom prst="roundRect">
            <a:avLst>
              <a:gd name="adj" fmla="val 23077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AFEB89-D812-4914-98F2-5005AF9BD784}"/>
              </a:ext>
            </a:extLst>
          </p:cNvPr>
          <p:cNvSpPr>
            <a:spLocks noGrp="1"/>
          </p:cNvSpPr>
          <p:nvPr/>
        </p:nvSpPr>
        <p:spPr>
          <a:xfrm>
            <a:off x="1009650" y="26670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Annual income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102D00-1599-4980-A2BD-C0C2B6C5A0D4}"/>
              </a:ext>
            </a:extLst>
          </p:cNvPr>
          <p:cNvSpPr>
            <a:spLocks noGrp="1"/>
          </p:cNvSpPr>
          <p:nvPr/>
        </p:nvSpPr>
        <p:spPr>
          <a:xfrm>
            <a:off x="2647950" y="26670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8,000,000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9B1E17C-F236-4735-98F4-74DB87941DDF}"/>
              </a:ext>
            </a:extLst>
          </p:cNvPr>
          <p:cNvSpPr>
            <a:spLocks noGrp="1"/>
          </p:cNvSpPr>
          <p:nvPr/>
        </p:nvSpPr>
        <p:spPr>
          <a:xfrm>
            <a:off x="819150" y="3486150"/>
            <a:ext cx="3333750" cy="742950"/>
          </a:xfrm>
          <a:prstGeom prst="roundRect">
            <a:avLst>
              <a:gd name="adj" fmla="val 23077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12174C-C29C-4561-9A7E-375AA1D72212}"/>
              </a:ext>
            </a:extLst>
          </p:cNvPr>
          <p:cNvSpPr>
            <a:spLocks noGrp="1"/>
          </p:cNvSpPr>
          <p:nvPr/>
        </p:nvSpPr>
        <p:spPr>
          <a:xfrm>
            <a:off x="1009650" y="36576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Loan term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2E76DC-D3B8-45D1-BB58-89083B3C8270}"/>
              </a:ext>
            </a:extLst>
          </p:cNvPr>
          <p:cNvSpPr>
            <a:spLocks noGrp="1"/>
          </p:cNvSpPr>
          <p:nvPr/>
        </p:nvSpPr>
        <p:spPr>
          <a:xfrm>
            <a:off x="2647950" y="36576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91188A6-C6A0-443F-BAB7-57B7B89D5A56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3333750" cy="742950"/>
          </a:xfrm>
          <a:prstGeom prst="roundRect">
            <a:avLst>
              <a:gd name="adj" fmla="val 23077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4FF2B6-5F1F-4A09-9C06-D34F30574D5E}"/>
              </a:ext>
            </a:extLst>
          </p:cNvPr>
          <p:cNvSpPr>
            <a:spLocks noGrp="1"/>
          </p:cNvSpPr>
          <p:nvPr/>
        </p:nvSpPr>
        <p:spPr>
          <a:xfrm>
            <a:off x="1009650" y="4648200"/>
            <a:ext cx="2952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CIBIL score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E2D170-0C2A-4BEE-9FCB-26A4CFD0DE37}"/>
              </a:ext>
            </a:extLst>
          </p:cNvPr>
          <p:cNvSpPr>
            <a:spLocks noGrp="1"/>
          </p:cNvSpPr>
          <p:nvPr/>
        </p:nvSpPr>
        <p:spPr>
          <a:xfrm>
            <a:off x="2647950" y="4648200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780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FB28F019-91D4-4B36-9B41-DE2B780CAFFA}"/>
              </a:ext>
            </a:extLst>
          </p:cNvPr>
          <p:cNvSpPr>
            <a:spLocks noGrp="1"/>
          </p:cNvSpPr>
          <p:nvPr/>
        </p:nvSpPr>
        <p:spPr>
          <a:xfrm>
            <a:off x="4648200" y="3429000"/>
            <a:ext cx="781050" cy="5334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07B85D9-9F38-42AA-BA34-AF993BA33292}"/>
              </a:ext>
            </a:extLst>
          </p:cNvPr>
          <p:cNvSpPr>
            <a:spLocks noGrp="1"/>
          </p:cNvSpPr>
          <p:nvPr/>
        </p:nvSpPr>
        <p:spPr>
          <a:xfrm>
            <a:off x="5810250" y="2381250"/>
            <a:ext cx="2324100" cy="2724150"/>
          </a:xfrm>
          <a:prstGeom prst="roundRect">
            <a:avLst>
              <a:gd name="adj" fmla="val 7377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2D3AEA-DE88-41CA-B4EE-E1BE075F3FDA}"/>
              </a:ext>
            </a:extLst>
          </p:cNvPr>
          <p:cNvSpPr>
            <a:spLocks noGrp="1"/>
          </p:cNvSpPr>
          <p:nvPr/>
        </p:nvSpPr>
        <p:spPr>
          <a:xfrm>
            <a:off x="6000750" y="2552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StandardScaler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8ECCD9B-A406-4D61-886A-8D17C47D3844}"/>
              </a:ext>
            </a:extLst>
          </p:cNvPr>
          <p:cNvSpPr>
            <a:spLocks noGrp="1"/>
          </p:cNvSpPr>
          <p:nvPr/>
        </p:nvSpPr>
        <p:spPr>
          <a:xfrm>
            <a:off x="6000750" y="3238500"/>
            <a:ext cx="1943100" cy="1695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7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centers each feature</a:t>
            </a:r>
          </a:p>
          <a:p>
            <a:pPr algn="ctr">
              <a:lnSpc>
                <a:spcPct val="105000"/>
              </a:lnSpc>
              <a:buNone/>
              <a:defRPr sz="17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CFDCE5"/>
                </a:solidFill>
                <a:latin typeface="Helvetica Neue"/>
                <a:ea typeface="Helvetica Neue"/>
                <a:cs typeface="Helvetica Neue"/>
              </a:rPr>
              <a:t>and scales its spread</a:t>
            </a: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78BD2C53-BD4D-41CD-9BC6-38FF065AB94F}"/>
              </a:ext>
            </a:extLst>
          </p:cNvPr>
          <p:cNvSpPr>
            <a:spLocks noGrp="1"/>
          </p:cNvSpPr>
          <p:nvPr/>
        </p:nvSpPr>
        <p:spPr>
          <a:xfrm>
            <a:off x="8477250" y="3429000"/>
            <a:ext cx="781050" cy="533400"/>
          </a:xfrm>
          <a:prstGeom prst="rightArrow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F064BFE-CBA6-49C0-94DA-77E4F5375AC5}"/>
              </a:ext>
            </a:extLst>
          </p:cNvPr>
          <p:cNvSpPr>
            <a:spLocks noGrp="1"/>
          </p:cNvSpPr>
          <p:nvPr/>
        </p:nvSpPr>
        <p:spPr>
          <a:xfrm>
            <a:off x="9639300" y="2571750"/>
            <a:ext cx="1752600" cy="419100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income   +0.6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B2A6395-0BCC-4279-9830-3F79D205FE18}"/>
              </a:ext>
            </a:extLst>
          </p:cNvPr>
          <p:cNvSpPr>
            <a:spLocks noGrp="1"/>
          </p:cNvSpPr>
          <p:nvPr/>
        </p:nvSpPr>
        <p:spPr>
          <a:xfrm>
            <a:off x="9639300" y="3390900"/>
            <a:ext cx="1752600" cy="419100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term   −0.2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B79247A-139B-4626-B915-418B1D99CC74}"/>
              </a:ext>
            </a:extLst>
          </p:cNvPr>
          <p:cNvSpPr>
            <a:spLocks noGrp="1"/>
          </p:cNvSpPr>
          <p:nvPr/>
        </p:nvSpPr>
        <p:spPr>
          <a:xfrm>
            <a:off x="9639300" y="4210050"/>
            <a:ext cx="1752600" cy="419100"/>
          </a:xfrm>
          <a:prstGeom prst="roundRect">
            <a:avLst>
              <a:gd name="adj" fmla="val 50000"/>
            </a:avLst>
          </a:prstGeom>
          <a:solidFill>
            <a:srgbClr val="EAF6F6"/>
          </a:solidFill>
          <a:ln w="0">
            <a:noFill/>
            <a:prstDash val="solid"/>
          </a:ln>
        </p:spPr>
        <p:txBody>
          <a:bodyPr wrap="square" lIns="76200" tIns="76200" rIns="76200" bIns="76200" anchor="ctr">
            <a:normAutofit fontScale="62970"/>
          </a:bodyPr>
          <a:lstStyle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credit   +1.1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9012F5-8000-49DF-A418-4B540FC9D0F7}"/>
              </a:ext>
            </a:extLst>
          </p:cNvPr>
          <p:cNvSpPr>
            <a:spLocks noGrp="1"/>
          </p:cNvSpPr>
          <p:nvPr/>
        </p:nvSpPr>
        <p:spPr>
          <a:xfrm>
            <a:off x="1143000" y="5600700"/>
            <a:ext cx="990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80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80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rPr>
              <a:t>Fit the scaler on training data only. Reuse it for validation, test, and new applicants.</a:t>
            </a:r>
          </a:p>
        </p:txBody>
      </p:sp>
    </p:spTree>
    <p:extLst>
      <p:ext uri="{BB962C8B-B14F-4D97-AF65-F5344CB8AC3E}">
        <p14:creationId xmlns:p14="http://schemas.microsoft.com/office/powerpoint/2010/main" val="60467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563D566-8821-4F17-82C1-D26C742CFCA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D06AB32-464A-44F4-BCF2-450337B8A23C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ACA1C8-F735-4350-83E2-29D748926D2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probability becomes a decision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93A9426F-FCBB-45C5-AAEC-87624697BD8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F8A529-4949-417F-9234-6A87C7A132D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3ADA23-2B9A-47D4-8DCC-EFAA3FEECD34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7429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The network outputs a score between 0 and 1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7462A70B-952D-45B8-AF8C-ACB05C05EFB0}"/>
              </a:ext>
            </a:extLst>
          </p:cNvPr>
          <p:cNvSpPr>
            <a:spLocks noGrp="1"/>
          </p:cNvSpPr>
          <p:nvPr/>
        </p:nvSpPr>
        <p:spPr>
          <a:xfrm>
            <a:off x="1104900" y="3105150"/>
            <a:ext cx="9791700" cy="0"/>
          </a:xfrm>
          <a:prstGeom prst="line">
            <a:avLst/>
          </a:prstGeom>
          <a:noFill/>
          <a:ln w="38100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CFDD01CA-8D67-4146-85C4-D5FCFDD8C4E4}"/>
              </a:ext>
            </a:extLst>
          </p:cNvPr>
          <p:cNvSpPr>
            <a:spLocks noGrp="1"/>
          </p:cNvSpPr>
          <p:nvPr/>
        </p:nvSpPr>
        <p:spPr>
          <a:xfrm>
            <a:off x="1104900" y="2952750"/>
            <a:ext cx="0" cy="304800"/>
          </a:xfrm>
          <a:prstGeom prst="line">
            <a:avLst/>
          </a:prstGeom>
          <a:noFill/>
          <a:ln w="2857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A2B5F2-1B81-4521-9B58-6B8A42818306}"/>
              </a:ext>
            </a:extLst>
          </p:cNvPr>
          <p:cNvSpPr>
            <a:spLocks noGrp="1"/>
          </p:cNvSpPr>
          <p:nvPr/>
        </p:nvSpPr>
        <p:spPr>
          <a:xfrm>
            <a:off x="762000" y="3371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7E4B6EDF-D452-448D-B43D-DC05AE7D9A35}"/>
              </a:ext>
            </a:extLst>
          </p:cNvPr>
          <p:cNvSpPr>
            <a:spLocks noGrp="1"/>
          </p:cNvSpPr>
          <p:nvPr/>
        </p:nvSpPr>
        <p:spPr>
          <a:xfrm>
            <a:off x="6000750" y="2952750"/>
            <a:ext cx="0" cy="304800"/>
          </a:xfrm>
          <a:prstGeom prst="line">
            <a:avLst/>
          </a:prstGeom>
          <a:noFill/>
          <a:ln w="47625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599661-DD26-4B70-B892-AE458DD22B27}"/>
              </a:ext>
            </a:extLst>
          </p:cNvPr>
          <p:cNvSpPr>
            <a:spLocks noGrp="1"/>
          </p:cNvSpPr>
          <p:nvPr/>
        </p:nvSpPr>
        <p:spPr>
          <a:xfrm>
            <a:off x="5657850" y="3371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0.50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F987DE55-BC8C-43FB-AB55-03EA009CAB9C}"/>
              </a:ext>
            </a:extLst>
          </p:cNvPr>
          <p:cNvSpPr>
            <a:spLocks noGrp="1"/>
          </p:cNvSpPr>
          <p:nvPr/>
        </p:nvSpPr>
        <p:spPr>
          <a:xfrm>
            <a:off x="10896600" y="2952750"/>
            <a:ext cx="0" cy="304800"/>
          </a:xfrm>
          <a:prstGeom prst="line">
            <a:avLst/>
          </a:prstGeom>
          <a:noFill/>
          <a:ln w="28575">
            <a:solidFill>
              <a:srgbClr val="132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257C1E-D75B-4900-967C-B5E220C26064}"/>
              </a:ext>
            </a:extLst>
          </p:cNvPr>
          <p:cNvSpPr>
            <a:spLocks noGrp="1"/>
          </p:cNvSpPr>
          <p:nvPr/>
        </p:nvSpPr>
        <p:spPr>
          <a:xfrm>
            <a:off x="10553700" y="33718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F5A49F-AFDF-4FC3-AEBD-F2E37E1DFB9B}"/>
              </a:ext>
            </a:extLst>
          </p:cNvPr>
          <p:cNvSpPr>
            <a:spLocks noGrp="1"/>
          </p:cNvSpPr>
          <p:nvPr/>
        </p:nvSpPr>
        <p:spPr>
          <a:xfrm>
            <a:off x="5219700" y="2400300"/>
            <a:ext cx="156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329"/>
          </a:bodyPr>
          <a:lstStyle>
            <a:defPPr algn="ctr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decision threshold</a:t>
            </a:r>
          </a:p>
        </p:txBody>
      </p:sp>
      <p:sp>
        <p:nvSpPr>
          <p:cNvPr id="15" name="Straight Connector 14">
            <a:extLst>
              <a:ext uri="{FF2B5EF4-FFF2-40B4-BE49-F238E27FC236}">
                <a16:creationId xmlns:a16="http://schemas.microsoft.com/office/drawing/2014/main" id="{9BFA2720-33DA-4239-8677-BF48F257C33B}"/>
              </a:ext>
            </a:extLst>
          </p:cNvPr>
          <p:cNvSpPr>
            <a:spLocks noGrp="1"/>
          </p:cNvSpPr>
          <p:nvPr/>
        </p:nvSpPr>
        <p:spPr>
          <a:xfrm>
            <a:off x="2867406" y="3048000"/>
            <a:ext cx="0" cy="762000"/>
          </a:xfrm>
          <a:prstGeom prst="line">
            <a:avLst/>
          </a:prstGeom>
          <a:noFill/>
          <a:ln w="19050">
            <a:solidFill>
              <a:srgbClr val="B849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FEBA85B-44E8-4BAC-AB14-491FF3C883E2}"/>
              </a:ext>
            </a:extLst>
          </p:cNvPr>
          <p:cNvSpPr>
            <a:spLocks noGrp="1"/>
          </p:cNvSpPr>
          <p:nvPr/>
        </p:nvSpPr>
        <p:spPr>
          <a:xfrm>
            <a:off x="2124456" y="3924300"/>
            <a:ext cx="1485900" cy="876300"/>
          </a:xfrm>
          <a:prstGeom prst="roundRect">
            <a:avLst>
              <a:gd name="adj" fmla="val 17391"/>
            </a:avLst>
          </a:prstGeom>
          <a:solidFill>
            <a:srgbClr val="FCEDED"/>
          </a:solidFill>
          <a:ln w="9525">
            <a:solidFill>
              <a:srgbClr val="B84949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>
            <a:defPPr algn="ctr">
              <a:def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rPr>
              <a:t>18%</a:t>
            </a:r>
          </a:p>
          <a:p>
            <a:pPr algn="ctr">
              <a:buNone/>
              <a:def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B84949"/>
                </a:solidFill>
                <a:latin typeface="Helvetica Neue"/>
                <a:ea typeface="Helvetica Neue"/>
                <a:cs typeface="Helvetica Neue"/>
              </a:rPr>
              <a:t>Rejected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3B17CA7-D3E3-46E4-8AEB-567F0C5098F4}"/>
              </a:ext>
            </a:extLst>
          </p:cNvPr>
          <p:cNvSpPr>
            <a:spLocks noGrp="1"/>
          </p:cNvSpPr>
          <p:nvPr/>
        </p:nvSpPr>
        <p:spPr>
          <a:xfrm>
            <a:off x="6392418" y="3048000"/>
            <a:ext cx="0" cy="762000"/>
          </a:xfrm>
          <a:prstGeom prst="line">
            <a:avLst/>
          </a:prstGeom>
          <a:noFill/>
          <a:ln w="19050">
            <a:solidFill>
              <a:srgbClr val="C987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479B572-C45B-4DDD-832F-D2AA327AC91B}"/>
              </a:ext>
            </a:extLst>
          </p:cNvPr>
          <p:cNvSpPr>
            <a:spLocks noGrp="1"/>
          </p:cNvSpPr>
          <p:nvPr/>
        </p:nvSpPr>
        <p:spPr>
          <a:xfrm>
            <a:off x="5649468" y="3924300"/>
            <a:ext cx="1485900" cy="876300"/>
          </a:xfrm>
          <a:prstGeom prst="roundRect">
            <a:avLst>
              <a:gd name="adj" fmla="val 17391"/>
            </a:avLst>
          </a:prstGeom>
          <a:solidFill>
            <a:srgbClr val="FFF6DF"/>
          </a:solidFill>
          <a:ln w="9525">
            <a:solidFill>
              <a:srgbClr val="C98712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>
            <a:defPPr algn="ctr">
              <a:defRPr sz="1650" b="1">
                <a:solidFill>
                  <a:srgbClr val="C98712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1">
                <a:solidFill>
                  <a:srgbClr val="C987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8712"/>
                </a:solidFill>
                <a:latin typeface="Helvetica Neue"/>
                <a:ea typeface="Helvetica Neue"/>
                <a:cs typeface="Helvetica Neue"/>
              </a:rPr>
              <a:t>54%</a:t>
            </a:r>
          </a:p>
          <a:p>
            <a:pPr algn="ctr">
              <a:buNone/>
              <a:defRPr sz="1650" b="1">
                <a:solidFill>
                  <a:srgbClr val="C9871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98712"/>
                </a:solidFill>
                <a:latin typeface="Helvetica Neue"/>
                <a:ea typeface="Helvetica Neue"/>
                <a:cs typeface="Helvetica Neue"/>
              </a:rPr>
              <a:t>Approved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54B86A4-0CFF-4B69-B0A3-395A997B69B9}"/>
              </a:ext>
            </a:extLst>
          </p:cNvPr>
          <p:cNvSpPr>
            <a:spLocks noGrp="1"/>
          </p:cNvSpPr>
          <p:nvPr/>
        </p:nvSpPr>
        <p:spPr>
          <a:xfrm>
            <a:off x="10504932" y="3048000"/>
            <a:ext cx="0" cy="76200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3796AF2-7945-4FCF-B861-BAB69813597E}"/>
              </a:ext>
            </a:extLst>
          </p:cNvPr>
          <p:cNvSpPr>
            <a:spLocks noGrp="1"/>
          </p:cNvSpPr>
          <p:nvPr/>
        </p:nvSpPr>
        <p:spPr>
          <a:xfrm>
            <a:off x="9761982" y="3924300"/>
            <a:ext cx="1485900" cy="876300"/>
          </a:xfrm>
          <a:prstGeom prst="roundRect">
            <a:avLst>
              <a:gd name="adj" fmla="val 17391"/>
            </a:avLst>
          </a:prstGeom>
          <a:solidFill>
            <a:srgbClr val="EAF6F6"/>
          </a:solidFill>
          <a:ln w="9525">
            <a:solidFill>
              <a:srgbClr val="147D88"/>
            </a:solidFill>
            <a:prstDash val="solid"/>
          </a:ln>
        </p:spPr>
        <p:txBody>
          <a:bodyPr wrap="square" lIns="95250" tIns="95250" rIns="95250" bIns="95250" anchor="ctr">
            <a:normAutofit/>
          </a:bodyPr>
          <a:lstStyle>
            <a:defPPr algn="ctr"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96%</a:t>
            </a:r>
          </a:p>
          <a:p>
            <a:pPr algn="ctr">
              <a:buNone/>
              <a:def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Approved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13B3A8-666A-4BD0-A46B-1BE8A5EEE783}"/>
              </a:ext>
            </a:extLst>
          </p:cNvPr>
          <p:cNvSpPr>
            <a:spLocks noGrp="1"/>
          </p:cNvSpPr>
          <p:nvPr/>
        </p:nvSpPr>
        <p:spPr>
          <a:xfrm>
            <a:off x="1257300" y="5448300"/>
            <a:ext cx="9677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/>
          </a:bodyPr>
          <a:lstStyle>
            <a:defPPr algn="ctr"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8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dirty="0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A 0.50 threshold is a choice. Changing it changes the kinds of mistakes the model makes.</a:t>
            </a:r>
          </a:p>
        </p:txBody>
      </p:sp>
    </p:spTree>
    <p:extLst>
      <p:ext uri="{BB962C8B-B14F-4D97-AF65-F5344CB8AC3E}">
        <p14:creationId xmlns:p14="http://schemas.microsoft.com/office/powerpoint/2010/main" val="1739197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Chart">
            <a:extLst>
              <a:ext uri="{FF2B5EF4-FFF2-40B4-BE49-F238E27FC236}">
                <a16:creationId xmlns:a16="http://schemas.microsoft.com/office/drawing/2014/main" id="{4E9E3094-EAF5-4F24-BF12-32D6E2488C00}"/>
              </a:ext>
            </a:extLst>
          </p:cNvPr>
          <p:cNvGraphicFramePr/>
          <p:nvPr/>
        </p:nvGraphicFramePr>
        <p:xfrm>
          <a:off x="781050" y="2286000"/>
          <a:ext cx="609600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1299E26D-2D6A-43C2-B26B-DDD74DF5C7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956414-51F9-4DDF-A6DD-40905160622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34FA38-E9CB-4E94-B8F3-5133AF033F2D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Strong score, careful interpretation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3F438334-3693-4C2C-AA1A-58C93F2B728C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0E7D24-08E9-4A48-A888-C0EC4875A014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0AA35C-DF38-4256-8F55-DF43E350595B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5334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Held-out test accuracy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20FB55-EAD3-46D3-B928-0F72C3806BA5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6286500" cy="552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342A9B-E750-409A-A855-57812AD4E1F5}"/>
              </a:ext>
            </a:extLst>
          </p:cNvPr>
          <p:cNvSpPr>
            <a:spLocks noGrp="1"/>
          </p:cNvSpPr>
          <p:nvPr/>
        </p:nvSpPr>
        <p:spPr>
          <a:xfrm>
            <a:off x="895350" y="478155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Accuracy scale: 0%–100%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1E95AD-BCE8-479D-9964-FABC8EF94DB1}"/>
              </a:ext>
            </a:extLst>
          </p:cNvPr>
          <p:cNvSpPr>
            <a:spLocks noGrp="1"/>
          </p:cNvSpPr>
          <p:nvPr/>
        </p:nvSpPr>
        <p:spPr>
          <a:xfrm>
            <a:off x="7429500" y="207645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FA6BEF-C69B-494D-8B11-D3929F7A6A9D}"/>
              </a:ext>
            </a:extLst>
          </p:cNvPr>
          <p:cNvSpPr>
            <a:spLocks noGrp="1"/>
          </p:cNvSpPr>
          <p:nvPr/>
        </p:nvSpPr>
        <p:spPr>
          <a:xfrm>
            <a:off x="7620000" y="2247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>
            <a:defPPr algn="ctr"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 dirty="0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96.9%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D80205-02DD-4304-9683-53175227107D}"/>
              </a:ext>
            </a:extLst>
          </p:cNvPr>
          <p:cNvSpPr>
            <a:spLocks noGrp="1"/>
          </p:cNvSpPr>
          <p:nvPr/>
        </p:nvSpPr>
        <p:spPr>
          <a:xfrm>
            <a:off x="7620000" y="27432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balanced accuracy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B4E8557-EBEF-4E16-9347-8F79EF303DEA}"/>
              </a:ext>
            </a:extLst>
          </p:cNvPr>
          <p:cNvSpPr>
            <a:spLocks noGrp="1"/>
          </p:cNvSpPr>
          <p:nvPr/>
        </p:nvSpPr>
        <p:spPr>
          <a:xfrm>
            <a:off x="9448800" y="207645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37DC34-7671-4300-8470-A6C3117225C4}"/>
              </a:ext>
            </a:extLst>
          </p:cNvPr>
          <p:cNvSpPr>
            <a:spLocks noGrp="1"/>
          </p:cNvSpPr>
          <p:nvPr/>
        </p:nvSpPr>
        <p:spPr>
          <a:xfrm>
            <a:off x="9639300" y="22479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>
            <a:defPPr algn="ctr"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99.5%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C32B804-FBF2-4B49-BF96-197886D20E42}"/>
              </a:ext>
            </a:extLst>
          </p:cNvPr>
          <p:cNvSpPr>
            <a:spLocks noGrp="1"/>
          </p:cNvSpPr>
          <p:nvPr/>
        </p:nvSpPr>
        <p:spPr>
          <a:xfrm>
            <a:off x="9639300" y="27432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ROC-AUC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2E238CF-DD53-42A0-87BE-3CE45103F0B9}"/>
              </a:ext>
            </a:extLst>
          </p:cNvPr>
          <p:cNvSpPr>
            <a:spLocks noGrp="1"/>
          </p:cNvSpPr>
          <p:nvPr/>
        </p:nvSpPr>
        <p:spPr>
          <a:xfrm>
            <a:off x="7429500" y="344805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8106F6-FDBE-4DA4-B531-0D9EAA03C5DD}"/>
              </a:ext>
            </a:extLst>
          </p:cNvPr>
          <p:cNvSpPr>
            <a:spLocks noGrp="1"/>
          </p:cNvSpPr>
          <p:nvPr/>
        </p:nvSpPr>
        <p:spPr>
          <a:xfrm>
            <a:off x="7620000" y="3619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>
            <a:defPPr algn="ctr">
              <a:def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97.4%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A9EE06-08A7-4ED0-84E2-B36206FBBE24}"/>
              </a:ext>
            </a:extLst>
          </p:cNvPr>
          <p:cNvSpPr>
            <a:spLocks noGrp="1"/>
          </p:cNvSpPr>
          <p:nvPr/>
        </p:nvSpPr>
        <p:spPr>
          <a:xfrm>
            <a:off x="7620000" y="41148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approval precision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EAD6F5B-9478-42EF-87B6-212518CD6FBB}"/>
              </a:ext>
            </a:extLst>
          </p:cNvPr>
          <p:cNvSpPr>
            <a:spLocks noGrp="1"/>
          </p:cNvSpPr>
          <p:nvPr/>
        </p:nvSpPr>
        <p:spPr>
          <a:xfrm>
            <a:off x="9448800" y="3448050"/>
            <a:ext cx="1809750" cy="1162050"/>
          </a:xfrm>
          <a:prstGeom prst="roundRect">
            <a:avLst>
              <a:gd name="adj" fmla="val 14754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D41473-3F66-49AD-9C10-30D1FAFC36AD}"/>
              </a:ext>
            </a:extLst>
          </p:cNvPr>
          <p:cNvSpPr>
            <a:spLocks noGrp="1"/>
          </p:cNvSpPr>
          <p:nvPr/>
        </p:nvSpPr>
        <p:spPr>
          <a:xfrm>
            <a:off x="9639300" y="3619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958"/>
          </a:bodyPr>
          <a:lstStyle>
            <a:defPPr algn="ctr">
              <a:def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98.1%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90A1F4-3772-40B9-80B8-34FB0E38A070}"/>
              </a:ext>
            </a:extLst>
          </p:cNvPr>
          <p:cNvSpPr>
            <a:spLocks noGrp="1"/>
          </p:cNvSpPr>
          <p:nvPr/>
        </p:nvSpPr>
        <p:spPr>
          <a:xfrm>
            <a:off x="9639300" y="41148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approval recall</a:t>
            </a:r>
          </a:p>
        </p:txBody>
      </p:sp>
    </p:spTree>
    <p:extLst>
      <p:ext uri="{BB962C8B-B14F-4D97-AF65-F5344CB8AC3E}">
        <p14:creationId xmlns:p14="http://schemas.microsoft.com/office/powerpoint/2010/main" val="1371080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3A118134-BB13-43B0-9A04-0AD4FFDCC5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147D88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65B6D7-E239-4F41-92C1-544D13CA3E8A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WEEK 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BABD78-F0BE-4453-8EC9-30FC7FFD6E9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572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Code deep dive: make every step visible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F4B29BCC-BE6B-4DC8-B5A2-FEDC16E12109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10744200" cy="0"/>
          </a:xfrm>
          <a:prstGeom prst="line">
            <a:avLst/>
          </a:prstGeom>
          <a:noFill/>
          <a:ln w="19050">
            <a:solidFill>
              <a:srgbClr val="147D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56013-619D-4D85-94D1-C9BD28264729}"/>
              </a:ext>
            </a:extLst>
          </p:cNvPr>
          <p:cNvSpPr>
            <a:spLocks noGrp="1"/>
          </p:cNvSpPr>
          <p:nvPr/>
        </p:nvSpPr>
        <p:spPr>
          <a:xfrm>
            <a:off x="11049000" y="640080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r"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r">
              <a:buNone/>
              <a:def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8A9AA6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A6AB7B-0CED-4061-AC66-12F51A5051A2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Download</a:t>
            </a: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0E02FCD1-C899-47D0-9FA4-012F713F58B4}"/>
              </a:ext>
            </a:extLst>
          </p:cNvPr>
          <p:cNvSpPr>
            <a:spLocks noGrp="1"/>
          </p:cNvSpPr>
          <p:nvPr/>
        </p:nvSpPr>
        <p:spPr>
          <a:xfrm>
            <a:off x="2295525" y="2514600"/>
            <a:ext cx="190500" cy="2857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D5C67A-CAD8-4456-8145-3765C632BEB1}"/>
              </a:ext>
            </a:extLst>
          </p:cNvPr>
          <p:cNvSpPr>
            <a:spLocks noGrp="1"/>
          </p:cNvSpPr>
          <p:nvPr/>
        </p:nvSpPr>
        <p:spPr>
          <a:xfrm>
            <a:off x="25146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Select six inputs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7A2C5A59-D5F7-43B2-8CA8-9DBCACBD4A31}"/>
              </a:ext>
            </a:extLst>
          </p:cNvPr>
          <p:cNvSpPr>
            <a:spLocks noGrp="1"/>
          </p:cNvSpPr>
          <p:nvPr/>
        </p:nvSpPr>
        <p:spPr>
          <a:xfrm>
            <a:off x="4124325" y="2514600"/>
            <a:ext cx="190500" cy="2857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858593B-2778-426D-95E0-7C30B098F1C0}"/>
              </a:ext>
            </a:extLst>
          </p:cNvPr>
          <p:cNvSpPr>
            <a:spLocks noGrp="1"/>
          </p:cNvSpPr>
          <p:nvPr/>
        </p:nvSpPr>
        <p:spPr>
          <a:xfrm>
            <a:off x="43434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Split + scale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3F0A8966-16A7-4042-9D99-FC4E732124BD}"/>
              </a:ext>
            </a:extLst>
          </p:cNvPr>
          <p:cNvSpPr>
            <a:spLocks noGrp="1"/>
          </p:cNvSpPr>
          <p:nvPr/>
        </p:nvSpPr>
        <p:spPr>
          <a:xfrm>
            <a:off x="5953125" y="2514600"/>
            <a:ext cx="190500" cy="2857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1BE1667-415B-44AA-9067-62D7FDD71BCC}"/>
              </a:ext>
            </a:extLst>
          </p:cNvPr>
          <p:cNvSpPr>
            <a:spLocks noGrp="1"/>
          </p:cNvSpPr>
          <p:nvPr/>
        </p:nvSpPr>
        <p:spPr>
          <a:xfrm>
            <a:off x="61722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Train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9B1379FD-6513-48BA-9BFC-7AC9DDEBA534}"/>
              </a:ext>
            </a:extLst>
          </p:cNvPr>
          <p:cNvSpPr>
            <a:spLocks noGrp="1"/>
          </p:cNvSpPr>
          <p:nvPr/>
        </p:nvSpPr>
        <p:spPr>
          <a:xfrm>
            <a:off x="7781925" y="2514600"/>
            <a:ext cx="190500" cy="2857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6795B2-8362-44D7-9D4E-6ACB7479E401}"/>
              </a:ext>
            </a:extLst>
          </p:cNvPr>
          <p:cNvSpPr>
            <a:spLocks noGrp="1"/>
          </p:cNvSpPr>
          <p:nvPr/>
        </p:nvSpPr>
        <p:spPr>
          <a:xfrm>
            <a:off x="80010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EDF3F7"/>
          </a:solidFill>
          <a:ln w="9525">
            <a:solidFill>
              <a:srgbClr val="D9E4E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32A3A"/>
                </a:solidFill>
                <a:latin typeface="Helvetica Neue"/>
                <a:ea typeface="Helvetica Neue"/>
                <a:cs typeface="Helvetica Neue"/>
              </a:rPr>
              <a:t>Evaluate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91F83270-CFB1-4FAB-8620-96ABAC9EA279}"/>
              </a:ext>
            </a:extLst>
          </p:cNvPr>
          <p:cNvSpPr>
            <a:spLocks noGrp="1"/>
          </p:cNvSpPr>
          <p:nvPr/>
        </p:nvSpPr>
        <p:spPr>
          <a:xfrm>
            <a:off x="9610725" y="2514600"/>
            <a:ext cx="190500" cy="285750"/>
          </a:xfrm>
          <a:prstGeom prst="rightArrow">
            <a:avLst/>
          </a:prstGeom>
          <a:solidFill>
            <a:srgbClr val="78D5D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204122C-04D2-435A-9402-EF82EBA4DBAA}"/>
              </a:ext>
            </a:extLst>
          </p:cNvPr>
          <p:cNvSpPr>
            <a:spLocks noGrp="1"/>
          </p:cNvSpPr>
          <p:nvPr/>
        </p:nvSpPr>
        <p:spPr>
          <a:xfrm>
            <a:off x="9829800" y="2286000"/>
            <a:ext cx="1581150" cy="819150"/>
          </a:xfrm>
          <a:prstGeom prst="roundRect">
            <a:avLst>
              <a:gd name="adj" fmla="val 18605"/>
            </a:avLst>
          </a:prstGeom>
          <a:solidFill>
            <a:srgbClr val="132A3A"/>
          </a:solidFill>
          <a:ln w="9525">
            <a:solidFill>
              <a:srgbClr val="132A3A"/>
            </a:solidFill>
            <a:prstDash val="solid"/>
          </a:ln>
        </p:spPr>
        <p:txBody>
          <a:bodyPr wrap="square" lIns="114300" tIns="114300" rIns="114300" bIns="114300" anchor="ctr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Edit an applicant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F6EF5697-5B07-41C1-B895-00D223AA54A5}"/>
              </a:ext>
            </a:extLst>
          </p:cNvPr>
          <p:cNvSpPr>
            <a:spLocks noGrp="1"/>
          </p:cNvSpPr>
          <p:nvPr/>
        </p:nvSpPr>
        <p:spPr>
          <a:xfrm>
            <a:off x="685800" y="3619500"/>
            <a:ext cx="10744200" cy="0"/>
          </a:xfrm>
          <a:prstGeom prst="line">
            <a:avLst/>
          </a:prstGeom>
          <a:noFill/>
          <a:ln w="19050">
            <a:solidFill>
              <a:srgbClr val="D9E4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5C2719-C196-4189-A432-C8B33C68CEE6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l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buNone/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Keep four questions in 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A8EAE5-DC74-4523-9880-7BA077DC99A8}"/>
              </a:ext>
            </a:extLst>
          </p:cNvPr>
          <p:cNvSpPr>
            <a:spLocks noGrp="1"/>
          </p:cNvSpPr>
          <p:nvPr/>
        </p:nvSpPr>
        <p:spPr>
          <a:xfrm>
            <a:off x="876300" y="4533900"/>
            <a:ext cx="5048250" cy="1466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l">
              <a:lnSpc>
                <a:spcPct val="108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enters the model?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does each setting control?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evidence supports the score?</a:t>
            </a:r>
          </a:p>
          <a:p>
            <a:pPr algn="l">
              <a:lnSpc>
                <a:spcPct val="108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What would make this unsafe in real lending?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6AE477A-9FB9-4B3D-8FBA-F37FEDCF912C}"/>
              </a:ext>
            </a:extLst>
          </p:cNvPr>
          <p:cNvSpPr>
            <a:spLocks noGrp="1"/>
          </p:cNvSpPr>
          <p:nvPr/>
        </p:nvSpPr>
        <p:spPr>
          <a:xfrm>
            <a:off x="6743700" y="3943350"/>
            <a:ext cx="4457700" cy="1676400"/>
          </a:xfrm>
          <a:prstGeom prst="roundRect">
            <a:avLst>
              <a:gd name="adj" fmla="val 10227"/>
            </a:avLst>
          </a:prstGeom>
          <a:solidFill>
            <a:srgbClr val="EAF6F6"/>
          </a:solidFill>
          <a:ln w="9525">
            <a:solidFill>
              <a:srgbClr val="78D5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4D77B90-5E7F-4456-B43E-0B17074DC632}"/>
              </a:ext>
            </a:extLst>
          </p:cNvPr>
          <p:cNvSpPr>
            <a:spLocks noGrp="1"/>
          </p:cNvSpPr>
          <p:nvPr/>
        </p:nvSpPr>
        <p:spPr>
          <a:xfrm>
            <a:off x="6934200" y="4114800"/>
            <a:ext cx="4076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 goal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4C2641-6195-4518-B529-625D0876B3C8}"/>
              </a:ext>
            </a:extLst>
          </p:cNvPr>
          <p:cNvSpPr>
            <a:spLocks noGrp="1"/>
          </p:cNvSpPr>
          <p:nvPr/>
        </p:nvSpPr>
        <p:spPr>
          <a:xfrm>
            <a:off x="6934200" y="4648200"/>
            <a:ext cx="40767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lnSpc>
                <a:spcPct val="105000"/>
              </a:lnSpc>
              <a:buNone/>
              <a:defRPr sz="1725" b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dirty="0">
                <a:solidFill>
                  <a:srgbClr val="475B6A"/>
                </a:solidFill>
                <a:latin typeface="Helvetica Neue"/>
                <a:ea typeface="Helvetica Neue"/>
                <a:cs typeface="Helvetica Neue"/>
              </a:rPr>
              <a:t>Run the finished model, then rebuild it one step at a time.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42B679-78B6-4FD5-B5E0-99D03B71328A}"/>
              </a:ext>
            </a:extLst>
          </p:cNvPr>
          <p:cNvSpPr>
            <a:spLocks noGrp="1"/>
          </p:cNvSpPr>
          <p:nvPr/>
        </p:nvSpPr>
        <p:spPr>
          <a:xfrm>
            <a:off x="6191250" y="5772150"/>
            <a:ext cx="539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defPPr>
          </a:lstStyle>
          <a:p>
            <a:pPr algn="ctr">
              <a:buNone/>
              <a:def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47D88"/>
                </a:solidFill>
                <a:latin typeface="Helvetica Neue"/>
                <a:ea typeface="Helvetica Neue"/>
                <a:cs typeface="Helvetica Neue"/>
              </a:rPr>
              <a:t>notebooks/week-05-neural-networks.ipynb</a:t>
            </a:r>
          </a:p>
        </p:txBody>
      </p:sp>
    </p:spTree>
    <p:extLst>
      <p:ext uri="{BB962C8B-B14F-4D97-AF65-F5344CB8AC3E}">
        <p14:creationId xmlns:p14="http://schemas.microsoft.com/office/powerpoint/2010/main" val="185565764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Macintosh PowerPoint</Application>
  <DocSecurity>0</DocSecurity>
  <PresentationFormat>Widescreen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Girgis, John</cp:lastModifiedBy>
  <cp:revision>1</cp:revision>
  <dcterms:created xsi:type="dcterms:W3CDTF">2026-10-16T21:55:58Z</dcterms:created>
  <dcterms:modified xsi:type="dcterms:W3CDTF">2026-10-19T18:05:41Z</dcterms:modified>
</cp:coreProperties>
</file>
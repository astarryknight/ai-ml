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1f5440b13a4432" /><Relationship Type="http://schemas.openxmlformats.org/officeDocument/2006/relationships/extended-properties" Target="/docProps/app.xml" Id="Ra1dba31806eb49b5" /><Relationship Type="http://schemas.openxmlformats.org/officeDocument/2006/relationships/officeDocument" Target="/ppt/presentation.xml" Id="Rb10a9ff89e3f40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a90f8aab18448a"/>
  </p:sldMasterIdLst>
  <p:notesMasterIdLst>
    <p:notesMasterId xmlns:r="http://schemas.openxmlformats.org/officeDocument/2006/relationships" r:id="R6eb7b8721849410d"/>
  </p:notesMasterIdLst>
  <p:sldIdLst>
    <p:sldId xmlns:r="http://schemas.openxmlformats.org/officeDocument/2006/relationships" id="256" r:id="R2c8638d85fb24b23"/>
    <p:sldId xmlns:r="http://schemas.openxmlformats.org/officeDocument/2006/relationships" id="257" r:id="R68f33a44db7a47bc"/>
    <p:sldId xmlns:r="http://schemas.openxmlformats.org/officeDocument/2006/relationships" id="258" r:id="R7d11ea8cbd2942fe"/>
    <p:sldId xmlns:r="http://schemas.openxmlformats.org/officeDocument/2006/relationships" id="259" r:id="R0eac3b2d80c44834"/>
    <p:sldId xmlns:r="http://schemas.openxmlformats.org/officeDocument/2006/relationships" id="260" r:id="R9217579de7254f1a"/>
    <p:sldId xmlns:r="http://schemas.openxmlformats.org/officeDocument/2006/relationships" id="261" r:id="R6bcd04c217094139"/>
    <p:sldId xmlns:r="http://schemas.openxmlformats.org/officeDocument/2006/relationships" id="262" r:id="Re3f07a55c623458b"/>
    <p:sldId xmlns:r="http://schemas.openxmlformats.org/officeDocument/2006/relationships" id="263" r:id="R3ddc2e3f7ef148b4"/>
    <p:sldId xmlns:r="http://schemas.openxmlformats.org/officeDocument/2006/relationships" id="264" r:id="Rabcc4dc66582412d"/>
    <p:sldId xmlns:r="http://schemas.openxmlformats.org/officeDocument/2006/relationships" id="265" r:id="R1d80e5e225c847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eee5207b4947ff" /><Relationship Type="http://schemas.openxmlformats.org/officeDocument/2006/relationships/slideMaster" Target="/ppt/slideMasters/slideMaster1.xml" Id="R00a90f8aab18448a" /><Relationship Type="http://schemas.openxmlformats.org/officeDocument/2006/relationships/notesMaster" Target="/ppt/notesMasters/notesMaster1.xml" Id="R6eb7b8721849410d" /><Relationship Type="http://schemas.openxmlformats.org/officeDocument/2006/relationships/presProps" Target="/ppt/presProps.xml" Id="R6b8f212500094b59" /><Relationship Type="http://schemas.openxmlformats.org/officeDocument/2006/relationships/tableStyles" Target="/ppt/tableStyles.xml" Id="R24d582a4d51446ff" /><Relationship Type="http://schemas.openxmlformats.org/officeDocument/2006/relationships/slide" Target="/ppt/slides/slide1.xml" Id="R2c8638d85fb24b23" /><Relationship Type="http://schemas.openxmlformats.org/officeDocument/2006/relationships/slide" Target="/ppt/slides/slide2.xml" Id="R68f33a44db7a47bc" /><Relationship Type="http://schemas.openxmlformats.org/officeDocument/2006/relationships/slide" Target="/ppt/slides/slide3.xml" Id="R7d11ea8cbd2942fe" /><Relationship Type="http://schemas.openxmlformats.org/officeDocument/2006/relationships/slide" Target="/ppt/slides/slide4.xml" Id="R0eac3b2d80c44834" /><Relationship Type="http://schemas.openxmlformats.org/officeDocument/2006/relationships/slide" Target="/ppt/slides/slide5.xml" Id="R9217579de7254f1a" /><Relationship Type="http://schemas.openxmlformats.org/officeDocument/2006/relationships/slide" Target="/ppt/slides/slide6.xml" Id="R6bcd04c217094139" /><Relationship Type="http://schemas.openxmlformats.org/officeDocument/2006/relationships/slide" Target="/ppt/slides/slide7.xml" Id="Re3f07a55c623458b" /><Relationship Type="http://schemas.openxmlformats.org/officeDocument/2006/relationships/slide" Target="/ppt/slides/slide8.xml" Id="R3ddc2e3f7ef148b4" /><Relationship Type="http://schemas.openxmlformats.org/officeDocument/2006/relationships/slide" Target="/ppt/slides/slide9.xml" Id="Rabcc4dc66582412d" /><Relationship Type="http://schemas.openxmlformats.org/officeDocument/2006/relationships/slide" Target="/ppt/slides/slide10.xml" Id="R1d80e5e225c847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060b6f4bf04c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80c808dcc348e2" /><Relationship Type="http://schemas.openxmlformats.org/officeDocument/2006/relationships/notesMaster" Target="/ppt/notesMasters/notesMaster1.xml" Id="Rd5d33330d2ef4d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6e3ad90fea442d" /><Relationship Type="http://schemas.openxmlformats.org/officeDocument/2006/relationships/notesMaster" Target="/ppt/notesMasters/notesMaster1.xml" Id="R92127e8846e240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46ec0f0f3a4325" /><Relationship Type="http://schemas.openxmlformats.org/officeDocument/2006/relationships/notesMaster" Target="/ppt/notesMasters/notesMaster1.xml" Id="R3579283f2dec4a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85678592764e74" /><Relationship Type="http://schemas.openxmlformats.org/officeDocument/2006/relationships/notesMaster" Target="/ppt/notesMasters/notesMaster1.xml" Id="R397c0f4f806a46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3a539ffa6d45ce" /><Relationship Type="http://schemas.openxmlformats.org/officeDocument/2006/relationships/notesMaster" Target="/ppt/notesMasters/notesMaster1.xml" Id="Rc99e6e559a584f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b71e959ed24c2b" /><Relationship Type="http://schemas.openxmlformats.org/officeDocument/2006/relationships/notesMaster" Target="/ppt/notesMasters/notesMaster1.xml" Id="R02460fb31d5143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0c9a3a271e45dd" /><Relationship Type="http://schemas.openxmlformats.org/officeDocument/2006/relationships/notesMaster" Target="/ppt/notesMasters/notesMaster1.xml" Id="R44a4d4f86b1347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ccc370803640cf" /><Relationship Type="http://schemas.openxmlformats.org/officeDocument/2006/relationships/notesMaster" Target="/ppt/notesMasters/notesMaster1.xml" Id="Rcb57a6fae3cd41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85355989d44d23" /><Relationship Type="http://schemas.openxmlformats.org/officeDocument/2006/relationships/notesMaster" Target="/ppt/notesMasters/notesMaster1.xml" Id="R82a59e199f0c4d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bbbed124ed4b2a" /><Relationship Type="http://schemas.openxmlformats.org/officeDocument/2006/relationships/notesMaster" Target="/ppt/notesMasters/notesMaster1.xml" Id="R2b8d09dffc7949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naming the Week 3 deliverable and how students will use the website after class.</a:t>
            </a:r>
          </a:p>
          <a:p xmlns:a="http://schemas.openxmlformats.org/drawingml/2006/main">
            <a:r>
              <a:t>Sources: /Users/me/Documents/repos/ai-ml/src/pathway.md; /Users/me/Documents/repos/ai-ml/src/theory/intro_ml.md; /Users/me/Documents/repos/ai-ml/src/theory/evaluation.md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the fictional support-ticket scenario before introducing metrics.</a:t>
            </a:r>
          </a:p>
          <a:p xmlns:a="http://schemas.openxmlformats.org/drawingml/2006/main">
            <a:r>
              <a:t>Sources: /Users/me/Documents/repos/ai-ml/src/pathway.md; /Users/me/Documents/repos/ai-ml/notebooks/week-03-classification-errors.ipynb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either answer to the five-star question when the student clearly defines the target and model framing.</a:t>
            </a:r>
          </a:p>
          <a:p xmlns:a="http://schemas.openxmlformats.org/drawingml/2006/main">
            <a:r>
              <a:t>Sources: /Users/me/Documents/repos/ai-ml/src/theory/intro_ml.md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what goes wrong when test examples influence training decisions.</a:t>
            </a:r>
          </a:p>
          <a:p xmlns:a="http://schemas.openxmlformats.org/drawingml/2006/main">
            <a:r>
              <a:t>Sources: /Users/me/Documents/repos/ai-ml/src/theory/evaluation.md; /Users/me/Documents/repos/ai-ml/notebooks/week-03-classification-errors.ipynb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matrix by starting with actual class, then predicted class. The displayed counts come from the deterministic notebook run.</a:t>
            </a:r>
          </a:p>
          <a:p xmlns:a="http://schemas.openxmlformats.org/drawingml/2006/main">
            <a:r>
              <a:t>Sources: /Users/me/Documents/repos/ai-ml/notebooks/week-03-classification-errors.ipynb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one metric as universally best. Return to the fictional support workflow.</a:t>
            </a:r>
          </a:p>
          <a:p xmlns:a="http://schemas.openxmlformats.org/drawingml/2006/main">
            <a:r>
              <a:t>Sources: /Users/me/Documents/repos/ai-ml/src/theory/evaluation.md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precision and recall values come from the fixed Week 3 notebook split.</a:t>
            </a:r>
          </a:p>
          <a:p xmlns:a="http://schemas.openxmlformats.org/drawingml/2006/main">
            <a:r>
              <a:t>Sources: /Users/me/Documents/repos/ai-ml/notebooks/week-03-classification-errors.ipynb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defend a choice. The point is to connect metrics to a use case, not to force one universal answer.</a:t>
            </a:r>
          </a:p>
          <a:p xmlns:a="http://schemas.openxmlformats.org/drawingml/2006/main">
            <a:r>
              <a:t>Sources: /Users/me/Documents/repos/ai-ml/notebooks/week-03-classification-errors.ipynb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Require students to connect their chosen threshold to one named error cost.</a:t>
            </a:r>
          </a:p>
          <a:p xmlns:a="http://schemas.openxmlformats.org/drawingml/2006/main">
            <a:r>
              <a:t>Sources: /Users/me/Documents/repos/ai-ml/notebooks/week-03-classification-errors.ipynb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 that the submission names the costly error rather than only reporting accuracy.</a:t>
            </a:r>
          </a:p>
          <a:p xmlns:a="http://schemas.openxmlformats.org/drawingml/2006/main">
            <a:r>
              <a:t>Sources: /Users/me/Documents/repos/ai-ml/src/assessments/checkpoints.md; /Users/me/Documents/repos/ai-ml/notebooks/week-03-classification-errors.ipynb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5e3b26b7b848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8a97d47e974c5f" /><Relationship Type="http://schemas.openxmlformats.org/officeDocument/2006/relationships/slideLayout" Target="/ppt/slideLayouts/slideLayout1.xml" Id="R91e8e46abd0a47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e8e46abd0a47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23bfd2f8d4b86" /><Relationship Type="http://schemas.openxmlformats.org/officeDocument/2006/relationships/image" Target="/ppt/media/image.png" Id="R272ea879a6d841ef" /><Relationship Type="http://schemas.openxmlformats.org/officeDocument/2006/relationships/image" Target="/ppt/media/image.svg" Id="Rf0722dfea60245d0" /><Relationship Type="http://schemas.openxmlformats.org/officeDocument/2006/relationships/notesSlide" Target="/ppt/notesSlides/notesSlide1.xml" Id="R9dd79a7eef7d47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fb4174ebc40f7" /><Relationship Type="http://schemas.openxmlformats.org/officeDocument/2006/relationships/notesSlide" Target="/ppt/notesSlides/notesSlide2.xml" Id="R0551083aaefd46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17643615d43c0" /><Relationship Type="http://schemas.openxmlformats.org/officeDocument/2006/relationships/notesSlide" Target="/ppt/notesSlides/notesSlide3.xml" Id="R5de848d4e50447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8ea53e664485e" /><Relationship Type="http://schemas.openxmlformats.org/officeDocument/2006/relationships/notesSlide" Target="/ppt/notesSlides/notesSlide4.xml" Id="Rd48e32e76cb549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27c6f30d1458d" /><Relationship Type="http://schemas.openxmlformats.org/officeDocument/2006/relationships/notesSlide" Target="/ppt/notesSlides/notesSlide5.xml" Id="Rfe3d4df6310b4a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738fb75ac497c" /><Relationship Type="http://schemas.openxmlformats.org/officeDocument/2006/relationships/notesSlide" Target="/ppt/notesSlides/notesSlide6.xml" Id="R49b6055390cc40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7180e6e9f45c4" /><Relationship Type="http://schemas.openxmlformats.org/officeDocument/2006/relationships/chart" Target="/ppt/slides/charts/chart1.xml" Id="R0d0bb5d08464460e" /><Relationship Type="http://schemas.openxmlformats.org/officeDocument/2006/relationships/notesSlide" Target="/ppt/notesSlides/notesSlide7.xml" Id="R7e8958bab39845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ba671296447cc" /><Relationship Type="http://schemas.openxmlformats.org/officeDocument/2006/relationships/notesSlide" Target="/ppt/notesSlides/notesSlide8.xml" Id="R1497f7d01fa641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6611651cc4d6b" /><Relationship Type="http://schemas.openxmlformats.org/officeDocument/2006/relationships/notesSlide" Target="/ppt/notesSlides/notesSlide9.xml" Id="Ra91f5640e4a24b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6355a74f24fc3" /><Relationship Type="http://schemas.openxmlformats.org/officeDocument/2006/relationships/notesSlide" Target="/ppt/notesSlides/notesSlide10.xml" Id="R7ec4e870c70c411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Precision</c:v>
          </c:tx>
          <c:spPr>
            <a:solidFill xmlns:a="http://schemas.openxmlformats.org/drawingml/2006/main">
              <a:srgbClr val="132A3A"/>
            </a:solidFill>
          </c:spPr>
          <c:cat>
            <c:strRef>
              <c:f>'Chart Data'!$A$2:$A$3</c:f>
              <c:strCache>
                <c:ptCount val="2"/>
                <c:pt idx="0">
                  <c:v>Default 0.50</c:v>
                </c:pt>
                <c:pt idx="1">
                  <c:v>Lower 0.35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0.762</c:v>
                </c:pt>
                <c:pt idx="1">
                  <c:v>0.568</c:v>
                </c:pt>
              </c:numCache>
            </c:numRef>
          </c:val>
        </c:ser>
        <c:ser>
          <c:idx val="1"/>
          <c:order val="1"/>
          <c:tx>
            <c:v>Recall</c:v>
          </c:tx>
          <c:spPr>
            <a:solidFill xmlns:a="http://schemas.openxmlformats.org/drawingml/2006/main">
              <a:srgbClr val="147D88"/>
            </a:solidFill>
          </c:spPr>
          <c:cat>
            <c:strRef>
              <c:f>'Chart Data'!$C$2:$C$3</c:f>
              <c:strCache>
                <c:ptCount val="2"/>
                <c:pt idx="0">
                  <c:v>Default 0.50</c:v>
                </c:pt>
                <c:pt idx="1">
                  <c:v>Lower 0.35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0.457</c:v>
                </c:pt>
                <c:pt idx="1">
                  <c:v>0.6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32A3A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A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2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475B6A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AD4DE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492BE-1C14-4965-B625-E655A670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181AB-A613-4988-ABAC-8DA632C7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66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rPr>
              <a:t>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E8183-E130-4EFA-A1D2-14653E40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914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Classification and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5CD33-8F1D-4AF2-AF66-03AC98BB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rPr>
              <a:t>Confusion matrices, precision, recall, and error costs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8ABE5-DE69-4D0E-8E6E-92D5D10B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D5D5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ea879a6d841ef">
            <a:extLst>
              <a:ext uri="{96DAC541-7B7A-43D3-8B79-37D633B846F1}">
                <asvg:svgBlip xmlns:asvg="http://schemas.microsoft.com/office/drawing/2016/SVG/main" r:embed="Rf0722dfea60245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0" y="5257800"/>
            <a:ext cx="1809750" cy="781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940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66C1C-AF69-4AFA-BF9E-2EC4C863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518DE-4F50-4D7C-98DB-6E46E427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FB3F4-F55B-4B68-8633-C31A84FF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Today’s finish 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86303-5C6A-4835-BCF8-41298776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36C74-BD1A-4B96-8431-B012B23E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2B993-4024-46BC-9C25-AC746CE7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Students train a binary classifier and explain which mistake matters more.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518E9-D19C-44C6-9D91-C631FDA9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9715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Use stratified train and test data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Read all four cells of a confusion matrix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Compare precision and recall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Choose a threshold using the cost of errors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EC2B3-571B-4E1A-B9B6-E1AFB670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Suggested pacing: 30 minutes concepts, 55 minutes notebook, 15 minutes checkpoint</a:t>
            </a:r>
          </a:p>
        </p:txBody>
      </p:sp>
    </p:spTree>
    <p:extLst>
      <p:ext uri="{BB962C8B-B14F-4D97-AF65-F5344CB8AC3E}">
        <p14:creationId xmlns:p14="http://schemas.microsoft.com/office/powerpoint/2010/main" val="17253843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5D4CB-ED6B-4D54-95CE-89F35B34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2533A-118B-4FF9-94F0-04515A37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19339-64EA-4835-9360-3212395B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Classification predicts a category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8446D-CC35-401F-944E-85CF8D4F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D7796-9C6B-4A28-B52F-296C871C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5C899-38D1-44A2-BD1B-47B0DBBB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Regression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B02D9-6311-4A9A-ABE1-5B0651EF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57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Output is numeric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Examples: price, time, demand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1A02D-E24D-4FDE-8AD7-C7408338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81200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5BE8A-A415-4793-ACB3-0FB3810D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Classification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FAFC7-FC39-489B-A399-435608C9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457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Output belongs to a category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Examples: spam, escalation, churn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329AD-F99E-4033-AEF9-6150CC1A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Quick check: Is predicting a five-star review score regression or classification? Explain your choice.</a:t>
            </a:r>
          </a:p>
        </p:txBody>
      </p:sp>
    </p:spTree>
    <p:extLst>
      <p:ext uri="{BB962C8B-B14F-4D97-AF65-F5344CB8AC3E}">
        <p14:creationId xmlns:p14="http://schemas.microsoft.com/office/powerpoint/2010/main" val="12350400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BA46F-FD50-4580-866E-F886125A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0EA80-10CE-4198-84B1-6BC53C08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A9CE8-B36D-4FB2-A922-DB3DF245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Train and test data serve different roles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9494D-B72F-4064-B09F-2DEC9371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30032-45DB-4E17-954E-7B1AE306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44BD4-CD76-4926-8F16-70044930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80403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All labeled 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97A56-D5EF-4410-9C8E-D0958674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2381250"/>
            <a:ext cx="180403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Training 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1EA7D-4A0F-4FAC-A64E-15A1D886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2381250"/>
            <a:ext cx="180403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Fit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7718D-4790-426F-B7AD-6F77F2D4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5205" y="2381250"/>
            <a:ext cx="180403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Test 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DCD48-1C0D-4875-865F-15486D61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2381250"/>
            <a:ext cx="180403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7D88"/>
          </a:solidFill>
          <a:ln xmlns:a="http://schemas.openxmlformats.org/drawingml/2006/main" w="19050">
            <a:solidFill>
              <a:srgbClr val="147D8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Report metrics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F4864-6F34-48AB-8D25-1B144AB3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185" y="27622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80091-CFA9-432E-99E0-2752B020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27622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D9221-59CD-4CC9-93D0-22985BFC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355" y="27622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40CC5-3490-4C5E-A94E-C0C1230D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7622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B6E9B-6A4F-4388-9E67-DD82287F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6245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rPr>
              <a:t>The model never fits on the test set.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78471-9345-4F1F-B9DC-49FFE7F0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3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Stratification keeps similar class proportions in both splits.</a:t>
            </a:r>
          </a:p>
        </p:txBody>
      </p:sp>
    </p:spTree>
    <p:extLst>
      <p:ext uri="{BB962C8B-B14F-4D97-AF65-F5344CB8AC3E}">
        <p14:creationId xmlns:p14="http://schemas.microsoft.com/office/powerpoint/2010/main" val="18248070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660E7-BE2D-4742-AC78-AE0C030A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38553-AFF8-4EB4-9AA9-DC6A4BAC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B9137-BE5F-414B-915D-D5CBE716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Confusion matrix for the default threshold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75F63-D929-4053-BC32-389BB6F8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13EE9-C36E-4BDE-BE5D-970C4D55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1809750" y="2095500"/>
          <a:ext xmlns:a="http://schemas.openxmlformats.org/drawingml/2006/main" cx="61912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095500"/>
                <a:gridCol w="2095500"/>
              </a:tblGrid>
              <a:tr h="952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Predicted standard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Predicted escalate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Actual standard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Actual escalate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5EAD9-341E-48F5-8118-91FE6B59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rPr>
              <a:t>19 false negatives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0ECDC-3F71-4C33-9127-0CB202EC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67050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Tickets that needed escalation but received a standard prediction.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53982-8136-4422-A037-0B5A9AD9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482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Counts come from the fixed Week 3 notebook split.</a:t>
            </a:r>
          </a:p>
        </p:txBody>
      </p:sp>
    </p:spTree>
    <p:extLst>
      <p:ext uri="{BB962C8B-B14F-4D97-AF65-F5344CB8AC3E}">
        <p14:creationId xmlns:p14="http://schemas.microsoft.com/office/powerpoint/2010/main" val="21025847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8F16B-38E4-43A8-83B6-709F2A56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0E38D-4D56-4565-A2E1-B696A51C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48041-6AC9-46BF-A13B-6F5FE078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Accuracy, precision, and recall answer different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48947-9398-46B8-84F8-082D3435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3C7DE-5F53-4EED-BF9E-790B5E86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3D2CB-857D-4B71-9990-197D3CA0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E4011-5F56-4EA5-B6EC-2FC88932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How often was the prediction correct overall?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5FB64-33DB-46EA-B8F4-3F14EA7F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0025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D6595-A283-47EF-A2F4-044084C8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Precision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6E448-E0ED-4F9C-8822-21CC74CD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Among predicted escalations, how many truly needed escalation?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85EEF5-6A3F-4E73-A98A-A5C6E196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0025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BD496-34E5-4C91-B74C-8E42F201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A6B77-230D-4166-B13F-A808DF8A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860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Among tickets that needed escalation, how many did the model find?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7EBD4-7868-46A9-8601-8BBD97CA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0065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Metric choice follows the cost of mistakes.</a:t>
            </a:r>
          </a:p>
        </p:txBody>
      </p:sp>
    </p:spTree>
    <p:extLst>
      <p:ext uri="{BB962C8B-B14F-4D97-AF65-F5344CB8AC3E}">
        <p14:creationId xmlns:p14="http://schemas.microsoft.com/office/powerpoint/2010/main" val="1657763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55C2E-9543-411F-A4D7-39D3918A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E378D-C988-4F45-B6AA-F4C23136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1A138-A7A9-41BC-BE70-D14F060C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 lower threshold trades precision for recall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3D397-D09B-45F5-BF9B-C78FA20D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1D5C1-2A20-44C6-A875-B53ADF26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914400" y="1905000"/>
          <a:ext xmlns:a="http://schemas.openxmlformats.org/drawingml/2006/main" cx="7620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0bb5d08464460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37DDF-4C9A-4811-A251-C3F487A4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622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Lowering the threshold catches more true escalations and also creates more false alarms.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07243-7308-453D-ABED-93690877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14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Choose the threshold after defining which error costs more.</a:t>
            </a:r>
          </a:p>
        </p:txBody>
      </p:sp>
    </p:spTree>
    <p:extLst>
      <p:ext uri="{BB962C8B-B14F-4D97-AF65-F5344CB8AC3E}">
        <p14:creationId xmlns:p14="http://schemas.microsoft.com/office/powerpoint/2010/main" val="14027349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A022F-4249-474C-9C78-CD3A4CBC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4B191-5B8D-44C1-87C6-0A178882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110C4-09D8-4668-A090-AA5C010D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Error costs in a support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036E2-55AF-4216-9172-54B478D7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B0631-78B8-4255-8F14-A183F9E5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D07AB-007E-4969-BCF1-A8E7D3F9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False negative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007C8-857D-4518-9A6D-5CDD6456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57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 ticket needs escalation but receives a standard prediction.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Possible cost: delayed help or repeated contact.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5AA01-A5A6-493D-A773-E2A90876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81200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DE112-B9F5-4276-A896-1D6B1A3C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False positive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D67CF-3CDD-47C8-866F-8E44ABEF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457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 standard ticket is escalated unnecessarily.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Possible cost: specialist time and a slower queue.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24EC5-3CAB-4573-B053-42751C6D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Class decision: Which error should this fictional team reduce first?</a:t>
            </a:r>
          </a:p>
        </p:txBody>
      </p:sp>
    </p:spTree>
    <p:extLst>
      <p:ext uri="{BB962C8B-B14F-4D97-AF65-F5344CB8AC3E}">
        <p14:creationId xmlns:p14="http://schemas.microsoft.com/office/powerpoint/2010/main" val="9908226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EF8C5-18B3-43AF-8F0F-DCEFC67A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92A2B-69EA-45F7-B988-595B2041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E48B3-7380-49CC-975D-F3CF03ED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Notebook activity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EFDEF-DB86-484B-9773-B3CB9FF9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E8F07-0B75-4694-B38C-F919DDC2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4B90A-7C41-4C4C-8643-BC583955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80403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Create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26BA2-FE36-4353-9C41-92515F00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2381250"/>
            <a:ext cx="180403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Stratified split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2F39F-BEF2-4989-AA2D-BE86B375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2381250"/>
            <a:ext cx="180403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8B444-52ED-4ECA-838B-B3D922F3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5205" y="2381250"/>
            <a:ext cx="180403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Confusion matrix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4FF48-B301-4904-8363-6422A7B4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2381250"/>
            <a:ext cx="180403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7D88"/>
          </a:solidFill>
          <a:ln xmlns:a="http://schemas.openxmlformats.org/drawingml/2006/main" w="19050">
            <a:solidFill>
              <a:srgbClr val="147D8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Tune threshold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E35AD-555B-4387-855D-02059FF6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185" y="27622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E5ECC-E6F9-43CA-832B-0222037A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27622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A1A34-3A80-4CD5-AA14-071291D6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355" y="27622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2B375-2EA2-4869-A158-071D06C5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7622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DC63F-6888-446F-BABA-C0869281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243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Test thresholds of 0.25, 0.50, and 0.70. Record precision and recall for each.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3756F-6C66-4C11-8194-9F8AC31E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292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Notebook: notebooks/week-03-classification-errors.ipynb</a:t>
            </a:r>
          </a:p>
        </p:txBody>
      </p:sp>
    </p:spTree>
    <p:extLst>
      <p:ext uri="{BB962C8B-B14F-4D97-AF65-F5344CB8AC3E}">
        <p14:creationId xmlns:p14="http://schemas.microsoft.com/office/powerpoint/2010/main" val="4560829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81CA8-C9D3-4159-84C7-1E0A8919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AD011-B707-41E4-9462-D59088E2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D7C50-73C8-4E52-95CA-451C3D43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Checkpoint and take-home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70636-7160-4C6A-AE54-5D2473A3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0F8A5-8FEF-4CA0-A1BD-3BB8A3CC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0FF59-5326-487D-9708-F1A0ED42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Checkpoint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796D9-01B1-42A3-A949-670FD4B2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Distinguish regression from classification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Identify one false positive and one false negative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Explain when recall matters more than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7920F-6672-4CA7-9CC9-F7DE1637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Take-home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9FCFE-A509-4F5E-AF3B-5838B610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4286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Submit the confusion matrix, two threshold comparisons, and a short justification for the preferred threshold.</a:t>
            </a:r>
          </a:p>
        </p:txBody>
      </p:sp>
    </p:spTree>
    <p:extLst>
      <p:ext uri="{BB962C8B-B14F-4D97-AF65-F5344CB8AC3E}">
        <p14:creationId xmlns:p14="http://schemas.microsoft.com/office/powerpoint/2010/main" val="12261529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2026-09-18T12:23:01.4140000Z</dcterms:created>
  <dcterms:modified xsi:type="dcterms:W3CDTF">2026-09-18T12:23:01.4140000Z</dcterms:modified>
</coreProperties>
</file>
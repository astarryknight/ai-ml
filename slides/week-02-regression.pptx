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f6098d9ac6432f" /><Relationship Type="http://schemas.openxmlformats.org/officeDocument/2006/relationships/extended-properties" Target="/docProps/app.xml" Id="R356bade3dfe14a4c" /><Relationship Type="http://schemas.openxmlformats.org/officeDocument/2006/relationships/officeDocument" Target="/ppt/presentation.xml" Id="Rbb4de7e46c564b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0ade71618a49c7"/>
  </p:sldMasterIdLst>
  <p:notesMasterIdLst>
    <p:notesMasterId xmlns:r="http://schemas.openxmlformats.org/officeDocument/2006/relationships" r:id="Rc9ab487f1a8b4037"/>
  </p:notesMasterIdLst>
  <p:sldIdLst>
    <p:sldId xmlns:r="http://schemas.openxmlformats.org/officeDocument/2006/relationships" id="256" r:id="R00f80c2609a14b89"/>
    <p:sldId xmlns:r="http://schemas.openxmlformats.org/officeDocument/2006/relationships" id="257" r:id="Rb7bcf9b9e0834b99"/>
    <p:sldId xmlns:r="http://schemas.openxmlformats.org/officeDocument/2006/relationships" id="258" r:id="R6e2bce772b9a491f"/>
    <p:sldId xmlns:r="http://schemas.openxmlformats.org/officeDocument/2006/relationships" id="259" r:id="Rb705b1055a83494f"/>
    <p:sldId xmlns:r="http://schemas.openxmlformats.org/officeDocument/2006/relationships" id="260" r:id="R5f32b58eac0d44ff"/>
    <p:sldId xmlns:r="http://schemas.openxmlformats.org/officeDocument/2006/relationships" id="261" r:id="R010bae7431274a60"/>
    <p:sldId xmlns:r="http://schemas.openxmlformats.org/officeDocument/2006/relationships" id="262" r:id="Rb60389d6236a4c90"/>
    <p:sldId xmlns:r="http://schemas.openxmlformats.org/officeDocument/2006/relationships" id="263" r:id="R0b0baff99c594bc4"/>
    <p:sldId xmlns:r="http://schemas.openxmlformats.org/officeDocument/2006/relationships" id="264" r:id="R4ebc59374d054a67"/>
    <p:sldId xmlns:r="http://schemas.openxmlformats.org/officeDocument/2006/relationships" id="265" r:id="R0883f3cccde049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7a6114b4514ca4" /><Relationship Type="http://schemas.openxmlformats.org/officeDocument/2006/relationships/slideMaster" Target="/ppt/slideMasters/slideMaster1.xml" Id="R390ade71618a49c7" /><Relationship Type="http://schemas.openxmlformats.org/officeDocument/2006/relationships/notesMaster" Target="/ppt/notesMasters/notesMaster1.xml" Id="Rc9ab487f1a8b4037" /><Relationship Type="http://schemas.openxmlformats.org/officeDocument/2006/relationships/presProps" Target="/ppt/presProps.xml" Id="Re77be71da0f04e46" /><Relationship Type="http://schemas.openxmlformats.org/officeDocument/2006/relationships/tableStyles" Target="/ppt/tableStyles.xml" Id="R5e59dc10984842c1" /><Relationship Type="http://schemas.openxmlformats.org/officeDocument/2006/relationships/slide" Target="/ppt/slides/slide1.xml" Id="R00f80c2609a14b89" /><Relationship Type="http://schemas.openxmlformats.org/officeDocument/2006/relationships/slide" Target="/ppt/slides/slide2.xml" Id="Rb7bcf9b9e0834b99" /><Relationship Type="http://schemas.openxmlformats.org/officeDocument/2006/relationships/slide" Target="/ppt/slides/slide3.xml" Id="R6e2bce772b9a491f" /><Relationship Type="http://schemas.openxmlformats.org/officeDocument/2006/relationships/slide" Target="/ppt/slides/slide4.xml" Id="Rb705b1055a83494f" /><Relationship Type="http://schemas.openxmlformats.org/officeDocument/2006/relationships/slide" Target="/ppt/slides/slide5.xml" Id="R5f32b58eac0d44ff" /><Relationship Type="http://schemas.openxmlformats.org/officeDocument/2006/relationships/slide" Target="/ppt/slides/slide6.xml" Id="R010bae7431274a60" /><Relationship Type="http://schemas.openxmlformats.org/officeDocument/2006/relationships/slide" Target="/ppt/slides/slide7.xml" Id="Rb60389d6236a4c90" /><Relationship Type="http://schemas.openxmlformats.org/officeDocument/2006/relationships/slide" Target="/ppt/slides/slide8.xml" Id="R0b0baff99c594bc4" /><Relationship Type="http://schemas.openxmlformats.org/officeDocument/2006/relationships/slide" Target="/ppt/slides/slide9.xml" Id="R4ebc59374d054a67" /><Relationship Type="http://schemas.openxmlformats.org/officeDocument/2006/relationships/slide" Target="/ppt/slides/slide10.xml" Id="R0883f3cccde049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01a42bb6a643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c3029399bd4ca7" /><Relationship Type="http://schemas.openxmlformats.org/officeDocument/2006/relationships/notesMaster" Target="/ppt/notesMasters/notesMaster1.xml" Id="R495bf67182e24a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b97256616a4bbc" /><Relationship Type="http://schemas.openxmlformats.org/officeDocument/2006/relationships/notesMaster" Target="/ppt/notesMasters/notesMaster1.xml" Id="Rceec79e6d5ea41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a12bc3099b44bc" /><Relationship Type="http://schemas.openxmlformats.org/officeDocument/2006/relationships/notesMaster" Target="/ppt/notesMasters/notesMaster1.xml" Id="R3c8b921bee4440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22c14e175a482a" /><Relationship Type="http://schemas.openxmlformats.org/officeDocument/2006/relationships/notesMaster" Target="/ppt/notesMasters/notesMaster1.xml" Id="Rd985c088a5904a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b6a4528b2c482a" /><Relationship Type="http://schemas.openxmlformats.org/officeDocument/2006/relationships/notesMaster" Target="/ppt/notesMasters/notesMaster1.xml" Id="R5db5e5346f5e4a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14c67c4d054b0c" /><Relationship Type="http://schemas.openxmlformats.org/officeDocument/2006/relationships/notesMaster" Target="/ppt/notesMasters/notesMaster1.xml" Id="R005817b77d5f4f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bde52ce75d434e" /><Relationship Type="http://schemas.openxmlformats.org/officeDocument/2006/relationships/notesMaster" Target="/ppt/notesMasters/notesMaster1.xml" Id="Ra651133fa3e24b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be6be4876e443e" /><Relationship Type="http://schemas.openxmlformats.org/officeDocument/2006/relationships/notesMaster" Target="/ppt/notesMasters/notesMaster1.xml" Id="R344ac4e9efab4c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ca871a749c461c" /><Relationship Type="http://schemas.openxmlformats.org/officeDocument/2006/relationships/notesMaster" Target="/ppt/notesMasters/notesMaster1.xml" Id="R13b089e741994a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cf2f052589482c" /><Relationship Type="http://schemas.openxmlformats.org/officeDocument/2006/relationships/notesMaster" Target="/ppt/notesMasters/notesMaster1.xml" Id="Rb603b7c28a8c4b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Week 2 deliverable and how students will use the website after class.</a:t>
            </a:r>
          </a:p>
          <a:p xmlns:a="http://schemas.openxmlformats.org/drawingml/2006/main">
            <a:r>
              <a:t>Sources: /Users/me/Documents/repos/ai-ml/src/pathway.md; /Users/me/Documents/repos/ai-ml/src/theory/intro_ml.md; /Users/me/Documents/repos/ai-ml/src/theory/grad_desc.md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session around model comparison so students do not treat training as the finish line.</a:t>
            </a:r>
          </a:p>
          <a:p xmlns:a="http://schemas.openxmlformats.org/drawingml/2006/main">
            <a:r>
              <a:t>Sources: /Users/me/Documents/repos/ai-ml/src/pathway.md; /Users/me/Documents/repos/ai-ml/notebooks/week-02-regression-baseline.ipynb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site’s three-step illustration to the more rigorous split, train, evaluate loop used in the notebook.</a:t>
            </a:r>
          </a:p>
          <a:p xmlns:a="http://schemas.openxmlformats.org/drawingml/2006/main">
            <a:r>
              <a:t>Sources: /Users/me/Documents/repos/ai-ml/src/theory/intro_ml.md; /Users/me/Documents/repos/ai-ml/src/res/3_step.png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name one feature that might help predict apartment rent and one feature that could leak the answer.</a:t>
            </a:r>
          </a:p>
          <a:p xmlns:a="http://schemas.openxmlformats.org/drawingml/2006/main">
            <a:r>
              <a:t>Sources: /Users/me/Documents/repos/ai-ml/src/theory/intro_ml.md; /Users/me/Documents/repos/ai-ml/notebooks/week-02-regression-baseline.ipynb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class data mean as the baseline prediction, then ask why the prediction ignores practice hours.</a:t>
            </a:r>
          </a:p>
          <a:p xmlns:a="http://schemas.openxmlformats.org/drawingml/2006/main">
            <a:r>
              <a:t>Sources: /Users/me/Documents/repos/ai-ml/notebooks/week-02-regression-baseline.ipynb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values come from the deterministic Week 2 notebook. Lower MAE indicates smaller average errors.</a:t>
            </a:r>
          </a:p>
          <a:p xmlns:a="http://schemas.openxmlformats.org/drawingml/2006/main">
            <a:r>
              <a:t>Sources: /Users/me/Documents/repos/ai-ml/notebooks/week-02-regression-baseline.ipynb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math brief. Ask students to interpret the slope in the context of their practice-hours dataset.</a:t>
            </a:r>
          </a:p>
          <a:p xmlns:a="http://schemas.openxmlformats.org/drawingml/2006/main">
            <a:r>
              <a:t>Sources: /Users/me/Documents/repos/ai-ml/src/theory/grad_desc.md; /Users/me/Documents/repos/ai-ml/src/res/campaign_lin_reg.png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gradient descent as optimization intuition. Students do not need to derive the gradient in this session.</a:t>
            </a:r>
          </a:p>
          <a:p xmlns:a="http://schemas.openxmlformats.org/drawingml/2006/main">
            <a:r>
              <a:t>Sources: /Users/me/Documents/repos/ai-ml/src/theory/grad_desc.md; /Users/me/Documents/repos/ai-ml/src/res/grad_desc_vis.png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Circulate during the baseline step. Students often skip directly to the model without recording the reference metric.</a:t>
            </a:r>
          </a:p>
          <a:p xmlns:a="http://schemas.openxmlformats.org/drawingml/2006/main">
            <a:r>
              <a:t>Sources: /Users/me/Documents/repos/ai-ml/notebooks/week-02-regression-baseline.ipynb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 the baseline and model results in the submission so the comparison remains visible.</a:t>
            </a:r>
          </a:p>
          <a:p xmlns:a="http://schemas.openxmlformats.org/drawingml/2006/main">
            <a:r>
              <a:t>Sources: /Users/me/Documents/repos/ai-ml/src/assessments/checkpoints.md; /Users/me/Documents/repos/ai-ml/notebooks/week-02-regression-baseline.ipynb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563330bd342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be140fd4294c63" /><Relationship Type="http://schemas.openxmlformats.org/officeDocument/2006/relationships/slideLayout" Target="/ppt/slideLayouts/slideLayout1.xml" Id="R16cab046f11940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cab046f11940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482c242a74bc9" /><Relationship Type="http://schemas.openxmlformats.org/officeDocument/2006/relationships/image" Target="/ppt/media/image.png" Id="R43efe68c2e264d98" /><Relationship Type="http://schemas.openxmlformats.org/officeDocument/2006/relationships/image" Target="/ppt/media/image.svg" Id="Rf951c3a4cee64fa3" /><Relationship Type="http://schemas.openxmlformats.org/officeDocument/2006/relationships/notesSlide" Target="/ppt/notesSlides/notesSlide1.xml" Id="Rf1bddcd85daf4a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3ca33041f42e7" /><Relationship Type="http://schemas.openxmlformats.org/officeDocument/2006/relationships/notesSlide" Target="/ppt/notesSlides/notesSlide2.xml" Id="R444319e0fc7f41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404556be940cf" /><Relationship Type="http://schemas.openxmlformats.org/officeDocument/2006/relationships/image" Target="/ppt/media/image2.png" Id="R6bc8e43a65f545db" /><Relationship Type="http://schemas.openxmlformats.org/officeDocument/2006/relationships/notesSlide" Target="/ppt/notesSlides/notesSlide3.xml" Id="R8a97a3c054914c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dff8094e54a50" /><Relationship Type="http://schemas.openxmlformats.org/officeDocument/2006/relationships/notesSlide" Target="/ppt/notesSlides/notesSlide4.xml" Id="R0af2e08bb9a64a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af08aa1ec4ddb" /><Relationship Type="http://schemas.openxmlformats.org/officeDocument/2006/relationships/notesSlide" Target="/ppt/notesSlides/notesSlide5.xml" Id="R9a725f80e19643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d772459124858" /><Relationship Type="http://schemas.openxmlformats.org/officeDocument/2006/relationships/chart" Target="/ppt/slides/charts/chart1.xml" Id="Raf0f73d187984f88" /><Relationship Type="http://schemas.openxmlformats.org/officeDocument/2006/relationships/notesSlide" Target="/ppt/notesSlides/notesSlide6.xml" Id="R18cf9433197f4c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6f747416f407b" /><Relationship Type="http://schemas.openxmlformats.org/officeDocument/2006/relationships/image" Target="/ppt/media/image3.png" Id="Rbc5df68781be4881" /><Relationship Type="http://schemas.openxmlformats.org/officeDocument/2006/relationships/notesSlide" Target="/ppt/notesSlides/notesSlide7.xml" Id="R9bde69e764334d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e80ff1e2a45f5" /><Relationship Type="http://schemas.openxmlformats.org/officeDocument/2006/relationships/image" Target="/ppt/media/image4.png" Id="Rb93f18b249ee4bbf" /><Relationship Type="http://schemas.openxmlformats.org/officeDocument/2006/relationships/notesSlide" Target="/ppt/notesSlides/notesSlide8.xml" Id="Rf584020b91d64a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78eb6188a4a0f" /><Relationship Type="http://schemas.openxmlformats.org/officeDocument/2006/relationships/notesSlide" Target="/ppt/notesSlides/notesSlide9.xml" Id="Ra1856b25341e49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e28af6b9f498a" /><Relationship Type="http://schemas.openxmlformats.org/officeDocument/2006/relationships/notesSlide" Target="/ppt/notesSlides/notesSlide10.xml" Id="Rb4c11d99ae3349f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147D88"/>
            </a:solidFill>
          </c:spPr>
          <c:cat>
            <c:strRef>
              <c:f>'Chart Data'!$A$2:$A$3</c:f>
              <c:strCache>
                <c:ptCount val="2"/>
                <c:pt idx="0">
                  <c:v>Mean baseline</c:v>
                </c:pt>
                <c:pt idx="1">
                  <c:v>Linear regression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11.55</c:v>
                </c:pt>
                <c:pt idx="1">
                  <c:v>3.15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32A3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Mean absolute error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AD4DE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EDCF2-D6CF-4A3F-B84F-8059F9F2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FFD6A-2D45-45C1-8136-C4E4110E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6A265-8C8B-4BDE-A753-548B8046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914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Linear Regression and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22098-8C7B-4A4B-BFEC-DD534888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A baseline, a fitted line, and an honest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385AE-6861-426B-AE54-C5D454D9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5D5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fe68c2e264d98">
            <a:extLst>
              <a:ext uri="{96DAC541-7B7A-43D3-8B79-37D633B846F1}">
                <asvg:svgBlip xmlns:asvg="http://schemas.microsoft.com/office/drawing/2016/SVG/main" r:embed="Rf951c3a4cee64f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0" y="5257800"/>
            <a:ext cx="1809750" cy="78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059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31FAD-5D8A-47A2-BEA7-B2E7EA8E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C8353-39E8-4BA4-8BBB-D7F571B8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C4F3F-BE62-4E8E-8CF5-DF46A3DE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Today’s finish 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602B0-8388-4330-8E26-1FAF190E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BCE89-8E41-4636-8E9A-E2A65FD0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8B40A-7583-45D0-9A42-88534460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Students leave with a complete comparison, not only a fitted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DF3DA-478B-491E-BAE3-8ECB7622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9715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Identify the feature and numeric target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Split data before fitting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Measure a mean baseline with MAE and RMSE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Fit linear regression and explain the improvement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2DC1D-CFA8-4A5B-AFAF-FE01208C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Suggested pacing: 25 minutes concepts, 60 minutes notebook, 15 minutes checkpoint</a:t>
            </a:r>
          </a:p>
        </p:txBody>
      </p:sp>
    </p:spTree>
    <p:extLst>
      <p:ext uri="{BB962C8B-B14F-4D97-AF65-F5344CB8AC3E}">
        <p14:creationId xmlns:p14="http://schemas.microsoft.com/office/powerpoint/2010/main" val="91701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EEC53-3C19-46FA-9D85-0E72A92A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1DC36-AFCA-4F05-B96C-8AC31C92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E6D25-B365-420F-8076-7E755259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practical machine-learning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2185C-0C5E-4011-8F8B-CEDCF120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7225F-1945-41D7-BB00-376D989F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828AB-F05E-46FD-B9E0-97C5B4D2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7150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8e43a65f545db"/>
          <a:stretch xmlns:a="http://schemas.openxmlformats.org/drawingml/2006/main"/>
        </p:blipFill>
        <p:spPr>
          <a:xfrm xmlns:a="http://schemas.openxmlformats.org/drawingml/2006/main">
            <a:off x="914400" y="2431504"/>
            <a:ext cx="5372100" cy="237599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00E05-064D-448F-AFEA-75C274AF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71700"/>
            <a:ext cx="4095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Inspect the data and define the target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Split training and test examples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Fit a baseline, then a model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Evaluate on examples the model did not train on</a:t>
            </a:r>
          </a:p>
        </p:txBody>
      </p:sp>
    </p:spTree>
    <p:extLst>
      <p:ext uri="{BB962C8B-B14F-4D97-AF65-F5344CB8AC3E}">
        <p14:creationId xmlns:p14="http://schemas.microsoft.com/office/powerpoint/2010/main" val="946587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3663B-F11C-45CE-86DD-20D615B8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0CFB2-653C-4AE1-9B30-5993E955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03251-46B3-49C8-9279-35BAE93E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Features and numeric targets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76368-75D8-4066-AAA8-798040F9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CC7CE-7231-4213-967A-EE520A50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5CDF3-8D51-441B-A986-8D939F03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Feature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3F147-F8DD-452D-B9C3-C0F3DB6A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Input used to make a prediction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Example: practice hours per week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F3A76-DE36-484F-8512-0EF1AD62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8120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166D4-5FB4-4A42-A0AF-B429E3C8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EF381-BBE6-4DED-86C2-271ECDE7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The value the model tries to predict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Example: assessment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31294-B653-451D-8175-33ED1356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Pair check: Which column would be the target when predicting apartment rent?</a:t>
            </a:r>
          </a:p>
        </p:txBody>
      </p:sp>
    </p:spTree>
    <p:extLst>
      <p:ext uri="{BB962C8B-B14F-4D97-AF65-F5344CB8AC3E}">
        <p14:creationId xmlns:p14="http://schemas.microsoft.com/office/powerpoint/2010/main" val="13819872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8782E-2E3B-4AB1-ADE9-9F835FE6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D3C0D-7252-42DB-884E-79948342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05B57-7E83-4BF8-8215-6078A99D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 baseline sets the minimum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7B3DE-E1E0-4A1F-ABB9-15278646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0C9F9-BB9C-4B42-A76A-78679108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8D645-16E5-4448-8B86-26E6C737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Mean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C3B5A-8EB9-4D9D-B7E8-291A4B00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Predict the training-set mean for every new example.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DB0AA-D4EF-4CDE-ACAE-E29071E6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 more complex model earns its place only when it improves on a simple reference.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7B2FB-C22C-4231-8C56-FF40A791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Baseline prediction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C9507-7521-4357-AB10-313BA517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384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65.5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DBEEB-EDDF-44A6-9D22-06070792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The same value for every row</a:t>
            </a:r>
          </a:p>
        </p:txBody>
      </p:sp>
    </p:spTree>
    <p:extLst>
      <p:ext uri="{BB962C8B-B14F-4D97-AF65-F5344CB8AC3E}">
        <p14:creationId xmlns:p14="http://schemas.microsoft.com/office/powerpoint/2010/main" val="513556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81FA2-FA54-4BFA-86F4-D4E1C352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3CF60-599F-4EDA-80CF-EC8AD74D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63125-FEB4-4FE6-A12B-6A9762B5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MAE makes the model comparison concrete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CE352-9FD9-4A5E-A76B-3422E5D3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76785-C053-49E6-9F83-C00760B9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1047750" y="1952625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0f73d187984f8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27474-910E-4E6B-863E-36FF374B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MAE is the average absolute prediction error.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D70BA-0168-4C9B-8486-CAA0A240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29050"/>
            <a:ext cx="247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On this notebook’s fixed split, linear regression reduces MAE by 8.40 score points.</a:t>
            </a:r>
          </a:p>
        </p:txBody>
      </p:sp>
    </p:spTree>
    <p:extLst>
      <p:ext uri="{BB962C8B-B14F-4D97-AF65-F5344CB8AC3E}">
        <p14:creationId xmlns:p14="http://schemas.microsoft.com/office/powerpoint/2010/main" val="180548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44369-52EC-447C-8952-44CA8504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90557-FFF5-4C3B-BF5C-D0E8DD93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388B8-C74C-48FC-84B7-CB3B27A8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Linear regression fits a line to the pattern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A0038-9816-4CAE-B751-D0851905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050BF-CE61-4BCC-9085-EFD650CD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CAC1A-80FB-413A-9DA5-6B1235D8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61912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df68781be4881"/>
          <a:stretch xmlns:a="http://schemas.openxmlformats.org/drawingml/2006/main"/>
        </p:blipFill>
        <p:spPr>
          <a:xfrm xmlns:a="http://schemas.openxmlformats.org/drawingml/2006/main">
            <a:off x="914400" y="2168324"/>
            <a:ext cx="5848350" cy="322620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56C82-5F41-48F2-9DCD-AFB39D9C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76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Prediction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E1680-724F-4E01-B8BC-014BF50C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860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ŷ = b + wx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096FB-8887-4E5B-82B5-6C2DAA62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b sets the intercept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 sets the slope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x is the feature value</a:t>
            </a:r>
          </a:p>
        </p:txBody>
      </p:sp>
    </p:spTree>
    <p:extLst>
      <p:ext uri="{BB962C8B-B14F-4D97-AF65-F5344CB8AC3E}">
        <p14:creationId xmlns:p14="http://schemas.microsoft.com/office/powerpoint/2010/main" val="8434963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3034A-2F3D-4518-9BA5-F147C54D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4A6F1-DBA4-4262-A016-83180C94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36FFC-368B-4EF9-8EA3-AC612356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Gradient descent searches for lower loss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97863-AB49-4EF9-AAE8-090E1E74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2901D-AEB3-4642-90EB-EF088920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16B0B-84DE-4DA0-BAE2-D2E44E24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9055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f18b249ee4bbf"/>
          <a:stretch xmlns:a="http://schemas.openxmlformats.org/drawingml/2006/main"/>
        </p:blipFill>
        <p:spPr>
          <a:xfrm xmlns:a="http://schemas.openxmlformats.org/drawingml/2006/main">
            <a:off x="914400" y="2432594"/>
            <a:ext cx="5562600" cy="27548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D6C35-75B8-490F-ABAD-D45828EB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One update at a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64662-31B0-4D2C-8814-4130D85E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95600"/>
            <a:ext cx="3714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Calculate how the current parameters affect loss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Move parameters in the direction that lowers loss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Repeat until improvement becomes small or training stops</a:t>
            </a:r>
          </a:p>
        </p:txBody>
      </p:sp>
    </p:spTree>
    <p:extLst>
      <p:ext uri="{BB962C8B-B14F-4D97-AF65-F5344CB8AC3E}">
        <p14:creationId xmlns:p14="http://schemas.microsoft.com/office/powerpoint/2010/main" val="10515435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C829B-73F0-4092-BBEC-971902F7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57FA4-B364-48CD-B7C8-E15B5057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9FD3B-F1D3-419C-B779-9F4107BD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Notebook activity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88C07-2C6F-45F5-B011-219592F9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323A8-A4D5-4C7D-A015-5B387DE7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BC037-5922-47E7-AFB7-2FD7C3D0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Create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CA455-E777-4730-B1D0-DBFAD2D0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BC19F-9DB1-43BF-BD03-8A8B615D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Mean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CA3FD-EEA7-4C5E-B28A-B00BF742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5205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Linear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53613-BC10-41A4-BD43-69C6D3EF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7D88"/>
          </a:solidFill>
          <a:ln xmlns:a="http://schemas.openxmlformats.org/drawingml/2006/main" w="19050">
            <a:solidFill>
              <a:srgbClr val="147D8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Compare MAE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D9592-7B9A-4087-B106-9F7A6275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185" y="27622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378C0-427D-45FA-8584-A32A77BE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27622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32375-2197-471A-879E-53CE9653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355" y="27622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F4914-B925-469B-B57B-D2381BC8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7622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0325C-BAE3-47C6-8932-54611B42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962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Extension: double the noise and explain how the metrics and fitted line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F1185-44A1-4448-8087-6802093C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102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Notebook: notebooks/week-02-regression-baseline.ipynb</a:t>
            </a:r>
          </a:p>
        </p:txBody>
      </p:sp>
    </p:spTree>
    <p:extLst>
      <p:ext uri="{BB962C8B-B14F-4D97-AF65-F5344CB8AC3E}">
        <p14:creationId xmlns:p14="http://schemas.microsoft.com/office/powerpoint/2010/main" val="939978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A7841-9D35-4B51-9EFA-D26D0271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92F38-8C17-4CD5-ACA9-C57BFAAE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3A03D-5B57-424C-B469-73777E94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Exit ticket and take-home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A8CB6-18AB-43FD-BCD9-2075A109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227E9-0CD9-4AD9-B591-55190ACF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66328-9464-4D2E-9610-9CEBC6FC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Checkpoint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ADF6C-14E7-43D9-91C7-FD8EB53A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What is the difference between a feature and a target?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What does a loss value measure?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What does the learning rate control?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628AB-C5FE-41BF-9171-9FFFF1CD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Take-home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F3C0D-F597-4463-B786-459FCD1F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28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Submit the baseline and model metrics, both plots, and a short explanation of which model you would use.</a:t>
            </a:r>
          </a:p>
        </p:txBody>
      </p:sp>
    </p:spTree>
    <p:extLst>
      <p:ext uri="{BB962C8B-B14F-4D97-AF65-F5344CB8AC3E}">
        <p14:creationId xmlns:p14="http://schemas.microsoft.com/office/powerpoint/2010/main" val="53187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2026-09-18T12:22:57.8050000Z</dcterms:created>
  <dcterms:modified xsi:type="dcterms:W3CDTF">2026-09-18T12:22:57.8050000Z</dcterms:modified>
</coreProperties>
</file>
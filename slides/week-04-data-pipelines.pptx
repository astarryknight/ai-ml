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aaea596b2b4015" /><Relationship Type="http://schemas.openxmlformats.org/officeDocument/2006/relationships/extended-properties" Target="/docProps/app.xml" Id="R0206b7a1843d4560" /><Relationship Type="http://schemas.openxmlformats.org/officeDocument/2006/relationships/officeDocument" Target="/ppt/presentation.xml" Id="Rbf317eda0954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9c564385ee4eb1"/>
  </p:sldMasterIdLst>
  <p:notesMasterIdLst>
    <p:notesMasterId xmlns:r="http://schemas.openxmlformats.org/officeDocument/2006/relationships" r:id="R15a98613a8704521"/>
  </p:notesMasterIdLst>
  <p:sldIdLst>
    <p:sldId xmlns:r="http://schemas.openxmlformats.org/officeDocument/2006/relationships" id="256" r:id="Rdabf654470624688"/>
    <p:sldId xmlns:r="http://schemas.openxmlformats.org/officeDocument/2006/relationships" id="257" r:id="R31b732c97d324a51"/>
    <p:sldId xmlns:r="http://schemas.openxmlformats.org/officeDocument/2006/relationships" id="258" r:id="R72a409148702439d"/>
    <p:sldId xmlns:r="http://schemas.openxmlformats.org/officeDocument/2006/relationships" id="259" r:id="R67151c607dc44993"/>
    <p:sldId xmlns:r="http://schemas.openxmlformats.org/officeDocument/2006/relationships" id="260" r:id="R24a253d893d344cf"/>
    <p:sldId xmlns:r="http://schemas.openxmlformats.org/officeDocument/2006/relationships" id="261" r:id="Rb1089aab4ca9427f"/>
    <p:sldId xmlns:r="http://schemas.openxmlformats.org/officeDocument/2006/relationships" id="262" r:id="Ra94b763b73784d09"/>
    <p:sldId xmlns:r="http://schemas.openxmlformats.org/officeDocument/2006/relationships" id="263" r:id="Rc4c25c579f124548"/>
    <p:sldId xmlns:r="http://schemas.openxmlformats.org/officeDocument/2006/relationships" id="264" r:id="Re1feda0722e246ac"/>
    <p:sldId xmlns:r="http://schemas.openxmlformats.org/officeDocument/2006/relationships" id="265" r:id="R8edea8248e2b46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e2cdc079234699" /><Relationship Type="http://schemas.openxmlformats.org/officeDocument/2006/relationships/slideMaster" Target="/ppt/slideMasters/slideMaster1.xml" Id="Rd39c564385ee4eb1" /><Relationship Type="http://schemas.openxmlformats.org/officeDocument/2006/relationships/notesMaster" Target="/ppt/notesMasters/notesMaster1.xml" Id="R15a98613a8704521" /><Relationship Type="http://schemas.openxmlformats.org/officeDocument/2006/relationships/presProps" Target="/ppt/presProps.xml" Id="R63857cf5d30c4a99" /><Relationship Type="http://schemas.openxmlformats.org/officeDocument/2006/relationships/tableStyles" Target="/ppt/tableStyles.xml" Id="Rd572a686d3c04e70" /><Relationship Type="http://schemas.openxmlformats.org/officeDocument/2006/relationships/slide" Target="/ppt/slides/slide1.xml" Id="Rdabf654470624688" /><Relationship Type="http://schemas.openxmlformats.org/officeDocument/2006/relationships/slide" Target="/ppt/slides/slide2.xml" Id="R31b732c97d324a51" /><Relationship Type="http://schemas.openxmlformats.org/officeDocument/2006/relationships/slide" Target="/ppt/slides/slide3.xml" Id="R72a409148702439d" /><Relationship Type="http://schemas.openxmlformats.org/officeDocument/2006/relationships/slide" Target="/ppt/slides/slide4.xml" Id="R67151c607dc44993" /><Relationship Type="http://schemas.openxmlformats.org/officeDocument/2006/relationships/slide" Target="/ppt/slides/slide5.xml" Id="R24a253d893d344cf" /><Relationship Type="http://schemas.openxmlformats.org/officeDocument/2006/relationships/slide" Target="/ppt/slides/slide6.xml" Id="Rb1089aab4ca9427f" /><Relationship Type="http://schemas.openxmlformats.org/officeDocument/2006/relationships/slide" Target="/ppt/slides/slide7.xml" Id="Ra94b763b73784d09" /><Relationship Type="http://schemas.openxmlformats.org/officeDocument/2006/relationships/slide" Target="/ppt/slides/slide8.xml" Id="Rc4c25c579f124548" /><Relationship Type="http://schemas.openxmlformats.org/officeDocument/2006/relationships/slide" Target="/ppt/slides/slide9.xml" Id="Re1feda0722e246ac" /><Relationship Type="http://schemas.openxmlformats.org/officeDocument/2006/relationships/slide" Target="/ppt/slides/slide10.xml" Id="R8edea8248e2b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aaa2e8a61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e0d84a70d4081" /><Relationship Type="http://schemas.openxmlformats.org/officeDocument/2006/relationships/notesMaster" Target="/ppt/notesMasters/notesMaster1.xml" Id="Re2aa7cf68c42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01e1655cf04643" /><Relationship Type="http://schemas.openxmlformats.org/officeDocument/2006/relationships/notesMaster" Target="/ppt/notesMasters/notesMaster1.xml" Id="R527bcce4b293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c2939257db4f4b" /><Relationship Type="http://schemas.openxmlformats.org/officeDocument/2006/relationships/notesMaster" Target="/ppt/notesMasters/notesMaster1.xml" Id="Rfbd3ca35b1bb4c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2c7b7d80bf4816" /><Relationship Type="http://schemas.openxmlformats.org/officeDocument/2006/relationships/notesMaster" Target="/ppt/notesMasters/notesMaster1.xml" Id="R3cb76e61049c4a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6ce8acd3f4360" /><Relationship Type="http://schemas.openxmlformats.org/officeDocument/2006/relationships/notesMaster" Target="/ppt/notesMasters/notesMaster1.xml" Id="Rda2b68004567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6cadc351414e3c" /><Relationship Type="http://schemas.openxmlformats.org/officeDocument/2006/relationships/notesMaster" Target="/ppt/notesMasters/notesMaster1.xml" Id="Rd84c7da1903648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240a4c61ad4479" /><Relationship Type="http://schemas.openxmlformats.org/officeDocument/2006/relationships/notesMaster" Target="/ppt/notesMasters/notesMaster1.xml" Id="R60b6c4bbdec6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f3742c037c4c62" /><Relationship Type="http://schemas.openxmlformats.org/officeDocument/2006/relationships/notesMaster" Target="/ppt/notesMasters/notesMaster1.xml" Id="R373e9cee0c354a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76dc29ec784513" /><Relationship Type="http://schemas.openxmlformats.org/officeDocument/2006/relationships/notesMaster" Target="/ppt/notesMasters/notesMaster1.xml" Id="Re63add6d1dba4c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a9d8d5af8c49a5" /><Relationship Type="http://schemas.openxmlformats.org/officeDocument/2006/relationships/notesMaster" Target="/ppt/notesMasters/notesMaster1.xml" Id="Ra8899d073f544e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Week 4 deliverable and how students will use the website after class.</a:t>
            </a:r>
          </a:p>
          <a:p xmlns:a="http://schemas.openxmlformats.org/drawingml/2006/main">
            <a:r>
              <a:t>Sources: /Users/me/Documents/repos/ai-ml/src/pathway.md; /Users/me/Documents/repos/ai-ml/src/theory/feature_engineering.md; /Users/me/Documents/repos/ai-ml/src/theory/evaluation.md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expectation that data preparation belongs inside the model workflow.</a:t>
            </a:r>
          </a:p>
          <a:p xmlns:a="http://schemas.openxmlformats.org/drawingml/2006/main">
            <a:r>
              <a:t>Sources: /Users/me/Documents/repos/ai-ml/src/pathway.md; /Users/me/Documents/repos/ai-ml/notebooks/week-04-data-pipeline.ipynb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comes from the deterministic synthetic renewal dataset in the Week 4 notebook.</a:t>
            </a:r>
          </a:p>
          <a:p xmlns:a="http://schemas.openxmlformats.org/drawingml/2006/main">
            <a:r>
              <a:t>Sources: /Users/me/Documents/repos/ai-ml/notebooks/week-04-data-pipeline.ipynb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why the median can be safer than the mean when values are skewed.</a:t>
            </a:r>
          </a:p>
          <a:p xmlns:a="http://schemas.openxmlformats.org/drawingml/2006/main">
            <a:r>
              <a:t>Sources: /Users/me/Documents/repos/ai-ml/src/theory/feature_engineering.md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one-hot columns do not imply an order among plan names.</a:t>
            </a:r>
          </a:p>
          <a:p xmlns:a="http://schemas.openxmlformats.org/drawingml/2006/main">
            <a:r>
              <a:t>Sources: /Users/me/Documents/repos/ai-ml/src/theory/feature_engineering.md; /Users/me/Documents/repos/ai-ml/notebooks/week-04-data-pipeline.ipynb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scaling parameters come from the training set only.</a:t>
            </a:r>
          </a:p>
          <a:p xmlns:a="http://schemas.openxmlformats.org/drawingml/2006/main">
            <a:r>
              <a:t>Sources: /Users/me/Documents/repos/ai-ml/src/theory/feature_engineering.md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leakage in a scaler fitted before train-test splitting.</a:t>
            </a:r>
          </a:p>
          <a:p xmlns:a="http://schemas.openxmlformats.org/drawingml/2006/main">
            <a:r>
              <a:t>Sources: /Users/me/Documents/repos/ai-ml/src/theory/evaluation.md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process box to the matching sklearn object in the notebook.</a:t>
            </a:r>
          </a:p>
          <a:p xmlns:a="http://schemas.openxmlformats.org/drawingml/2006/main">
            <a:r>
              <a:t>Sources: /Users/me/Documents/repos/ai-ml/src/theory/feature_engineering.md; /Users/me/Documents/repos/ai-ml/notebooks/week-04-data-pipeline.ipynb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metrics come from the deterministic Week 4 notebook run.</a:t>
            </a:r>
          </a:p>
          <a:p xmlns:a="http://schemas.openxmlformats.org/drawingml/2006/main">
            <a:r>
              <a:t>Sources: /Users/me/Documents/repos/ai-ml/notebooks/week-04-data-pipeline.ipynb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students to document a change that did not help when applicable. Evidence matters more than improvement alone.</a:t>
            </a:r>
          </a:p>
          <a:p xmlns:a="http://schemas.openxmlformats.org/drawingml/2006/main">
            <a:r>
              <a:t>Sources: /Users/me/Documents/repos/ai-ml/src/assessments/checkpoints.md; /Users/me/Documents/repos/ai-ml/notebooks/week-04-data-pipeline.ipynb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40358371c41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03a175d1a741bc" /><Relationship Type="http://schemas.openxmlformats.org/officeDocument/2006/relationships/slideLayout" Target="/ppt/slideLayouts/slideLayout1.xml" Id="R4761e86ea0b2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1e86ea0b2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97c9d5bd247b0" /><Relationship Type="http://schemas.openxmlformats.org/officeDocument/2006/relationships/image" Target="/ppt/media/image.png" Id="R88bd2bc169ca49f0" /><Relationship Type="http://schemas.openxmlformats.org/officeDocument/2006/relationships/image" Target="/ppt/media/image.svg" Id="Rcf81cfe04b1e489b" /><Relationship Type="http://schemas.openxmlformats.org/officeDocument/2006/relationships/notesSlide" Target="/ppt/notesSlides/notesSlide1.xml" Id="Rd197f5d26d2949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fc6654032475c" /><Relationship Type="http://schemas.openxmlformats.org/officeDocument/2006/relationships/notesSlide" Target="/ppt/notesSlides/notesSlide2.xml" Id="R3ed28dfce96d42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404a2f1e4983" /><Relationship Type="http://schemas.openxmlformats.org/officeDocument/2006/relationships/notesSlide" Target="/ppt/notesSlides/notesSlide3.xml" Id="R8ff95327edc54d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1d1b4865541bf" /><Relationship Type="http://schemas.openxmlformats.org/officeDocument/2006/relationships/notesSlide" Target="/ppt/notesSlides/notesSlide4.xml" Id="Rcce7dac4e20349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e4f0095c4e45" /><Relationship Type="http://schemas.openxmlformats.org/officeDocument/2006/relationships/notesSlide" Target="/ppt/notesSlides/notesSlide5.xml" Id="R13670c51eae64b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8f5945aea4e97" /><Relationship Type="http://schemas.openxmlformats.org/officeDocument/2006/relationships/notesSlide" Target="/ppt/notesSlides/notesSlide6.xml" Id="Rfbd5c6369fa24f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f71115cfd469e" /><Relationship Type="http://schemas.openxmlformats.org/officeDocument/2006/relationships/notesSlide" Target="/ppt/notesSlides/notesSlide7.xml" Id="Rf99e18516d4e48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c313021934cfd" /><Relationship Type="http://schemas.openxmlformats.org/officeDocument/2006/relationships/notesSlide" Target="/ppt/notesSlides/notesSlide8.xml" Id="R3390e58ccf21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45dcf801e458f" /><Relationship Type="http://schemas.openxmlformats.org/officeDocument/2006/relationships/chart" Target="/ppt/slides/charts/chart1.xml" Id="R1efc058eb91c48c6" /><Relationship Type="http://schemas.openxmlformats.org/officeDocument/2006/relationships/notesSlide" Target="/ppt/notesSlides/notesSlide9.xml" Id="R2840f9c760a0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73d050b344ecc" /><Relationship Type="http://schemas.openxmlformats.org/officeDocument/2006/relationships/notesSlide" Target="/ppt/notesSlides/notesSlide10.xml" Id="Rab8d80a826d640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132A3A"/>
            </a:solidFill>
          </c:spPr>
          <c:cat>
            <c:strRef>
              <c:f>'Chart Data'!$A$2:$A$3</c:f>
              <c:strCache>
                <c:ptCount val="2"/>
                <c:pt idx="0">
                  <c:v>Most-frequent baseline</c:v>
                </c:pt>
                <c:pt idx="1">
                  <c:v>Preprocessing pipeline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0.543</c:v>
                </c:pt>
                <c:pt idx="1">
                  <c:v>0.81</c:v>
                </c:pt>
              </c:numCache>
            </c:numRef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147D88"/>
            </a:solidFill>
          </c:spPr>
          <c:cat>
            <c:strRef>
              <c:f>'Chart Data'!$C$2:$C$3</c:f>
              <c:strCache>
                <c:ptCount val="2"/>
                <c:pt idx="0">
                  <c:v>Most-frequent baseline</c:v>
                </c:pt>
                <c:pt idx="1">
                  <c:v>Preprocessing pipeline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0.704</c:v>
                </c:pt>
                <c:pt idx="1">
                  <c:v>0.831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32A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75B6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AD4DE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A1443-E3FC-4D84-A6E7-7819588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0D682-8CFB-454B-9046-8DA1A11A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2B3E1-8A04-436E-8B92-D8D9AA5D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Quality and Reproducible Pipelines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9BDA2-CD98-4807-BAF1-21F229D4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Missing values, categorical data, leakage, and model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C8C24-FDED-4CD4-B60C-E5955D13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5D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d2bc169ca49f0">
            <a:extLst>
              <a:ext uri="{96DAC541-7B7A-43D3-8B79-37D633B846F1}">
                <asvg:svgBlip xmlns:asvg="http://schemas.microsoft.com/office/drawing/2016/SVG/main" r:embed="Rcf81cfe04b1e48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5257800"/>
            <a:ext cx="18097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82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EECBE-237A-42FE-8604-DBF12AD6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DB1BD-9DED-41F2-8A83-A26FE9EF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E188E-8678-4668-B9E1-C7028250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4573-54D8-47A6-88A3-6E246F7A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18C0E-86EA-4DE8-BAB7-808D68A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D1C4D-2599-4505-A433-2B3772B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Students turn a messy table into a repeatable modeling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BB2CD-4AAE-4834-8E09-E9FA2C11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71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Audit missing values and column types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Split before fitting preprocessing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Combine imputation, encoding, scaling, and classification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Compare the pipeline with a simple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EF2C5-F7A5-4B9D-99C0-E6FF980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Suggested pacing: 30 minutes concepts, 65 minutes notebook, 15 minutes checkpoint</a:t>
            </a:r>
          </a:p>
        </p:txBody>
      </p:sp>
    </p:spTree>
    <p:extLst>
      <p:ext uri="{BB962C8B-B14F-4D97-AF65-F5344CB8AC3E}">
        <p14:creationId xmlns:p14="http://schemas.microsoft.com/office/powerpoint/2010/main" val="1733594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C85EC-3F71-46A5-AE90-4167C1A5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69739-98BB-463C-89AD-B03FA1F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C39B1-6974-4742-A045-6C1EE58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Data-quality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D8F23-F091-4BEA-8DA7-710B6B90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F3B5-C70A-4F8B-B24A-A6C9FF8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143000" y="1952625"/>
          <a:ext xmlns:a="http://schemas.openxmlformats.org/drawingml/2006/main" cx="9715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381250"/>
                <a:gridCol w="2095500"/>
                <a:gridCol w="21907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Unique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sessions_per_week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support_tickets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monthly_spend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categorical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4DA97-71B2-4508-B4F7-4DD80A4D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Audit before modeling so every cleaning decision has a reason.</a:t>
            </a:r>
          </a:p>
        </p:txBody>
      </p:sp>
    </p:spTree>
    <p:extLst>
      <p:ext uri="{BB962C8B-B14F-4D97-AF65-F5344CB8AC3E}">
        <p14:creationId xmlns:p14="http://schemas.microsoft.com/office/powerpoint/2010/main" val="1773801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581DA-3851-40DC-A994-3DEDE1C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69794-0B7D-4277-9880-BBB807F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9BE8D-4B50-460D-8405-0F96C554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Missing values require an explicit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C2BCD-B83B-49E9-BD67-FF08C60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E2A63-CFCE-4F26-8EB6-9E6E5FD7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24486-B05C-4847-9D1D-51ECDE0E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Numeric columns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1302B-06F3-476D-992D-E702D0EE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Common choices include median or mean imputation.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Fit the imputer using training data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EEDE0-888F-4C47-B16E-42BAB40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9800F-B729-4EEE-9E8B-EBBEA419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Categorical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A42EE-ED14-4034-BD12-5FA50EBD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Use the most frequent value or an explicit unknown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Keep unseen categories from crashing the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16C8E-A3CC-4CFB-A746-FFBCC569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Discussion: When would dropping rows create a biased sample?</a:t>
            </a:r>
          </a:p>
        </p:txBody>
      </p:sp>
    </p:spTree>
    <p:extLst>
      <p:ext uri="{BB962C8B-B14F-4D97-AF65-F5344CB8AC3E}">
        <p14:creationId xmlns:p14="http://schemas.microsoft.com/office/powerpoint/2010/main" val="912994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8BA37-E6AD-44FE-86A3-E4E9CB2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A9587-A1AD-4746-8E9F-669AB04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8C751-ECFB-4845-9AC0-EC6D053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One-hot encoding turns categories into model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CA20A-26B8-4A52-A212-D327354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5F3DB-57B3-4013-A0D5-F710D4E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37EE6-AFE7-4334-A4E2-6C64E083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Raw column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A230F-673F-411E-95BE-9226941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381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CAD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2B753-74A9-4098-BCA8-C77CAD6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19240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----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basic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plus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B7BFA-6C90-491C-AE28-A1B37681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Encoded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DCA84-8157-4E83-BC95-AEE904B6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590550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CAD4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7C148-5AFA-4D1B-AEE8-360C5AF4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54483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plan_basic   plan_plus   plan_pro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  1           0          0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  0           1          0</a:t>
            </a:r>
          </a:p>
          <a:p xmlns:a="http://schemas.openxmlformats.org/drawingml/2006/main"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  0           0          1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CDB61-BCBE-48FF-8678-8F1A327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95250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8754C-86D6-4F06-9A03-E26D615B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Use ordinal encoding only when categories have a real order.</a:t>
            </a:r>
          </a:p>
        </p:txBody>
      </p:sp>
    </p:spTree>
    <p:extLst>
      <p:ext uri="{BB962C8B-B14F-4D97-AF65-F5344CB8AC3E}">
        <p14:creationId xmlns:p14="http://schemas.microsoft.com/office/powerpoint/2010/main" val="1354239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B1418-328F-4857-AF59-7C35BC16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039E-64A7-486E-BFB0-05DC46E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D81A3-97B2-4B61-9D60-46150331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Scaling makes numeric features comparable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7BE3B-4DCA-42DD-BEA4-4D99458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DD88C-082E-4685-BB2B-5472769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F7B2D-B540-496C-81C4-B8FB258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Before scaling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02AE4-3AAC-4C71-813A-3DAB45D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sessions_per_week: 0 to 12</a:t>
            </a:r>
          </a:p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monthly_spend: about 10 to 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8D79B-6D7D-43C5-9F03-681A31CA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large numeric range can dominate distance or optimization.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8A53E-25E6-4AF2-B47D-94046A56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3B873-794D-4058-BAA5-BDAEDCF7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After standardization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78F02-0FC7-426A-86B8-BD06498D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Each training feature centers near 0</a:t>
            </a:r>
          </a:p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and uses a comparable 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0E8D8-EC25-4CEE-B25C-36D8DF30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Fit the scaler on training data, then reuse it for validation and test data.</a:t>
            </a:r>
          </a:p>
        </p:txBody>
      </p:sp>
    </p:spTree>
    <p:extLst>
      <p:ext uri="{BB962C8B-B14F-4D97-AF65-F5344CB8AC3E}">
        <p14:creationId xmlns:p14="http://schemas.microsoft.com/office/powerpoint/2010/main" val="514457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9C3BF-58B5-415A-8511-FC9684E5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31C56-4C40-4004-8C19-8B12DB84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61C21-DDFF-464E-80AB-4166DAF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Data leakage creates misleading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60B9D-051B-45CE-A040-39869F5D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B762A-90DE-46BC-A0A5-95476D54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801B-2CC3-476B-A48F-BD84E86A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A4F8F-EB30-4F89-B1CB-A40D65D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Training uses information that would be unavailable when making a real prediction.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6D805-51F4-424A-9C4D-47B7D899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Scaling or imputing before the split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feature derived from the target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Duplicate rows crossing train and test 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44C59-4E97-4990-9580-BB275699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Rule: split first, then fit preprocessing on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844296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2DA29-AE1F-43D9-BF40-8F1AF2B6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BC718-4A00-4E97-8279-9AFB34D3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B00F1-C516-4C43-B880-B7FF2302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pipeline keeps preprocessing and training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A7B23-8569-4622-99F4-03F7B4A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B84AE-91D5-4066-87F4-AE53EDD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1DA6D-6F3B-4206-A86E-0F064A2C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368D1-1BEE-4348-9C07-50D83C3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Impute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629F-D13B-4230-96DF-DEB6D39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Encode and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897A1-608D-4AFA-956E-6CA4113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205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2AC5F-A254-498F-BF40-EDEBB58E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2381250"/>
            <a:ext cx="180403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069E7-5EF8-47D3-8524-02A0CF5F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95796-43E1-423C-8CA7-0B56BB7A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5DF06-EDA8-4080-8B39-A4CE1A7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7A328-9020-4829-9FFC-EC69EC2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7622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CFE9E-209D-49E0-9FDC-AC2CFD59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fitted pipeline stores every transformation needed for future rows.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CC403-1265-459A-8454-6665A77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One object can reproduce the same sequence during training and prediction.</a:t>
            </a:r>
          </a:p>
        </p:txBody>
      </p:sp>
    </p:spTree>
    <p:extLst>
      <p:ext uri="{BB962C8B-B14F-4D97-AF65-F5344CB8AC3E}">
        <p14:creationId xmlns:p14="http://schemas.microsoft.com/office/powerpoint/2010/main" val="1534609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7AD66-E6E0-4798-83A9-2AB183C1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AC2A1-22AF-42B4-9D36-251D2C17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61ACE-84D6-42B4-B103-3107089E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preprocessing pipeline beats the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E5643-3619-4D1F-9C2C-9D81703E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C6DB8-56F6-4774-8F16-90B2113A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14400" y="190500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fc058eb91c48c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B724E-D439-4ED8-97E4-F714A811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Both metrics improve on the fixed notebook split.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14FA4-CFD2-4DB5-A7D2-B275AAE9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386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Next question: Which preprocessing or model change improves validation performance without leakage?</a:t>
            </a:r>
          </a:p>
        </p:txBody>
      </p:sp>
    </p:spTree>
    <p:extLst>
      <p:ext uri="{BB962C8B-B14F-4D97-AF65-F5344CB8AC3E}">
        <p14:creationId xmlns:p14="http://schemas.microsoft.com/office/powerpoint/2010/main" val="253799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C827E-0565-411B-84B9-FF854E3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B2BF9-9F94-419E-8EC3-FE518921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3A39A-672B-41E1-89D7-BA04948A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Checkpoint and take-home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7E7A7-6B3A-47CE-B86B-FB74B9B0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DED92-9DD3-4D28-8D7F-70D96CD0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96542-2F77-4E4A-B7FB-3965595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02AA8-D248-473D-9EC4-97BAA8CF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Why should the split happen before scaling?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When is one-hot encoding appropriate?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Name one reasonable numeric imputation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730E1-203A-4521-BCAE-6119EBA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Take-home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928DF-B727-4306-A12D-AA7D8FE4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28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Submit the audit, baseline comparison, pipeline metrics, and one attempted improvement with its result.</a:t>
            </a:r>
          </a:p>
        </p:txBody>
      </p:sp>
    </p:spTree>
    <p:extLst>
      <p:ext uri="{BB962C8B-B14F-4D97-AF65-F5344CB8AC3E}">
        <p14:creationId xmlns:p14="http://schemas.microsoft.com/office/powerpoint/2010/main" val="836839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2026-09-18T12:23:04.9540000Z</dcterms:created>
  <dcterms:modified xsi:type="dcterms:W3CDTF">2026-09-18T12:23:04.9540000Z</dcterms:modified>
</coreProperties>
</file>
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5bb4c227914f71" /><Relationship Type="http://schemas.openxmlformats.org/officeDocument/2006/relationships/extended-properties" Target="/docProps/app.xml" Id="R374a5b0c81a6438e" /><Relationship Type="http://schemas.openxmlformats.org/officeDocument/2006/relationships/officeDocument" Target="/ppt/presentation.xml" Id="Raa1452bb2d934c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ccd3d3272342c3"/>
  </p:sldMasterIdLst>
  <p:notesMasterIdLst>
    <p:notesMasterId xmlns:r="http://schemas.openxmlformats.org/officeDocument/2006/relationships" r:id="R212cdc7897464969"/>
  </p:notesMasterIdLst>
  <p:sldIdLst>
    <p:sldId xmlns:r="http://schemas.openxmlformats.org/officeDocument/2006/relationships" id="256" r:id="R58ae8f862f9a41a1"/>
    <p:sldId xmlns:r="http://schemas.openxmlformats.org/officeDocument/2006/relationships" id="257" r:id="Rcf20f657ef064558"/>
    <p:sldId xmlns:r="http://schemas.openxmlformats.org/officeDocument/2006/relationships" id="258" r:id="Rfa1d319c333a4933"/>
    <p:sldId xmlns:r="http://schemas.openxmlformats.org/officeDocument/2006/relationships" id="259" r:id="R434e5633c8454e26"/>
    <p:sldId xmlns:r="http://schemas.openxmlformats.org/officeDocument/2006/relationships" id="260" r:id="R90b985cbc2f54bb9"/>
    <p:sldId xmlns:r="http://schemas.openxmlformats.org/officeDocument/2006/relationships" id="261" r:id="R5acc612f28df40c9"/>
    <p:sldId xmlns:r="http://schemas.openxmlformats.org/officeDocument/2006/relationships" id="262" r:id="R727daaf7922748a3"/>
    <p:sldId xmlns:r="http://schemas.openxmlformats.org/officeDocument/2006/relationships" id="263" r:id="R41382ca770cf4652"/>
    <p:sldId xmlns:r="http://schemas.openxmlformats.org/officeDocument/2006/relationships" id="264" r:id="R8269de7c97a849eb"/>
    <p:sldId xmlns:r="http://schemas.openxmlformats.org/officeDocument/2006/relationships" id="265" r:id="R7e1a7c3293c346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6696cf506649d3" /><Relationship Type="http://schemas.openxmlformats.org/officeDocument/2006/relationships/slideMaster" Target="/ppt/slideMasters/slideMaster1.xml" Id="Rc0ccd3d3272342c3" /><Relationship Type="http://schemas.openxmlformats.org/officeDocument/2006/relationships/notesMaster" Target="/ppt/notesMasters/notesMaster1.xml" Id="R212cdc7897464969" /><Relationship Type="http://schemas.openxmlformats.org/officeDocument/2006/relationships/presProps" Target="/ppt/presProps.xml" Id="R65b0e96bcdaa455d" /><Relationship Type="http://schemas.openxmlformats.org/officeDocument/2006/relationships/tableStyles" Target="/ppt/tableStyles.xml" Id="Rfde706963c694eb7" /><Relationship Type="http://schemas.openxmlformats.org/officeDocument/2006/relationships/slide" Target="/ppt/slides/slide1.xml" Id="R58ae8f862f9a41a1" /><Relationship Type="http://schemas.openxmlformats.org/officeDocument/2006/relationships/slide" Target="/ppt/slides/slide2.xml" Id="Rcf20f657ef064558" /><Relationship Type="http://schemas.openxmlformats.org/officeDocument/2006/relationships/slide" Target="/ppt/slides/slide3.xml" Id="Rfa1d319c333a4933" /><Relationship Type="http://schemas.openxmlformats.org/officeDocument/2006/relationships/slide" Target="/ppt/slides/slide4.xml" Id="R434e5633c8454e26" /><Relationship Type="http://schemas.openxmlformats.org/officeDocument/2006/relationships/slide" Target="/ppt/slides/slide5.xml" Id="R90b985cbc2f54bb9" /><Relationship Type="http://schemas.openxmlformats.org/officeDocument/2006/relationships/slide" Target="/ppt/slides/slide6.xml" Id="R5acc612f28df40c9" /><Relationship Type="http://schemas.openxmlformats.org/officeDocument/2006/relationships/slide" Target="/ppt/slides/slide7.xml" Id="R727daaf7922748a3" /><Relationship Type="http://schemas.openxmlformats.org/officeDocument/2006/relationships/slide" Target="/ppt/slides/slide8.xml" Id="R41382ca770cf4652" /><Relationship Type="http://schemas.openxmlformats.org/officeDocument/2006/relationships/slide" Target="/ppt/slides/slide9.xml" Id="R8269de7c97a849eb" /><Relationship Type="http://schemas.openxmlformats.org/officeDocument/2006/relationships/slide" Target="/ppt/slides/slide10.xml" Id="R7e1a7c3293c346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02703ee67c4b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399e75b8f74491" /><Relationship Type="http://schemas.openxmlformats.org/officeDocument/2006/relationships/notesMaster" Target="/ppt/notesMasters/notesMaster1.xml" Id="R376a78ba68fc41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e7860e2c734dc1" /><Relationship Type="http://schemas.openxmlformats.org/officeDocument/2006/relationships/notesMaster" Target="/ppt/notesMasters/notesMaster1.xml" Id="R0c6076ba1c324b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6d2bf15b394fc2" /><Relationship Type="http://schemas.openxmlformats.org/officeDocument/2006/relationships/notesMaster" Target="/ppt/notesMasters/notesMaster1.xml" Id="Rd9a1f76b6a2241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698552a1cd4aef" /><Relationship Type="http://schemas.openxmlformats.org/officeDocument/2006/relationships/notesMaster" Target="/ppt/notesMasters/notesMaster1.xml" Id="R59f55b50871940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deed397a2b4ccd" /><Relationship Type="http://schemas.openxmlformats.org/officeDocument/2006/relationships/notesMaster" Target="/ppt/notesMasters/notesMaster1.xml" Id="Rf99bc4a6f4d140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e8bbe40ece407d" /><Relationship Type="http://schemas.openxmlformats.org/officeDocument/2006/relationships/notesMaster" Target="/ppt/notesMasters/notesMaster1.xml" Id="Rc5e74b49067b40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aa256e959f4a09" /><Relationship Type="http://schemas.openxmlformats.org/officeDocument/2006/relationships/notesMaster" Target="/ppt/notesMasters/notesMaster1.xml" Id="R6459ced3df1546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a01e1c09c54dec" /><Relationship Type="http://schemas.openxmlformats.org/officeDocument/2006/relationships/notesMaster" Target="/ppt/notesMasters/notesMaster1.xml" Id="Rcb2ca98517824a9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189813c9518480f" /><Relationship Type="http://schemas.openxmlformats.org/officeDocument/2006/relationships/notesMaster" Target="/ppt/notesMasters/notesMaster1.xml" Id="Re551d1240eb04e7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51e8396ad394b17" /><Relationship Type="http://schemas.openxmlformats.org/officeDocument/2006/relationships/notesMaster" Target="/ppt/notesMasters/notesMaster1.xml" Id="Rbbe1785ecc1c46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106221207e49d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c65a7be90840f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f22352d0a945e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ea2df969ad420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3e29e7b91f4f5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531b1f6c514a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10F30B4-C3B8-423E-83B1-0A7ED449F8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0BFAB23-F1CE-47FA-BCB7-691F4C621C0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4B44724-39B5-4DF7-A4B7-82334EC4DD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321CA24-3131-4AE1-A862-033352DF39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090AB2D-4E1D-43AC-A671-18EAA7EEB6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976F387-3173-4113-8745-3267F5C86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4AAF1F6-C844-4324-B4FF-33AEB61DFB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BDDDD3A-5545-44E5-9F20-7072A1FD104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557FAE-BAE1-4A8D-8D7B-9982EBF709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81EE47B-9B5B-4E4E-A4E6-8779D45B65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97279606944c28" /><Relationship Type="http://schemas.openxmlformats.org/officeDocument/2006/relationships/slideLayout" Target="/ppt/slideLayouts/slideLayout1.xml" Id="R8fe7ac55bc514788" /><Relationship Type="http://schemas.openxmlformats.org/officeDocument/2006/relationships/slideLayout" Target="/ppt/slideLayouts/slideLayout2.xml" Id="Rf08caa0348d14316" /><Relationship Type="http://schemas.openxmlformats.org/officeDocument/2006/relationships/slideLayout" Target="/ppt/slideLayouts/slideLayout3.xml" Id="Rf620be7d686c4828" /><Relationship Type="http://schemas.openxmlformats.org/officeDocument/2006/relationships/slideLayout" Target="/ppt/slideLayouts/slideLayout4.xml" Id="Ra17dc04530ee4fb7" /><Relationship Type="http://schemas.openxmlformats.org/officeDocument/2006/relationships/slideLayout" Target="/ppt/slideLayouts/slideLayout5.xml" Id="R46a45c574f0d4e31" /><Relationship Type="http://schemas.openxmlformats.org/officeDocument/2006/relationships/slideLayout" Target="/ppt/slideLayouts/slideLayout6.xml" Id="R9b50805dd6e843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e7ac55bc514788"/>
    <p:sldLayoutId xmlns:r="http://schemas.openxmlformats.org/officeDocument/2006/relationships" id="2147483650" r:id="Rf08caa0348d14316"/>
    <p:sldLayoutId xmlns:r="http://schemas.openxmlformats.org/officeDocument/2006/relationships" id="2147483651" r:id="Rf620be7d686c4828"/>
    <p:sldLayoutId xmlns:r="http://schemas.openxmlformats.org/officeDocument/2006/relationships" id="2147483652" r:id="Ra17dc04530ee4fb7"/>
    <p:sldLayoutId xmlns:r="http://schemas.openxmlformats.org/officeDocument/2006/relationships" id="2147483653" r:id="R46a45c574f0d4e31"/>
    <p:sldLayoutId xmlns:r="http://schemas.openxmlformats.org/officeDocument/2006/relationships" id="2147483654" r:id="R9b50805dd6e843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e4b74d9356465a" /><Relationship Type="http://schemas.openxmlformats.org/officeDocument/2006/relationships/image" Target="/ppt/media/image.png" Id="Rcd99b193fce54242" /><Relationship Type="http://schemas.openxmlformats.org/officeDocument/2006/relationships/image" Target="/ppt/media/image.svg" Id="R36adf66bc2a44d22" /><Relationship Type="http://schemas.openxmlformats.org/officeDocument/2006/relationships/notesSlide" Target="/ppt/notesSlides/notesSlide1.xml" Id="R836553231bfb4c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5a1f51717d478b" /><Relationship Type="http://schemas.openxmlformats.org/officeDocument/2006/relationships/notesSlide" Target="/ppt/notesSlides/notesSlide2.xml" Id="Rea9edcf5c2af4c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3b925647374afd" /><Relationship Type="http://schemas.openxmlformats.org/officeDocument/2006/relationships/notesSlide" Target="/ppt/notesSlides/notesSlide3.xml" Id="R51550844b43d4a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991a2eeea2474c" /><Relationship Type="http://schemas.openxmlformats.org/officeDocument/2006/relationships/notesSlide" Target="/ppt/notesSlides/notesSlide4.xml" Id="Rd1888e60f94140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ea498560b84904" /><Relationship Type="http://schemas.openxmlformats.org/officeDocument/2006/relationships/notesSlide" Target="/ppt/notesSlides/notesSlide5.xml" Id="R1f80372a6d3244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c0dca201034334" /><Relationship Type="http://schemas.openxmlformats.org/officeDocument/2006/relationships/notesSlide" Target="/ppt/notesSlides/notesSlide6.xml" Id="Rfeea8cb5ecc74a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737ede55b14609" /><Relationship Type="http://schemas.openxmlformats.org/officeDocument/2006/relationships/notesSlide" Target="/ppt/notesSlides/notesSlide7.xml" Id="R2933a25117284a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a247d817a04d59" /><Relationship Type="http://schemas.openxmlformats.org/officeDocument/2006/relationships/notesSlide" Target="/ppt/notesSlides/notesSlide8.xml" Id="Rf05d631a34a842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988716e56145a0" /><Relationship Type="http://schemas.openxmlformats.org/officeDocument/2006/relationships/notesSlide" Target="/ppt/notesSlides/notesSlide9.xml" Id="R3f2e1c0d2fb24bb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0b10d600164664" /><Relationship Type="http://schemas.openxmlformats.org/officeDocument/2006/relationships/notesSlide" Target="/ppt/notesSlides/notesSlide10.xml" Id="R2a617347ac6b4e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A4196A-B0DE-40BD-A0A4-66528B37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98936-DFF7-4A9E-839B-1CAD9F51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668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650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650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650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650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650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650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650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650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650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rPr>
              <a:t>WEEK 6.5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72C8D9-D75A-4A7A-9825-7439E394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8382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Neural Networks</a:t>
            </a:r>
          </a:p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and Model Choice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1A0B99-7F67-424E-84EF-5DACA3FF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rPr>
              <a:t>A guided review before the three-dataset Kaggle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93E7CC-F988-4377-B973-A64CA5E1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8D5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B233AA-DE5A-4F70-B507-976DF2FB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609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00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00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00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00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00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00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00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00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00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rPr>
              <a:t>Target question  •  Task type  •  Useful features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2F4046-316C-4085-8852-8DDD8F3EEA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99b193fce54242">
            <a:extLst>
              <a:ext uri="{96DAC541-7B7A-43D3-8B79-37D633B846F1}">
                <asvg:svgBlip xmlns:asvg="http://schemas.microsoft.com/office/drawing/2016/SVG/main" r:embed="R36adf66bc2a44d2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25000" y="5257800"/>
            <a:ext cx="1809750" cy="781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0840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21E05A-757C-441D-918E-00DCCFC6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852E88-DD13-4BDE-B2CE-00FC149D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6.5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D084F0-5A72-4DF9-B1C6-D6603D98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2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One workflow, three datasets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BA547B-78F9-4E06-8900-F7C3DE83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2A2258-EC0B-4D4D-A629-5D832242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DB8304-FFE8-4E57-A44E-2B30AF5D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AD4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C91905-558A-4372-B1A0-3F77A017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0025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D5D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B8346B-7E87-46DE-9700-A57280D3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Print the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1CC657-9EC9-4DE5-AAD5-469246ED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876550"/>
            <a:ext cx="361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AA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F8B897-666D-49D8-95B3-E4F41EC6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324100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AD4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E4078B-921B-4AA6-8ED6-87448FD7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00025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D5D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3EBB5A-74C5-4925-A075-4FC68E67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81940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Name the target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671642-3920-4165-83C5-9DA3B788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76550"/>
            <a:ext cx="361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AA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EE2907-06B7-4E89-9070-B9F525B9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324100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AD4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C08FC4-0BB7-46D8-B899-DFB8CA00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00025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D5D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BEAF81-C1DF-4585-8500-E62EA60F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1940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Choose the task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86E0A2-0E9D-4276-B3AE-A94F6033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876550"/>
            <a:ext cx="361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AA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53E39F-13B0-4E42-888E-EAC0E771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324100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AD4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5633A9-5DF5-4E86-BD54-F1AE7BFD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00025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D5D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A3F874-EDCF-4879-8689-CD5E06FC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81940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Choose features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667FC4-2960-4B19-946B-CF7FA17D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76550"/>
            <a:ext cx="361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AA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C0215E-4520-4B96-9B2F-BBCF66ED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24100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32A3A"/>
          </a:solidFill>
          <a:ln xmlns:a="http://schemas.openxmlformats.org/drawingml/2006/main" w="14288">
            <a:solidFill>
              <a:srgbClr val="132A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9F8858-42C1-4874-ACE7-A37DA908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0025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14CF10-EDD8-4C9E-8C02-28879589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1940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Train and check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1D1723-9806-4DFC-A9B2-FE798D5A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67250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21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21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21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21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21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21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21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21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21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The notebook supplies the setup code. Your job is to make the modeling choices.</a:t>
            </a:r>
          </a:p>
        </p:txBody>
      </p:sp>
    </p:spTree>
    <p:extLst>
      <p:ext uri="{BB962C8B-B14F-4D97-AF65-F5344CB8AC3E}">
        <p14:creationId xmlns:p14="http://schemas.microsoft.com/office/powerpoint/2010/main" val="20421689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50DE30-F214-4785-B4E7-E3C429D7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9ACB8E-8210-4AFD-9793-106CC922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6.5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D9C76-31AC-4F22-B1AE-BFD649AE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2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Neural network recap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66EB4D-8A51-4422-956C-06D50351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A79D80-7F98-4FAC-A09C-C5DDA430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EE70AD-E3F5-46E0-A992-2571B3C8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Features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177F7C-71E5-412C-A1AA-48B46708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2095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AD4DE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5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5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5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5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5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5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5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5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5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income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EA7B79-A385-48B2-B1C2-F46B9916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2095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AD4DE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5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5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5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5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5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5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5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5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5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distance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B6BABC-028D-434E-B591-520DFB38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71900"/>
            <a:ext cx="2095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AD4DE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5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5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5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5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5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5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5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5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5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plan type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AA67D6-94A0-4FAB-8F28-5B3942D8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9600"/>
            <a:ext cx="2095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AD4DE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5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5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5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5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5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5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5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5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5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support calls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E02BEC-0DAD-4DA5-9154-6DE7A3F5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81375"/>
            <a:ext cx="85725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3E4906-B6CC-4F7A-8E6C-40F42183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43125"/>
            <a:ext cx="31432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32A3A"/>
          </a:solidFill>
          <a:ln xmlns:a="http://schemas.openxmlformats.org/drawingml/2006/main" w="14288">
            <a:solidFill>
              <a:srgbClr val="132A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9AB22D-5FDB-4BDD-BA6F-12A58FD6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4765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Hidden layer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EF9903-E282-4A49-9F10-E777C64C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2861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D5D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7A30FF-2738-49A3-A398-0DBE7200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95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D5D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500452-A476-4E14-9585-5D50A334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2861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D5D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AB7E61-DC35-41A0-BDEC-8C06EC0A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95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D5D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D9A039-F2FC-42E3-98DC-9C132083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2861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D5D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DA646A-B77C-4A6C-9DB9-6C34DC2D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095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D5D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0588CF-5419-47C2-BD99-DD5AB342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591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275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275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275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275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275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275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275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275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275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rPr>
              <a:t>Learns combinations of the inputs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6BC710-5978-485E-A934-09F75754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81375"/>
            <a:ext cx="85725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845D69-4FFD-49C9-943B-DC5AE7E0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86050"/>
            <a:ext cx="2095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7F6F6"/>
          </a:solidFill>
          <a:ln xmlns:a="http://schemas.openxmlformats.org/drawingml/2006/main" w="14288">
            <a:solidFill>
              <a:srgbClr val="147D8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DCD777-E3C9-4E85-8432-2DF07CA7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146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ctr">
              <a:defRPr sz="19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9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9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9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9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9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9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9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9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9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Output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690E08-2251-448F-8518-8D5AFE4D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86150"/>
            <a:ext cx="140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725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725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725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725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725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725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725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725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725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a number</a:t>
            </a:r>
          </a:p>
          <a:p xmlns:a="http://schemas.openxmlformats.org/drawingml/2006/main">
            <a:pPr algn="ctr">
              <a:defRPr sz="1725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or a class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93C218-2DC6-4A34-8F07-8CFBD606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5721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The prediction question determines what the output should mean.</a:t>
            </a:r>
          </a:p>
        </p:txBody>
      </p:sp>
    </p:spTree>
    <p:extLst>
      <p:ext uri="{BB962C8B-B14F-4D97-AF65-F5344CB8AC3E}">
        <p14:creationId xmlns:p14="http://schemas.microsoft.com/office/powerpoint/2010/main" val="19769619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E21469-DE37-46AC-A1CA-A90CB54A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31C996-48BE-46CE-97DE-F09E05DC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6.5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057D96-A745-4C86-93B8-11AC264A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2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The target determines the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8D2FF-D763-4B9C-B0B0-20E78AC0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33CA0B-A9F4-464F-9960-822891F4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717CB1-E975-48D8-90EF-6EAC2F336A3A}"/>
              </a:ext>
            </a:extLst>
          </p:cNvPr>
          <p:cNvGraphicFramePr/>
          <p:nvPr/>
        </p:nvGraphicFramePr>
        <p:xfrm>
          <a:off xmlns:a="http://schemas.openxmlformats.org/drawingml/2006/main" x="933450" y="1952625"/>
          <a:ext xmlns:a="http://schemas.openxmlformats.org/drawingml/2006/main" cx="10287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3714750"/>
                <a:gridCol w="3905250"/>
              </a:tblGrid>
              <a:tr h="785813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Look at the target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AD4DE"/>
                      </a:solidFill>
                      <a:prstDash val="solid"/>
                    </a:lnL>
                    <a:lnR w="9525">
                      <a:solidFill>
                        <a:srgbClr val="CAD4DE"/>
                      </a:solidFill>
                      <a:prstDash val="solid"/>
                    </a:lnR>
                    <a:lnT w="9525">
                      <a:solidFill>
                        <a:srgbClr val="CAD4DE"/>
                      </a:solidFill>
                      <a:prstDash val="solid"/>
                    </a:lnT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Regression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AD4DE"/>
                      </a:solidFill>
                      <a:prstDash val="solid"/>
                    </a:lnR>
                    <a:lnT w="9525">
                      <a:solidFill>
                        <a:srgbClr val="CAD4DE"/>
                      </a:solidFill>
                      <a:prstDash val="solid"/>
                    </a:lnT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Classification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AD4DE"/>
                      </a:solidFill>
                      <a:prstDash val="solid"/>
                    </a:lnR>
                    <a:lnT w="9525">
                      <a:solidFill>
                        <a:srgbClr val="CAD4DE"/>
                      </a:solidFill>
                      <a:prstDash val="solid"/>
                    </a:lnT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132A3A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it contains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AD4DE"/>
                      </a:solidFill>
                      <a:prstDash val="solid"/>
                    </a:lnL>
                    <a:lnR w="9525">
                      <a:solidFill>
                        <a:srgbClr val="CAD4DE"/>
                      </a:solidFill>
                      <a:prstDash val="solid"/>
                    </a:lnR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 measured number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AD4DE"/>
                      </a:solidFill>
                      <a:prstDash val="solid"/>
                    </a:lnR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 named group or class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AD4DE"/>
                      </a:solidFill>
                      <a:prstDash val="solid"/>
                    </a:lnR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Example target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AD4DE"/>
                      </a:solidFill>
                      <a:prstDash val="solid"/>
                    </a:lnL>
                    <a:lnR w="9525">
                      <a:solidFill>
                        <a:srgbClr val="CAD4DE"/>
                      </a:solidFill>
                      <a:prstDash val="solid"/>
                    </a:lnR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$1,850 monthly rent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AD4DE"/>
                      </a:solidFill>
                      <a:prstDash val="solid"/>
                    </a:lnR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Renewed: Yes or No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AD4DE"/>
                      </a:solidFill>
                      <a:prstDash val="solid"/>
                    </a:lnR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Useful metric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AD4DE"/>
                      </a:solidFill>
                      <a:prstDash val="solid"/>
                    </a:lnL>
                    <a:lnR w="9525">
                      <a:solidFill>
                        <a:srgbClr val="CAD4DE"/>
                      </a:solidFill>
                      <a:prstDash val="solid"/>
                    </a:lnR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MAE or R²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AD4DE"/>
                      </a:solidFill>
                      <a:prstDash val="solid"/>
                    </a:lnR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Accuracy or balanced accuracy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AD4DE"/>
                      </a:solidFill>
                      <a:prstDash val="solid"/>
                    </a:lnR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5BFB26-ECD6-4D1F-8D77-4FC75403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4292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21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21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21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21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21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21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21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21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21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Ask one question first: What exactly are we trying to predict?</a:t>
            </a:r>
          </a:p>
        </p:txBody>
      </p:sp>
    </p:spTree>
    <p:extLst>
      <p:ext uri="{BB962C8B-B14F-4D97-AF65-F5344CB8AC3E}">
        <p14:creationId xmlns:p14="http://schemas.microsoft.com/office/powerpoint/2010/main" val="13245272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3A0FF8-E60F-4DA5-ACED-EAD647A1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3A4FF8-63B1-41BE-9792-FC3E6CAF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6.5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0A9662-E2B8-4C11-8324-1D2F8AD2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2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Regression predicts an amount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46AFC-A058-4C92-B52C-630A2435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B07DE7-1354-4498-A44B-6296F36E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9FF959-0971-43D6-8B27-A6957353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6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6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6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6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6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6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6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6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6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Example 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C1C062-854A-4D9E-9873-460F7BA9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667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What will this apartment rent for each month?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009C7B-AF85-43D5-B84C-B44A12ED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6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6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6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6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6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6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6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6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6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Possible targets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672C54-E9D8-4F1A-872E-91FFB297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$1,420    $1,850    $2,375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7837E9-A6B0-4F71-8798-4C43E67E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1945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2A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7ED8CC-E098-4359-B412-A1085381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14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2A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0C0AFC-B855-455E-8126-A31F78E9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0463" y="3114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2A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849F4B-9AAE-47A2-A29A-FEC707F6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114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2A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1EDA90-A8C4-4AA3-AB1F-F111DC14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3588" y="3114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2A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3D89A6-43D7-463F-B970-79C37F3B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114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2A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EC0387-763B-45DF-9179-B9FB7673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2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2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2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2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2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2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2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2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2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$1k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298378-8C03-4C44-8B43-190DEE74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4766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2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2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2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2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2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2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2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2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2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$3k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19F050-F595-4740-9ED1-077AB1F1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289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0E1070-0909-4F04-849A-F3497F5A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The output can fall anywhere along a numeric scale.</a:t>
            </a:r>
          </a:p>
        </p:txBody>
      </p:sp>
    </p:spTree>
    <p:extLst>
      <p:ext uri="{BB962C8B-B14F-4D97-AF65-F5344CB8AC3E}">
        <p14:creationId xmlns:p14="http://schemas.microsoft.com/office/powerpoint/2010/main" val="17523273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A5676C-B40C-434C-91E0-8219ACED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9D36ED-3E87-44DE-B7E3-4FB6D099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6.5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0B1094-1B83-4E28-B399-B1B3D7B5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2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Classification predicts a category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26AED3-909C-4F02-88DB-CE66798A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C62A4-F8F0-4AA0-B38D-3717E97D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03A52-0DB2-4A3F-BEDB-32318326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6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6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6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6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6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6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6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6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6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Example 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F6C14D-C5B9-4398-9A02-F6492BFA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Will this customer renew their subscription?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8B49AF-8454-438F-9AF9-9B5B3907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43125"/>
            <a:ext cx="2095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BEDEC"/>
          </a:solidFill>
          <a:ln xmlns:a="http://schemas.openxmlformats.org/drawingml/2006/main" w="14288">
            <a:solidFill>
              <a:srgbClr val="D864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8E070F-91DC-417E-821C-FB4AA9DA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14600"/>
            <a:ext cx="1028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ctr">
              <a:defRPr sz="2550" b="1">
                <a:solidFill>
                  <a:srgbClr val="D8645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2550" b="1">
                <a:solidFill>
                  <a:srgbClr val="D8645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2550" b="1">
                <a:solidFill>
                  <a:srgbClr val="D8645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2550" b="1">
                <a:solidFill>
                  <a:srgbClr val="D8645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2550" b="1">
                <a:solidFill>
                  <a:srgbClr val="D8645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2550" b="1">
                <a:solidFill>
                  <a:srgbClr val="D8645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2550" b="1">
                <a:solidFill>
                  <a:srgbClr val="D8645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2550" b="1">
                <a:solidFill>
                  <a:srgbClr val="D8645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2550" b="1">
                <a:solidFill>
                  <a:srgbClr val="D8645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2550" b="1">
                <a:solidFill>
                  <a:srgbClr val="D8645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D86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8645A"/>
                </a:solidFill>
                <a:latin typeface="Helvetica Neue"/>
                <a:ea typeface="Helvetica Neue"/>
                <a:cs typeface="Helvetica Neue"/>
              </a:rPr>
              <a:t>NO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475DC9-496A-4652-816B-3FCD3083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337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5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5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5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5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5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5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5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5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5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0.22 probability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F054D3-30CB-43FD-A984-D64C2FC6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2095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6F6"/>
          </a:solidFill>
          <a:ln xmlns:a="http://schemas.openxmlformats.org/drawingml/2006/main" w="14288">
            <a:solidFill>
              <a:srgbClr val="147D8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FA674C-C3FB-4576-B3C7-0CE4CF08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14600"/>
            <a:ext cx="1028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ctr">
              <a:defRPr sz="25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25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25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25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25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25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25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25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25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25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YES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8E7E24-E112-42CB-A94A-834D2BF4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3337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5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5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5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5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5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5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5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5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5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0.78 probability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381521-CC3C-4FED-BA85-6AE8EED0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95875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The model can produce probabilities, but the target contains named outcomes.</a:t>
            </a:r>
          </a:p>
        </p:txBody>
      </p:sp>
    </p:spTree>
    <p:extLst>
      <p:ext uri="{BB962C8B-B14F-4D97-AF65-F5344CB8AC3E}">
        <p14:creationId xmlns:p14="http://schemas.microsoft.com/office/powerpoint/2010/main" val="6359823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0698F3-F9B7-422D-99B8-494B5836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23E01B-7718-486B-B011-9C18903B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6.5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665870-C299-44AB-9193-0AB72B85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2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Useful features are available before prediction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837130-8791-4D5B-9B30-1D79EE69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7EB7E6-5DF5-4213-B74F-BABF514F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156666-E100-4072-A7D3-9E8261C6C4CB}"/>
              </a:ext>
            </a:extLst>
          </p:cNvPr>
          <p:cNvGraphicFramePr/>
          <p:nvPr/>
        </p:nvGraphicFramePr>
        <p:xfrm>
          <a:off xmlns:a="http://schemas.openxmlformats.org/drawingml/2006/main" x="704850" y="1924050"/>
          <a:ext xmlns:a="http://schemas.openxmlformats.org/drawingml/2006/main" cx="10810875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2333625"/>
                <a:gridCol w="2333625"/>
                <a:gridCol w="3571875"/>
              </a:tblGrid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Column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AD4DE"/>
                      </a:solidFill>
                      <a:prstDash val="solid"/>
                    </a:lnL>
                    <a:lnR w="9525">
                      <a:solidFill>
                        <a:srgbClr val="CAD4DE"/>
                      </a:solidFill>
                      <a:prstDash val="solid"/>
                    </a:lnR>
                    <a:lnT w="9525">
                      <a:solidFill>
                        <a:srgbClr val="CAD4DE"/>
                      </a:solidFill>
                      <a:prstDash val="solid"/>
                    </a:lnT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 it?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AD4DE"/>
                      </a:solidFill>
                      <a:prstDash val="solid"/>
                    </a:lnR>
                    <a:lnT w="9525">
                      <a:solidFill>
                        <a:srgbClr val="CAD4DE"/>
                      </a:solidFill>
                      <a:prstDash val="solid"/>
                    </a:lnT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Reason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AD4DE"/>
                      </a:solidFill>
                      <a:prstDash val="solid"/>
                    </a:lnR>
                    <a:lnT w="9525">
                      <a:solidFill>
                        <a:srgbClr val="CAD4DE"/>
                      </a:solidFill>
                      <a:prstDash val="solid"/>
                    </a:lnT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Example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AD4DE"/>
                      </a:solidFill>
                      <a:prstDash val="solid"/>
                    </a:lnR>
                    <a:lnT w="9525">
                      <a:solidFill>
                        <a:srgbClr val="CAD4DE"/>
                      </a:solidFill>
                      <a:prstDash val="solid"/>
                    </a:lnT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132A3A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Measured input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AD4DE"/>
                      </a:solidFill>
                      <a:prstDash val="solid"/>
                    </a:lnL>
                    <a:lnR w="9525">
                      <a:solidFill>
                        <a:srgbClr val="CAD4DE"/>
                      </a:solidFill>
                      <a:prstDash val="solid"/>
                    </a:lnR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Usually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AD4DE"/>
                      </a:solidFill>
                      <a:prstDash val="solid"/>
                    </a:lnR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Could explain the target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AD4DE"/>
                      </a:solidFill>
                      <a:prstDash val="solid"/>
                    </a:lnR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square_feet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AD4DE"/>
                      </a:solidFill>
                      <a:prstDash val="solid"/>
                    </a:lnR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Category known now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AD4DE"/>
                      </a:solidFill>
                      <a:prstDash val="solid"/>
                    </a:lnL>
                    <a:lnR w="9525">
                      <a:solidFill>
                        <a:srgbClr val="CAD4DE"/>
                      </a:solidFill>
                      <a:prstDash val="solid"/>
                    </a:lnR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Usually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AD4DE"/>
                      </a:solidFill>
                      <a:prstDash val="solid"/>
                    </a:lnR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 be encoded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AD4DE"/>
                      </a:solidFill>
                      <a:prstDash val="solid"/>
                    </a:lnR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plan_type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AD4DE"/>
                      </a:solidFill>
                      <a:prstDash val="solid"/>
                    </a:lnR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Identifier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AD4DE"/>
                      </a:solidFill>
                      <a:prstDash val="solid"/>
                    </a:lnL>
                    <a:lnR w="9525">
                      <a:solidFill>
                        <a:srgbClr val="CAD4DE"/>
                      </a:solidFill>
                      <a:prstDash val="solid"/>
                    </a:lnR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Usually no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AD4DE"/>
                      </a:solidFill>
                      <a:prstDash val="solid"/>
                    </a:lnR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FFF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Names a row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AD4DE"/>
                      </a:solidFill>
                      <a:prstDash val="solid"/>
                    </a:lnR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customer_id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AD4DE"/>
                      </a:solidFill>
                      <a:prstDash val="solid"/>
                    </a:lnR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Target column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AD4DE"/>
                      </a:solidFill>
                      <a:prstDash val="solid"/>
                    </a:lnL>
                    <a:lnR w="9525">
                      <a:solidFill>
                        <a:srgbClr val="CAD4DE"/>
                      </a:solidFill>
                      <a:prstDash val="solid"/>
                    </a:lnR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AD4DE"/>
                      </a:solidFill>
                      <a:prstDash val="solid"/>
                    </a:lnR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FBED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Contains the answer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AD4DE"/>
                      </a:solidFill>
                      <a:prstDash val="solid"/>
                    </a:lnR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Churn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AD4DE"/>
                      </a:solidFill>
                      <a:prstDash val="solid"/>
                    </a:lnR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66AAD1-A4EA-408B-B8CE-811DF7D7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0545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21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21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21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21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21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21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21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21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21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A feature should help predict the target without already revealing it.</a:t>
            </a:r>
          </a:p>
        </p:txBody>
      </p:sp>
    </p:spTree>
    <p:extLst>
      <p:ext uri="{BB962C8B-B14F-4D97-AF65-F5344CB8AC3E}">
        <p14:creationId xmlns:p14="http://schemas.microsoft.com/office/powerpoint/2010/main" val="18704435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28D0A2-81FD-4FC7-AB20-1EAD2BAD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7A33BD-7D41-4BAC-8889-CCC6F11C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6.5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9855DB-44C1-4C03-8531-9973AE56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2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A guided model choice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608B12-9E35-4B54-AC4A-1AD4B0D0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680B8C-A31F-47E6-9CB2-C7CA72A0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68DAAA-A594-4AF3-991B-2E5C09B7B317}"/>
              </a:ext>
            </a:extLst>
          </p:cNvPr>
          <p:cNvGraphicFramePr/>
          <p:nvPr/>
        </p:nvGraphicFramePr>
        <p:xfrm>
          <a:off xmlns:a="http://schemas.openxmlformats.org/drawingml/2006/main" x="666750" y="1847850"/>
          <a:ext xmlns:a="http://schemas.openxmlformats.org/drawingml/2006/main" cx="10858500" cy="2343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000250"/>
                <a:gridCol w="2000250"/>
                <a:gridCol w="2381250"/>
                <a:gridCol w="2381250"/>
              </a:tblGrid>
              <a:tr h="46863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Posted 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AD4DE"/>
                      </a:solidFill>
                      <a:prstDash val="solid"/>
                    </a:lnL>
                    <a:lnR w="9525">
                      <a:solidFill>
                        <a:srgbClr val="CAD4DE"/>
                      </a:solidFill>
                      <a:prstDash val="solid"/>
                    </a:lnR>
                    <a:lnT w="9525">
                      <a:solidFill>
                        <a:srgbClr val="CAD4DE"/>
                      </a:solidFill>
                      <a:prstDash val="solid"/>
                    </a:lnT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8A9A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BHK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AD4DE"/>
                      </a:solidFill>
                      <a:prstDash val="solid"/>
                    </a:lnR>
                    <a:lnT w="9525">
                      <a:solidFill>
                        <a:srgbClr val="CAD4DE"/>
                      </a:solidFill>
                      <a:prstDash val="solid"/>
                    </a:lnT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Size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AD4DE"/>
                      </a:solidFill>
                      <a:prstDash val="solid"/>
                    </a:lnR>
                    <a:lnT w="9525">
                      <a:solidFill>
                        <a:srgbClr val="CAD4DE"/>
                      </a:solidFill>
                      <a:prstDash val="solid"/>
                    </a:lnT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City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AD4DE"/>
                      </a:solidFill>
                      <a:prstDash val="solid"/>
                    </a:lnR>
                    <a:lnT w="9525">
                      <a:solidFill>
                        <a:srgbClr val="CAD4DE"/>
                      </a:solidFill>
                      <a:prstDash val="solid"/>
                    </a:lnT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Rent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AD4DE"/>
                      </a:solidFill>
                      <a:prstDash val="solid"/>
                    </a:lnR>
                    <a:lnT w="9525">
                      <a:solidFill>
                        <a:srgbClr val="CAD4DE"/>
                      </a:solidFill>
                      <a:prstDash val="solid"/>
                    </a:lnT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147D88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2022-05-18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AD4DE"/>
                      </a:solidFill>
                      <a:prstDash val="solid"/>
                    </a:lnL>
                    <a:lnR w="9525">
                      <a:solidFill>
                        <a:srgbClr val="CAD4DE"/>
                      </a:solidFill>
                      <a:prstDash val="solid"/>
                    </a:lnR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AD4DE"/>
                      </a:solidFill>
                      <a:prstDash val="solid"/>
                    </a:lnR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1,100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AD4DE"/>
                      </a:solidFill>
                      <a:prstDash val="solid"/>
                    </a:lnR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Kolkata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AD4DE"/>
                      </a:solidFill>
                      <a:prstDash val="solid"/>
                    </a:lnR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₹10,000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AD4DE"/>
                      </a:solidFill>
                      <a:prstDash val="solid"/>
                    </a:lnR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2022-05-13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AD4DE"/>
                      </a:solidFill>
                      <a:prstDash val="solid"/>
                    </a:lnL>
                    <a:lnR w="9525">
                      <a:solidFill>
                        <a:srgbClr val="CAD4DE"/>
                      </a:solidFill>
                      <a:prstDash val="solid"/>
                    </a:lnR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AD4DE"/>
                      </a:solidFill>
                      <a:prstDash val="solid"/>
                    </a:lnR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AD4DE"/>
                      </a:solidFill>
                      <a:prstDash val="solid"/>
                    </a:lnR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Kolkata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AD4DE"/>
                      </a:solidFill>
                      <a:prstDash val="solid"/>
                    </a:lnR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₹20,000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AD4DE"/>
                      </a:solidFill>
                      <a:prstDash val="solid"/>
                    </a:lnR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2022-05-16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AD4DE"/>
                      </a:solidFill>
                      <a:prstDash val="solid"/>
                    </a:lnL>
                    <a:lnR w="9525">
                      <a:solidFill>
                        <a:srgbClr val="CAD4DE"/>
                      </a:solidFill>
                      <a:prstDash val="solid"/>
                    </a:lnR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AD4DE"/>
                      </a:solidFill>
                      <a:prstDash val="solid"/>
                    </a:lnR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1,000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AD4DE"/>
                      </a:solidFill>
                      <a:prstDash val="solid"/>
                    </a:lnR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Kolkata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AD4DE"/>
                      </a:solidFill>
                      <a:prstDash val="solid"/>
                    </a:lnR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₹17,000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AD4DE"/>
                      </a:solidFill>
                      <a:prstDash val="solid"/>
                    </a:lnR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2022-07-04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AD4DE"/>
                      </a:solidFill>
                      <a:prstDash val="solid"/>
                    </a:lnL>
                    <a:lnR w="9525">
                      <a:solidFill>
                        <a:srgbClr val="CAD4DE"/>
                      </a:solidFill>
                      <a:prstDash val="solid"/>
                    </a:lnR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AD4DE"/>
                      </a:solidFill>
                      <a:prstDash val="solid"/>
                    </a:lnR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AD4DE"/>
                      </a:solidFill>
                      <a:prstDash val="solid"/>
                    </a:lnR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Mumbai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AD4DE"/>
                      </a:solidFill>
                      <a:prstDash val="solid"/>
                    </a:lnR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₹45,000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AD4DE"/>
                      </a:solidFill>
                      <a:prstDash val="solid"/>
                    </a:lnR>
                    <a:lnB w="9525">
                      <a:solidFill>
                        <a:srgbClr val="CAD4DE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509F08-03EF-4308-B590-3B8EFE58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33387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5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5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5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5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5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5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5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5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5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Target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B9BD5B-3C2D-4E9B-95F9-EC405086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724400"/>
            <a:ext cx="22479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7F6F6"/>
          </a:solidFill>
          <a:ln xmlns:a="http://schemas.openxmlformats.org/drawingml/2006/main" w="9525">
            <a:solidFill>
              <a:srgbClr val="147D88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6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6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6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6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6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6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6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6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6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Rent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7FB24E-95EC-40FB-B3F6-F26C2055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33387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5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5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5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5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5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5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5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5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5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Task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849DC0-F4E7-493B-A0AC-4FC1BA86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724400"/>
            <a:ext cx="22479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7F6F6"/>
          </a:solidFill>
          <a:ln xmlns:a="http://schemas.openxmlformats.org/drawingml/2006/main" w="9525">
            <a:solidFill>
              <a:srgbClr val="147D88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6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6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6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6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6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6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6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6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6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regression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751371-2620-4D3B-B193-7F5156AA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3387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D8645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500" b="1">
                <a:solidFill>
                  <a:srgbClr val="D8645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500" b="1">
                <a:solidFill>
                  <a:srgbClr val="D8645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500" b="1">
                <a:solidFill>
                  <a:srgbClr val="D8645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500" b="1">
                <a:solidFill>
                  <a:srgbClr val="D8645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500" b="1">
                <a:solidFill>
                  <a:srgbClr val="D8645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500" b="1">
                <a:solidFill>
                  <a:srgbClr val="D8645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500" b="1">
                <a:solidFill>
                  <a:srgbClr val="D8645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500" b="1">
                <a:solidFill>
                  <a:srgbClr val="D8645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500" b="1">
                <a:solidFill>
                  <a:srgbClr val="D8645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D86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D8645A"/>
                </a:solidFill>
                <a:latin typeface="Helvetica Neue"/>
                <a:ea typeface="Helvetica Neue"/>
                <a:cs typeface="Helvetica Neue"/>
              </a:rPr>
              <a:t>Drop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8AF008-8CA4-48A9-9996-40ACD54D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24400"/>
            <a:ext cx="22479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BEDEC"/>
          </a:solidFill>
          <a:ln xmlns:a="http://schemas.openxmlformats.org/drawingml/2006/main" w="9525">
            <a:solidFill>
              <a:srgbClr val="D8645A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6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6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6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6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6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6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6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6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6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Posted 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3FF5AA-9E9E-464C-90EC-1728BCA2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197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Rent is numeric, so the neural network needs a regression output.</a:t>
            </a:r>
          </a:p>
        </p:txBody>
      </p:sp>
    </p:spTree>
    <p:extLst>
      <p:ext uri="{BB962C8B-B14F-4D97-AF65-F5344CB8AC3E}">
        <p14:creationId xmlns:p14="http://schemas.microsoft.com/office/powerpoint/2010/main" val="20927115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FB9A21-A86E-421E-AEF4-8CBA0DD4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6F78FE-D499-481A-9370-0AEF0BF2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6.5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6E442B-E39C-4C58-9FE5-E75F9B04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2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The three-dataset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D55790-09F0-4CF5-9890-08A89F7E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11090D-67EF-4FEC-B32E-6984F15A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E00E66-939D-4174-9F02-2B90F1BA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1432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7F6F6"/>
          </a:solidFill>
          <a:ln xmlns:a="http://schemas.openxmlformats.org/drawingml/2006/main" w="19050">
            <a:solidFill>
              <a:srgbClr val="147D8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68E843-398D-4B24-9834-62ADEE55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A3CF3E-E4AF-4C78-95CF-C8058A36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05150"/>
            <a:ext cx="2647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House rent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1AE7EB-B324-4E6C-B415-0726BCA7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10000"/>
            <a:ext cx="245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6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6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6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6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6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6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6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6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6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Predict a monthly amount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20D78C-5BA6-42F2-94AB-352B37C4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095500"/>
            <a:ext cx="31432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19050">
            <a:solidFill>
              <a:srgbClr val="C68A1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36ACCD-8C41-4B4E-8FE2-46FCDB0D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3241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8A1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483723-89DF-4B8F-82BD-7015BA35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105150"/>
            <a:ext cx="2647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Customer churn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BF8F42-5159-47D0-94F3-926E1A2B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10000"/>
            <a:ext cx="245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6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6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6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6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6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6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6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6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6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Predict Yes or No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F13680-5081-45FD-9EDC-52752B88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31432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BEDEC"/>
          </a:solidFill>
          <a:ln xmlns:a="http://schemas.openxmlformats.org/drawingml/2006/main" w="19050">
            <a:solidFill>
              <a:srgbClr val="D8645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DF7301-2ADB-4CCA-B594-B98CBFFC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241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64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693C25-1E71-43A4-9233-1303C1AD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05150"/>
            <a:ext cx="2647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Iris species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E19DEE-4BAC-4B3B-A669-F06CF1C1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10000"/>
            <a:ext cx="245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6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6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6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6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6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6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6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6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6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Predict one of three species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0D5A29-D715-4D35-AE43-FF5E98BB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0545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21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21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21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21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21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21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21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21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21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Each section asks for the same three choices: target, task type, and features.</a:t>
            </a:r>
          </a:p>
        </p:txBody>
      </p:sp>
    </p:spTree>
    <p:extLst>
      <p:ext uri="{BB962C8B-B14F-4D97-AF65-F5344CB8AC3E}">
        <p14:creationId xmlns:p14="http://schemas.microsoft.com/office/powerpoint/2010/main" val="18736765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D98008-B13E-421F-924C-154F3963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D39317-D0D6-4C61-8155-D6CE4604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6.5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137BFC-491C-47F6-AEB7-BD107275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2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Model-choice checklist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AC6668-8FA4-40E9-82E0-83D48934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F21A3F-9B6F-4A0C-9270-1013022D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F6D30E-29B5-405D-994C-9A8B7E00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6215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A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F1477F-57C9-4301-AE0E-C31AD7C2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9431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What should the model predict?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AC8CBD-CF7B-4C49-8E2B-F65F9F8E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6479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Name one target column.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A8B2A4-30E7-4C08-958F-9C38F63E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52775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A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CF225C-4B9D-473F-A719-8A5A728A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3372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Does the target contain numbers or groups?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C609C7-09F5-44F3-96E6-2E6310E0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838575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Choose regression or classification.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CEEBF8-A9F1-4F21-9983-6C720318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08311C-6030-46F0-A5C4-C0153094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243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Which columns exist before the prediction?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8BA858-57D6-45C9-A93D-0AF73A38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292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Keep useful inputs. Drop IDs and leakage.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F9150A-7EB4-47E3-8C46-8F7FFAF8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1432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132A3A"/>
          </a:solidFill>
          <a:ln xmlns:a="http://schemas.openxmlformats.org/drawingml/2006/main" w="14288">
            <a:solidFill>
              <a:srgbClr val="132A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5B029C-93D5-479F-8FDE-D1B4507F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908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2025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2025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2025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2025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2025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2025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2025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2025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2025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rPr>
              <a:t>Notebook goal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AECC07-652F-4228-9FF5-3813B024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2190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Make a reasonable choice, run the model, and explain why the choice fits the data.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C16B8C-2DFF-48C4-9E69-6A212863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9055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notebooks/week-06-5-model-choice-lab.ipynb</a:t>
            </a:r>
          </a:p>
        </p:txBody>
      </p:sp>
    </p:spTree>
    <p:extLst>
      <p:ext uri="{BB962C8B-B14F-4D97-AF65-F5344CB8AC3E}">
        <p14:creationId xmlns:p14="http://schemas.microsoft.com/office/powerpoint/2010/main" val="20268999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2026-10-26T03:31:58.4840000Z</dcterms:created>
  <dcterms:modified xsi:type="dcterms:W3CDTF">2026-10-26T03:31:58.4840000Z</dcterms:modified>
</coreProperties>
</file>
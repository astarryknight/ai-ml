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94641"/>
  </p:normalViewPr>
  <p:slideViewPr>
    <p:cSldViewPr snapToGrid="0">
      <p:cViewPr varScale="1">
        <p:scale>
          <a:sx n="146" d="100"/>
          <a:sy n="146" d="100"/>
        </p:scale>
        <p:origin x="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Replace every bracketed field with the current course contact details and Discord invitation before presenting.</a:t>
            </a:r>
          </a:p>
          <a:p>
            <a:r>
              <a:t>Sources: /Users/me/Documents/repos/ai-ml/index.md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C41881B-86EE-428D-9521-C458791A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DA53AEF-7F99-4593-8E05-AAB49607C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73DBB99-DAC4-4F19-B5E9-5B450523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8BCF2CB-540C-480C-BEC4-9E3BCD8D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7ACF6C2-478A-4127-BFDD-BD3747C11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948516F-755E-469B-9C25-3B0821C2D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2AA8179-79D2-4489-A90B-1B7C1899E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D4D4FEC-DAE7-4C9C-ABBA-E26E38CF76C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2DEBA69-FB99-415D-A878-58F58537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D8C66CA-7CC6-4557-A9C6-15FB57FB8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83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A14E43-B011-4250-A074-576244CC7D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4E500F-B661-4B50-ABCD-61B0085DE2D9}"/>
              </a:ext>
            </a:extLst>
          </p:cNvPr>
          <p:cNvSpPr>
            <a:spLocks noGrp="1"/>
          </p:cNvSpPr>
          <p:nvPr/>
        </p:nvSpPr>
        <p:spPr>
          <a:xfrm>
            <a:off x="819150" y="10668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777255-AEFE-46FF-840C-60B043709A9F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91440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Reliable Data and Pipelines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C8ECC6-C9D4-47D9-A612-1346F0474B22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8096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Clean numbers and labels, create one useful feature, and reuse the recipe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8D9C10B-31A8-4E59-9B2B-A59841B16711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2952750" cy="0"/>
          </a:xfrm>
          <a:prstGeom prst="line">
            <a:avLst/>
          </a:prstGeom>
          <a:noFill/>
          <a:ln w="47625">
            <a:solidFill>
              <a:srgbClr val="7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 descr="A blue and black logo&#10;&#10;AI-generated content may be incorrect.">
            <a:extLst>
              <a:ext uri="{FF2B5EF4-FFF2-40B4-BE49-F238E27FC236}">
                <a16:creationId xmlns:a16="http://schemas.microsoft.com/office/drawing/2014/main" id="{03DB8518-2F22-B312-0491-2DEB5CA35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" y="5010151"/>
            <a:ext cx="2952750" cy="98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983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760C65D-6D1D-5711-0E11-F4CA669DE005}"/>
              </a:ext>
            </a:extLst>
          </p:cNvPr>
          <p:cNvSpPr/>
          <p:nvPr/>
        </p:nvSpPr>
        <p:spPr>
          <a:xfrm>
            <a:off x="6589059" y="2585029"/>
            <a:ext cx="1547530" cy="15475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11CFDA-E914-4C87-BDAE-8D5687A25E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C88A46-5A97-4FFD-BE10-772D966EC62A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dirty="0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</a:t>
            </a:r>
            <a:r>
              <a:rPr lang="en-US" sz="1425" b="1" dirty="0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2</a:t>
            </a:r>
            <a:endParaRPr sz="1425" b="1" dirty="0">
              <a:solidFill>
                <a:srgbClr val="147D8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8B8FF-5196-4DEE-8CE5-8C207BA62A7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Stay connected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B190290-A9AC-44EC-BA87-0CB5DD8F9A4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C70953-79DB-4FB7-B0ED-5D0DF28335A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</a:t>
            </a:r>
            <a:r>
              <a:rPr lang="en-US" sz="1200" b="0" dirty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2</a:t>
            </a:r>
            <a:endParaRPr sz="1200" b="0" dirty="0">
              <a:solidFill>
                <a:srgbClr val="8A9AA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07567A-05D5-4329-A4F7-BA750E701414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Course contact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226A8F-7CCD-4AA6-B988-7B0033BA8BB1}"/>
              </a:ext>
            </a:extLst>
          </p:cNvPr>
          <p:cNvSpPr>
            <a:spLocks noGrp="1"/>
          </p:cNvSpPr>
          <p:nvPr/>
        </p:nvSpPr>
        <p:spPr>
          <a:xfrm>
            <a:off x="742950" y="2686049"/>
            <a:ext cx="4857750" cy="24991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John Girgis</a:t>
            </a:r>
            <a:endParaRPr sz="1875" b="0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Email: </a:t>
            </a: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jlg62</a:t>
            </a: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@</a:t>
            </a: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njit</a:t>
            </a: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.edu]</a:t>
            </a: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Office</a:t>
            </a: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hours</a:t>
            </a: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:</a:t>
            </a:r>
            <a:r>
              <a:rPr lang="en-US"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 FMH104 (IEEE Lounge), </a:t>
            </a: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M/W </a:t>
            </a:r>
            <a:r>
              <a:rPr lang="en-US"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4:00-5:30</a:t>
            </a: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 sz="1875" b="0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Clem Eze</a:t>
            </a: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Email: cce24@njit.edu</a:t>
            </a: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sz="1875" b="0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FEDCF88-2A95-4198-A63E-3F2F221F6747}"/>
              </a:ext>
            </a:extLst>
          </p:cNvPr>
          <p:cNvSpPr>
            <a:spLocks noGrp="1"/>
          </p:cNvSpPr>
          <p:nvPr/>
        </p:nvSpPr>
        <p:spPr>
          <a:xfrm>
            <a:off x="5943600" y="2000250"/>
            <a:ext cx="0" cy="285750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AD4CC5-794D-4CD7-B16E-BEE63AA6D63E}"/>
              </a:ext>
            </a:extLst>
          </p:cNvPr>
          <p:cNvSpPr>
            <a:spLocks noGrp="1"/>
          </p:cNvSpPr>
          <p:nvPr/>
        </p:nvSpPr>
        <p:spPr>
          <a:xfrm>
            <a:off x="6572250" y="2038350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Discord and course hub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93B37E-5250-4FC5-A29B-89A6F5E35859}"/>
              </a:ext>
            </a:extLst>
          </p:cNvPr>
          <p:cNvSpPr>
            <a:spLocks noGrp="1"/>
          </p:cNvSpPr>
          <p:nvPr/>
        </p:nvSpPr>
        <p:spPr>
          <a:xfrm>
            <a:off x="8286633" y="2585029"/>
            <a:ext cx="3331621" cy="175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Discord</a:t>
            </a: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 sz="1875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 sz="1875" b="0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 sz="1875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 sz="1875" b="0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 sz="1875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 sz="1875" b="0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8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Website: </a:t>
            </a:r>
            <a:r>
              <a:rPr lang="en-US" sz="1875" b="0" dirty="0" err="1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astarryknight.github.io</a:t>
            </a:r>
            <a:r>
              <a:rPr lang="en-US" sz="187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/ai-ml</a:t>
            </a:r>
            <a:endParaRPr sz="1875" b="0" dirty="0">
              <a:solidFill>
                <a:srgbClr val="475B6A"/>
              </a:solidFill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B39B70-0DFE-3D16-8198-01A9856B8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743" y="2653775"/>
            <a:ext cx="1422953" cy="142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7DAFF94-B262-34B8-6AF4-E859A6EE51E8}"/>
              </a:ext>
            </a:extLst>
          </p:cNvPr>
          <p:cNvGrpSpPr/>
          <p:nvPr/>
        </p:nvGrpSpPr>
        <p:grpSpPr>
          <a:xfrm>
            <a:off x="6577407" y="4578673"/>
            <a:ext cx="1559182" cy="1555427"/>
            <a:chOff x="6632091" y="4647587"/>
            <a:chExt cx="1559182" cy="155542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F1D1ECE-38C8-82DB-B940-5031FC330E75}"/>
                </a:ext>
              </a:extLst>
            </p:cNvPr>
            <p:cNvSpPr/>
            <p:nvPr/>
          </p:nvSpPr>
          <p:spPr>
            <a:xfrm>
              <a:off x="6643743" y="4655484"/>
              <a:ext cx="1547530" cy="154753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 descr="A qr code with a bird&#10;&#10;AI-generated content may be incorrect.">
              <a:extLst>
                <a:ext uri="{FF2B5EF4-FFF2-40B4-BE49-F238E27FC236}">
                  <a16:creationId xmlns:a16="http://schemas.microsoft.com/office/drawing/2014/main" id="{00E04EDA-D1DE-742A-B437-27BF2CBD8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2091" y="4647587"/>
              <a:ext cx="1547526" cy="15475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3580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2EDC20-7DF4-4C40-9274-9A9E537C2C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EE91F4-4F53-4474-8043-464445557BC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68E34E-5D51-4192-91A0-028C95B705DE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Today’s finish line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8FDF31D-0CF4-4FE9-9C3F-E26216D36A39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B8AB8-52DC-4E89-A947-B8527C9408CD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938239-538E-4850-8C20-AB4F66FE3998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1009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Turn an imperfect customer table into a repeatable prediction workflow.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5D6E80-99A2-4842-A9AD-6C009F076ABD}"/>
              </a:ext>
            </a:extLst>
          </p:cNvPr>
          <p:cNvSpPr>
            <a:spLocks noGrp="1"/>
          </p:cNvSpPr>
          <p:nvPr/>
        </p:nvSpPr>
        <p:spPr>
          <a:xfrm>
            <a:off x="914400" y="2762250"/>
            <a:ext cx="9525000" cy="2333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Recognize numerical and categorical columns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Choose a sensible cleanup method for each type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Create one useful relationship from existing values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Run the full workflow in the notebook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34D9BB-E80A-4E78-8882-890CF92E2E69}"/>
              </a:ext>
            </a:extLst>
          </p:cNvPr>
          <p:cNvSpPr>
            <a:spLocks noGrp="1"/>
          </p:cNvSpPr>
          <p:nvPr/>
        </p:nvSpPr>
        <p:spPr>
          <a:xfrm>
            <a:off x="742950" y="5410200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Most preprocessing decisions are understandable choices about ordinary data.</a:t>
            </a:r>
          </a:p>
        </p:txBody>
      </p:sp>
    </p:spTree>
    <p:extLst>
      <p:ext uri="{BB962C8B-B14F-4D97-AF65-F5344CB8AC3E}">
        <p14:creationId xmlns:p14="http://schemas.microsoft.com/office/powerpoint/2010/main" val="1910125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4DA9F61-85EE-461A-8442-F978CE57FD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53184F-CACD-4D1E-8BE8-D4D8F393CCB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5E40F7-5301-45FE-8BC3-C0495BA413C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customer table needs repair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BB14C44-FEB8-44D3-A7B6-3D8582CBA321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2538F7-2B21-4013-9BC0-C22F03A017ED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052146-5467-423B-8A73-AB13FDA66CE0}"/>
              </a:ext>
            </a:extLst>
          </p:cNvPr>
          <p:cNvGraphicFramePr/>
          <p:nvPr/>
        </p:nvGraphicFramePr>
        <p:xfrm>
          <a:off x="819150" y="1952625"/>
          <a:ext cx="10382250" cy="30289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Customer</a:t>
                      </a:r>
                    </a:p>
                  </a:txBody>
                  <a:tcPr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Sessions</a:t>
                      </a:r>
                    </a:p>
                  </a:txBody>
                  <a:tcPr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Tickets</a:t>
                      </a:r>
                    </a:p>
                  </a:txBody>
                  <a:tcPr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Spend</a:t>
                      </a:r>
                    </a:p>
                  </a:txBody>
                  <a:tcPr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</a:t>
                      </a:r>
                    </a:p>
                  </a:txBody>
                  <a:tcPr anchor="ctr">
                    <a:solidFill>
                      <a:srgbClr val="13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Blake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$31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basic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Casey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Devon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$48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7CE8EAC-0F3A-454C-B252-456F87B4E3EE}"/>
              </a:ext>
            </a:extLst>
          </p:cNvPr>
          <p:cNvSpPr>
            <a:spLocks noGrp="1"/>
          </p:cNvSpPr>
          <p:nvPr/>
        </p:nvSpPr>
        <p:spPr>
          <a:xfrm>
            <a:off x="1695450" y="5410200"/>
            <a:ext cx="8667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Which missing cells contain numbers? Which one contains a label?</a:t>
            </a:r>
          </a:p>
        </p:txBody>
      </p:sp>
    </p:spTree>
    <p:extLst>
      <p:ext uri="{BB962C8B-B14F-4D97-AF65-F5344CB8AC3E}">
        <p14:creationId xmlns:p14="http://schemas.microsoft.com/office/powerpoint/2010/main" val="1813864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ED6DE7-E04C-4A01-8AB6-E894796E07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CCA7CE-7047-4AF3-8EE1-3034BD5C495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236BB3-1AFC-4080-8DC7-AACEB2766B3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Numerical cleanup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685952B-E820-404A-B2B5-107E1B54D088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A11978-F477-48FB-A7C6-58AE8B89E68B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62A179-0992-437E-83A9-AD53C87C8095}"/>
              </a:ext>
            </a:extLst>
          </p:cNvPr>
          <p:cNvGraphicFramePr/>
          <p:nvPr/>
        </p:nvGraphicFramePr>
        <p:xfrm>
          <a:off x="1428750" y="1866900"/>
          <a:ext cx="9334500" cy="2571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Customer</a:t>
                      </a:r>
                    </a:p>
                  </a:txBody>
                  <a:tcPr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Monthly spend</a:t>
                      </a:r>
                    </a:p>
                  </a:txBody>
                  <a:tcPr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After median fill</a:t>
                      </a:r>
                    </a:p>
                  </a:txBody>
                  <a:tcPr anchor="ctr">
                    <a:solidFill>
                      <a:srgbClr val="13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Blake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$31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$31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Casey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Devon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$48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$48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6842EEC-2739-494C-A271-5A3E37DC012D}"/>
              </a:ext>
            </a:extLst>
          </p:cNvPr>
          <p:cNvSpPr>
            <a:spLocks noGrp="1"/>
          </p:cNvSpPr>
          <p:nvPr/>
        </p:nvSpPr>
        <p:spPr>
          <a:xfrm>
            <a:off x="1571625" y="4933950"/>
            <a:ext cx="9048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median comes from the training rows. Scaling can then put spend and session counts on comparable ranges.</a:t>
            </a:r>
          </a:p>
        </p:txBody>
      </p:sp>
    </p:spTree>
    <p:extLst>
      <p:ext uri="{BB962C8B-B14F-4D97-AF65-F5344CB8AC3E}">
        <p14:creationId xmlns:p14="http://schemas.microsoft.com/office/powerpoint/2010/main" val="787815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B28BDBC-6665-4FC7-AD05-C4361AF651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E6A7D6-E02F-4ECE-9252-E34E9310A92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D6FC8E-5FAF-46F2-B9A7-A135493F124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Numerical cleanup choices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03E8AF2-A914-4140-A908-5B5C8B2300AD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D992E0-800B-4930-BFC9-C6E257BFCF49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62567A-3021-41B1-B3E1-5BA072427A7B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4381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Good choices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58909-2B9D-490C-9442-5A62A84FAB56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4381500" cy="2238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Inspect the distribution before filling blanks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Use the median when extreme values could distort the mean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Learn fill values and scaling from training rows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784EB9D3-0F72-461C-989E-808A6656296B}"/>
              </a:ext>
            </a:extLst>
          </p:cNvPr>
          <p:cNvSpPr>
            <a:spLocks noGrp="1"/>
          </p:cNvSpPr>
          <p:nvPr/>
        </p:nvSpPr>
        <p:spPr>
          <a:xfrm>
            <a:off x="5943600" y="1952625"/>
            <a:ext cx="0" cy="323850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FE70C8-EC65-49B9-B4E0-FCFD7BE7D10F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4381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325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rPr>
              <a:t>Common traps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1A9E96-CCF2-4252-AD58-502D263D34F0}"/>
              </a:ext>
            </a:extLst>
          </p:cNvPr>
          <p:cNvSpPr>
            <a:spLocks noGrp="1"/>
          </p:cNvSpPr>
          <p:nvPr/>
        </p:nvSpPr>
        <p:spPr>
          <a:xfrm>
            <a:off x="6762750" y="2724150"/>
            <a:ext cx="4286250" cy="2238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Replace every missing number with zero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Delete every incomplete row automatically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Scale the full dataset before the split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4C5C75-420C-4788-9851-B6896665C78E}"/>
              </a:ext>
            </a:extLst>
          </p:cNvPr>
          <p:cNvSpPr>
            <a:spLocks noGrp="1"/>
          </p:cNvSpPr>
          <p:nvPr/>
        </p:nvSpPr>
        <p:spPr>
          <a:xfrm>
            <a:off x="2190750" y="5391150"/>
            <a:ext cx="7810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cleanup rule should preserve meaning, not merely remove blanks.</a:t>
            </a:r>
          </a:p>
        </p:txBody>
      </p:sp>
    </p:spTree>
    <p:extLst>
      <p:ext uri="{BB962C8B-B14F-4D97-AF65-F5344CB8AC3E}">
        <p14:creationId xmlns:p14="http://schemas.microsoft.com/office/powerpoint/2010/main" val="184264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A42B9F-853D-418C-ABE4-90B3DD8CC2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A1A6B9-7DA2-4730-9581-CD7E638FC16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0F30AB-D6FF-4AE9-BCB9-A8F6FAA1B11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Categorical cleanup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566505E-41B0-4925-80BC-AF07BFA612A8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F90A87-CA0B-4C1D-AE1C-4C284930CDDC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A1AC10-157C-4A17-B7A4-8241CF881200}"/>
              </a:ext>
            </a:extLst>
          </p:cNvPr>
          <p:cNvGraphicFramePr/>
          <p:nvPr/>
        </p:nvGraphicFramePr>
        <p:xfrm>
          <a:off x="1238250" y="1790700"/>
          <a:ext cx="9715500" cy="31432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Raw plan</a:t>
                      </a:r>
                    </a:p>
                  </a:txBody>
                  <a:tcPr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Standardized label</a:t>
                      </a:r>
                    </a:p>
                  </a:txBody>
                  <a:tcPr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One-hot result</a:t>
                      </a:r>
                    </a:p>
                  </a:txBody>
                  <a:tcPr anchor="ctr">
                    <a:solidFill>
                      <a:srgbClr val="13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plan_basic =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basic 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basic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plan_basic = 1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plan_basic =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Plus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plus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plan_plus = 1</a:t>
                      </a:r>
                    </a:p>
                  </a:txBody>
                  <a:tcPr anchor="ctr"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unknown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plan_unknown =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F9820E1-457B-40CA-A6D3-E3434DD4E824}"/>
              </a:ext>
            </a:extLst>
          </p:cNvPr>
          <p:cNvSpPr>
            <a:spLocks noGrp="1"/>
          </p:cNvSpPr>
          <p:nvPr/>
        </p:nvSpPr>
        <p:spPr>
          <a:xfrm>
            <a:off x="2571750" y="5372100"/>
            <a:ext cx="7048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Clean spelling first. Encode the meaning second.</a:t>
            </a:r>
          </a:p>
        </p:txBody>
      </p:sp>
    </p:spTree>
    <p:extLst>
      <p:ext uri="{BB962C8B-B14F-4D97-AF65-F5344CB8AC3E}">
        <p14:creationId xmlns:p14="http://schemas.microsoft.com/office/powerpoint/2010/main" val="1489665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561399-6453-46E0-9393-42431F1745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74E7E6-19C8-415A-8265-8878DA666D5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45C84-01B3-4999-9D22-29237D44295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Category cleanup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D1DE3D4-E4E1-4425-80DE-C275D4FDD00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59CA09-E758-4CBE-AA2B-F872929705C9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8566DA-CCC2-41CA-8690-D2E12212A434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4381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Good choices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696933-1657-45FB-B681-BBB49188666B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4476750" cy="2238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Remove extra spaces and standardize capitalization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Combine spelling variants that mean the same thing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Allow a future row to contain an unseen label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6385B40-F68C-49F7-B4B0-EB89B38F6424}"/>
              </a:ext>
            </a:extLst>
          </p:cNvPr>
          <p:cNvSpPr>
            <a:spLocks noGrp="1"/>
          </p:cNvSpPr>
          <p:nvPr/>
        </p:nvSpPr>
        <p:spPr>
          <a:xfrm>
            <a:off x="5943600" y="1952625"/>
            <a:ext cx="0" cy="323850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C22B49-B915-43C1-BAD6-4B22F2740A3F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4381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325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rPr>
              <a:t>Common traps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06FBF0-9F10-4F0B-A2EF-363E2EB9D2E9}"/>
              </a:ext>
            </a:extLst>
          </p:cNvPr>
          <p:cNvSpPr>
            <a:spLocks noGrp="1"/>
          </p:cNvSpPr>
          <p:nvPr/>
        </p:nvSpPr>
        <p:spPr>
          <a:xfrm>
            <a:off x="6762750" y="2724150"/>
            <a:ext cx="4476750" cy="2238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Treat typos as meaningful new categories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Encode basic, plus, and pro as 1, 2, and 3 without a reason</a:t>
            </a:r>
          </a:p>
          <a:p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Learn the category list from the test 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770103-C285-4602-A90B-7FFCCA195D35}"/>
              </a:ext>
            </a:extLst>
          </p:cNvPr>
          <p:cNvSpPr>
            <a:spLocks noGrp="1"/>
          </p:cNvSpPr>
          <p:nvPr/>
        </p:nvSpPr>
        <p:spPr>
          <a:xfrm>
            <a:off x="2000250" y="5391150"/>
            <a:ext cx="819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Category codes should describe labels without inventing numeric distance.</a:t>
            </a:r>
          </a:p>
        </p:txBody>
      </p:sp>
    </p:spTree>
    <p:extLst>
      <p:ext uri="{BB962C8B-B14F-4D97-AF65-F5344CB8AC3E}">
        <p14:creationId xmlns:p14="http://schemas.microsoft.com/office/powerpoint/2010/main" val="684752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D2921FF-B4D2-43E3-9BAC-81049D4802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D72129-1821-41E9-BB99-154ABD484CE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C40B83-26E5-4760-AB89-AAADC7E8AD8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7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Derived features express useful relationships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9EF7524-657E-453E-83A4-BDADCF22352A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C0D4E7-13DB-48A2-976C-14D83E83B413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189E14-D42A-4211-9716-DF933F7B2650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Raw values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10A31A-D96A-4A96-A130-661C54F7F1DA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37147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sessions_per_week = 8</a:t>
            </a:r>
          </a:p>
          <a:p>
            <a:pPr algn="l">
              <a:def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support_tickets = 2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56B2AF5-6C50-4D52-9F8A-D6DB3CB6B4BA}"/>
              </a:ext>
            </a:extLst>
          </p:cNvPr>
          <p:cNvSpPr>
            <a:spLocks noGrp="1"/>
          </p:cNvSpPr>
          <p:nvPr/>
        </p:nvSpPr>
        <p:spPr>
          <a:xfrm>
            <a:off x="4724400" y="3143250"/>
            <a:ext cx="1104900" cy="609600"/>
          </a:xfrm>
          <a:prstGeom prst="rightArrow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ABCB4-4F94-4B67-9177-91AED03585AB}"/>
              </a:ext>
            </a:extLst>
          </p:cNvPr>
          <p:cNvSpPr>
            <a:spLocks noGrp="1"/>
          </p:cNvSpPr>
          <p:nvPr/>
        </p:nvSpPr>
        <p:spPr>
          <a:xfrm>
            <a:off x="6400800" y="20764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New relationship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17A40D-3F5E-484D-B6A7-4F22F6E101A0}"/>
              </a:ext>
            </a:extLst>
          </p:cNvPr>
          <p:cNvSpPr>
            <a:spLocks noGrp="1"/>
          </p:cNvSpPr>
          <p:nvPr/>
        </p:nvSpPr>
        <p:spPr>
          <a:xfrm>
            <a:off x="6400800" y="2781300"/>
            <a:ext cx="47625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1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sessions_per_ticket = 8 ÷ (2 + 1)</a:t>
            </a:r>
          </a:p>
          <a:p>
            <a:pPr algn="l">
              <a:defRPr sz="21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≈ 2.67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0A98C4-1544-4E0A-9103-BAF92D57E1D3}"/>
              </a:ext>
            </a:extLst>
          </p:cNvPr>
          <p:cNvSpPr>
            <a:spLocks noGrp="1"/>
          </p:cNvSpPr>
          <p:nvPr/>
        </p:nvSpPr>
        <p:spPr>
          <a:xfrm>
            <a:off x="1809750" y="4953000"/>
            <a:ext cx="8572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This feature asks whether frequent use comes with frequent support needs.</a:t>
            </a:r>
          </a:p>
        </p:txBody>
      </p:sp>
    </p:spTree>
    <p:extLst>
      <p:ext uri="{BB962C8B-B14F-4D97-AF65-F5344CB8AC3E}">
        <p14:creationId xmlns:p14="http://schemas.microsoft.com/office/powerpoint/2010/main" val="842650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DDBD921-F311-49B9-B5CA-7F4F8924FC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82B239-0F79-4841-BBAE-737ABB5633F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2ED8E5-3C3A-4282-BBF7-EF40CDEB5A8B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One recipe for training and prediction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2F29ED-93BA-4C9F-8D6E-36AC4C694350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EF4045-F84F-4BE4-ADFC-4D0B5EC7CE69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73FA94-196E-46B2-9E20-E4DA61205191}"/>
              </a:ext>
            </a:extLst>
          </p:cNvPr>
          <p:cNvSpPr>
            <a:spLocks noGrp="1"/>
          </p:cNvSpPr>
          <p:nvPr/>
        </p:nvSpPr>
        <p:spPr>
          <a:xfrm>
            <a:off x="742950" y="2305050"/>
            <a:ext cx="1819275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AD4DE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Raw rows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A748E11-7844-4B3E-9FB7-265C0D3C584D}"/>
              </a:ext>
            </a:extLst>
          </p:cNvPr>
          <p:cNvSpPr>
            <a:spLocks noGrp="1"/>
          </p:cNvSpPr>
          <p:nvPr/>
        </p:nvSpPr>
        <p:spPr>
          <a:xfrm>
            <a:off x="2943225" y="2305050"/>
            <a:ext cx="1819275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AD4DE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Create feature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AF823D6-AA8C-4735-8979-58CCE62D2445}"/>
              </a:ext>
            </a:extLst>
          </p:cNvPr>
          <p:cNvSpPr>
            <a:spLocks noGrp="1"/>
          </p:cNvSpPr>
          <p:nvPr/>
        </p:nvSpPr>
        <p:spPr>
          <a:xfrm>
            <a:off x="5143500" y="2305050"/>
            <a:ext cx="1819275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AD4DE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Train-test split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A0C3D4B-7C40-441E-8496-AB95562A5C45}"/>
              </a:ext>
            </a:extLst>
          </p:cNvPr>
          <p:cNvSpPr>
            <a:spLocks noGrp="1"/>
          </p:cNvSpPr>
          <p:nvPr/>
        </p:nvSpPr>
        <p:spPr>
          <a:xfrm>
            <a:off x="7343775" y="2305050"/>
            <a:ext cx="1819275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AD4DE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Fit cleanup on train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BA42D3-B0B0-4926-A5B2-486E7BE7745D}"/>
              </a:ext>
            </a:extLst>
          </p:cNvPr>
          <p:cNvSpPr>
            <a:spLocks noGrp="1"/>
          </p:cNvSpPr>
          <p:nvPr/>
        </p:nvSpPr>
        <p:spPr>
          <a:xfrm>
            <a:off x="9544050" y="2305050"/>
            <a:ext cx="1819275" cy="990600"/>
          </a:xfrm>
          <a:prstGeom prst="roundRect">
            <a:avLst>
              <a:gd name="adj" fmla="val 15385"/>
            </a:avLst>
          </a:prstGeom>
          <a:solidFill>
            <a:srgbClr val="147D88"/>
          </a:solidFill>
          <a:ln w="19050">
            <a:solidFill>
              <a:srgbClr val="147D88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Predict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78E23C82-A567-48EF-8A17-7AE871163662}"/>
              </a:ext>
            </a:extLst>
          </p:cNvPr>
          <p:cNvSpPr>
            <a:spLocks noGrp="1"/>
          </p:cNvSpPr>
          <p:nvPr/>
        </p:nvSpPr>
        <p:spPr>
          <a:xfrm>
            <a:off x="2638425" y="2686050"/>
            <a:ext cx="228600" cy="228600"/>
          </a:xfrm>
          <a:prstGeom prst="rightArrow">
            <a:avLst/>
          </a:prstGeom>
          <a:solidFill>
            <a:srgbClr val="8A9AA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EC0481A9-AB56-4C55-98F9-514718900D13}"/>
              </a:ext>
            </a:extLst>
          </p:cNvPr>
          <p:cNvSpPr>
            <a:spLocks noGrp="1"/>
          </p:cNvSpPr>
          <p:nvPr/>
        </p:nvSpPr>
        <p:spPr>
          <a:xfrm>
            <a:off x="4838700" y="2686050"/>
            <a:ext cx="228600" cy="228600"/>
          </a:xfrm>
          <a:prstGeom prst="rightArrow">
            <a:avLst/>
          </a:prstGeom>
          <a:solidFill>
            <a:srgbClr val="8A9AA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1FE52131-5243-46D3-AA9A-F01575A19997}"/>
              </a:ext>
            </a:extLst>
          </p:cNvPr>
          <p:cNvSpPr>
            <a:spLocks noGrp="1"/>
          </p:cNvSpPr>
          <p:nvPr/>
        </p:nvSpPr>
        <p:spPr>
          <a:xfrm>
            <a:off x="7038975" y="2686050"/>
            <a:ext cx="228600" cy="228600"/>
          </a:xfrm>
          <a:prstGeom prst="rightArrow">
            <a:avLst/>
          </a:prstGeom>
          <a:solidFill>
            <a:srgbClr val="8A9AA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DE57F88D-C31D-4E60-BC21-CF8AF92749E1}"/>
              </a:ext>
            </a:extLst>
          </p:cNvPr>
          <p:cNvSpPr>
            <a:spLocks noGrp="1"/>
          </p:cNvSpPr>
          <p:nvPr/>
        </p:nvSpPr>
        <p:spPr>
          <a:xfrm>
            <a:off x="9239250" y="2686050"/>
            <a:ext cx="228600" cy="228600"/>
          </a:xfrm>
          <a:prstGeom prst="rightArrow">
            <a:avLst/>
          </a:prstGeom>
          <a:solidFill>
            <a:srgbClr val="8A9AA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427F4F-D63E-4519-BA1B-B4857159F32E}"/>
              </a:ext>
            </a:extLst>
          </p:cNvPr>
          <p:cNvSpPr>
            <a:spLocks noGrp="1"/>
          </p:cNvSpPr>
          <p:nvPr/>
        </p:nvSpPr>
        <p:spPr>
          <a:xfrm>
            <a:off x="1571625" y="4171950"/>
            <a:ext cx="9048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Row-level features may be created before the split because they use only that row.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39710B-8FD7-4812-944A-9B67299D4809}"/>
              </a:ext>
            </a:extLst>
          </p:cNvPr>
          <p:cNvSpPr>
            <a:spLocks noGrp="1"/>
          </p:cNvSpPr>
          <p:nvPr/>
        </p:nvSpPr>
        <p:spPr>
          <a:xfrm>
            <a:off x="1619250" y="4953000"/>
            <a:ext cx="8953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Medians, scaling values, and category mappings must come from the training rows.</a:t>
            </a:r>
          </a:p>
        </p:txBody>
      </p:sp>
    </p:spTree>
    <p:extLst>
      <p:ext uri="{BB962C8B-B14F-4D97-AF65-F5344CB8AC3E}">
        <p14:creationId xmlns:p14="http://schemas.microsoft.com/office/powerpoint/2010/main" val="473592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ACF39F1-4740-4CDC-86F8-94EE4CAD18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7C7C9-041F-461A-8A63-A853E747CD1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E29BE8-31A9-4181-B7AB-54E3F5700A4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Notebook activity and exit ticket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02A8DF6-09DC-4FD7-B669-BEFBB9F38452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CA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390D9D-F6FE-4234-8651-138F9E304F4E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4B3456D-61AC-4039-AEB9-27376F01FD34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1819275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AD4DE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F5F36C-B086-4EA8-8FA7-7AEEE7EC4846}"/>
              </a:ext>
            </a:extLst>
          </p:cNvPr>
          <p:cNvSpPr>
            <a:spLocks noGrp="1"/>
          </p:cNvSpPr>
          <p:nvPr/>
        </p:nvSpPr>
        <p:spPr>
          <a:xfrm>
            <a:off x="2943225" y="2247900"/>
            <a:ext cx="1819275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AD4DE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Clean numbers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E0B79F9-72F3-4807-8937-250BE6525B82}"/>
              </a:ext>
            </a:extLst>
          </p:cNvPr>
          <p:cNvSpPr>
            <a:spLocks noGrp="1"/>
          </p:cNvSpPr>
          <p:nvPr/>
        </p:nvSpPr>
        <p:spPr>
          <a:xfrm>
            <a:off x="5143500" y="2247900"/>
            <a:ext cx="1819275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AD4DE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Clean labels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6075D78-72EE-44CB-A395-20FA372D7C67}"/>
              </a:ext>
            </a:extLst>
          </p:cNvPr>
          <p:cNvSpPr>
            <a:spLocks noGrp="1"/>
          </p:cNvSpPr>
          <p:nvPr/>
        </p:nvSpPr>
        <p:spPr>
          <a:xfrm>
            <a:off x="7343775" y="2247900"/>
            <a:ext cx="1819275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AD4DE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Create feature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6C69AE5-6FB0-4E76-BD9F-894D34D088B2}"/>
              </a:ext>
            </a:extLst>
          </p:cNvPr>
          <p:cNvSpPr>
            <a:spLocks noGrp="1"/>
          </p:cNvSpPr>
          <p:nvPr/>
        </p:nvSpPr>
        <p:spPr>
          <a:xfrm>
            <a:off x="9544050" y="2247900"/>
            <a:ext cx="1819275" cy="990600"/>
          </a:xfrm>
          <a:prstGeom prst="roundRect">
            <a:avLst>
              <a:gd name="adj" fmla="val 15385"/>
            </a:avLst>
          </a:prstGeom>
          <a:solidFill>
            <a:srgbClr val="147D88"/>
          </a:solidFill>
          <a:ln w="19050">
            <a:solidFill>
              <a:srgbClr val="147D88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Predict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AC7F9E3-A6F9-4ACD-A521-110426591D6B}"/>
              </a:ext>
            </a:extLst>
          </p:cNvPr>
          <p:cNvSpPr>
            <a:spLocks noGrp="1"/>
          </p:cNvSpPr>
          <p:nvPr/>
        </p:nvSpPr>
        <p:spPr>
          <a:xfrm>
            <a:off x="2638425" y="2628900"/>
            <a:ext cx="228600" cy="228600"/>
          </a:xfrm>
          <a:prstGeom prst="rightArrow">
            <a:avLst/>
          </a:prstGeom>
          <a:solidFill>
            <a:srgbClr val="8A9AA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BDFA81EF-BEFE-4493-B465-FB6A036F8D5F}"/>
              </a:ext>
            </a:extLst>
          </p:cNvPr>
          <p:cNvSpPr>
            <a:spLocks noGrp="1"/>
          </p:cNvSpPr>
          <p:nvPr/>
        </p:nvSpPr>
        <p:spPr>
          <a:xfrm>
            <a:off x="4838700" y="2628900"/>
            <a:ext cx="228600" cy="228600"/>
          </a:xfrm>
          <a:prstGeom prst="rightArrow">
            <a:avLst/>
          </a:prstGeom>
          <a:solidFill>
            <a:srgbClr val="8A9AA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07259655-A2D7-4990-884C-FD5FCE08ECDE}"/>
              </a:ext>
            </a:extLst>
          </p:cNvPr>
          <p:cNvSpPr>
            <a:spLocks noGrp="1"/>
          </p:cNvSpPr>
          <p:nvPr/>
        </p:nvSpPr>
        <p:spPr>
          <a:xfrm>
            <a:off x="7038975" y="2628900"/>
            <a:ext cx="228600" cy="228600"/>
          </a:xfrm>
          <a:prstGeom prst="rightArrow">
            <a:avLst/>
          </a:prstGeom>
          <a:solidFill>
            <a:srgbClr val="8A9AA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B04C1D07-FB22-489D-847B-C26AE91DBF1D}"/>
              </a:ext>
            </a:extLst>
          </p:cNvPr>
          <p:cNvSpPr>
            <a:spLocks noGrp="1"/>
          </p:cNvSpPr>
          <p:nvPr/>
        </p:nvSpPr>
        <p:spPr>
          <a:xfrm>
            <a:off x="9239250" y="2628900"/>
            <a:ext cx="228600" cy="228600"/>
          </a:xfrm>
          <a:prstGeom prst="rightArrow">
            <a:avLst/>
          </a:prstGeom>
          <a:solidFill>
            <a:srgbClr val="8A9AA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8B1EB5-7F87-42BA-90D4-F8131DDCD16E}"/>
              </a:ext>
            </a:extLst>
          </p:cNvPr>
          <p:cNvSpPr>
            <a:spLocks noGrp="1"/>
          </p:cNvSpPr>
          <p:nvPr/>
        </p:nvSpPr>
        <p:spPr>
          <a:xfrm>
            <a:off x="1695450" y="4210050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68C3D9-F147-4148-A6BF-D805D434A391}"/>
              </a:ext>
            </a:extLst>
          </p:cNvPr>
          <p:cNvSpPr>
            <a:spLocks noGrp="1"/>
          </p:cNvSpPr>
          <p:nvPr/>
        </p:nvSpPr>
        <p:spPr>
          <a:xfrm>
            <a:off x="4000500" y="4210050"/>
            <a:ext cx="65722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0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Name one cleanup rule that must be learned only from training data. Why?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05CDEC-12F4-4DD5-B463-0CDF58E8C096}"/>
              </a:ext>
            </a:extLst>
          </p:cNvPr>
          <p:cNvSpPr>
            <a:spLocks noGrp="1"/>
          </p:cNvSpPr>
          <p:nvPr/>
        </p:nvSpPr>
        <p:spPr>
          <a:xfrm>
            <a:off x="2381250" y="5600700"/>
            <a:ext cx="7429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5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Notebook: notebooks/week-04-data-pipeline.ipynb</a:t>
            </a:r>
          </a:p>
        </p:txBody>
      </p:sp>
    </p:spTree>
    <p:extLst>
      <p:ext uri="{BB962C8B-B14F-4D97-AF65-F5344CB8AC3E}">
        <p14:creationId xmlns:p14="http://schemas.microsoft.com/office/powerpoint/2010/main" val="2258215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Microsoft Macintosh PowerPoint</Application>
  <DocSecurity>0</DocSecurity>
  <PresentationFormat>Widescreen</PresentationFormat>
  <Paragraphs>158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Girgis, John</cp:lastModifiedBy>
  <cp:revision>1</cp:revision>
  <dcterms:created xsi:type="dcterms:W3CDTF">2026-10-11T18:52:50Z</dcterms:created>
  <dcterms:modified xsi:type="dcterms:W3CDTF">2026-10-12T18:27:45Z</dcterms:modified>
</cp:coreProperties>
</file>
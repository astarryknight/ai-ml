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43"/>
  </p:normalViewPr>
  <p:slideViewPr>
    <p:cSldViewPr snapToGrid="0">
      <p:cViewPr>
        <p:scale>
          <a:sx n="101" d="100"/>
          <a:sy n="101" d="100"/>
        </p:scale>
        <p:origin x="234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chill</c:v>
          </c:tx>
          <c:spPr>
            <a:ln w="9525">
              <a:solidFill>
                <a:srgbClr val="147D88"/>
              </a:solidFill>
            </a:ln>
          </c:spPr>
          <c:marker>
            <c:symbol val="circle"/>
            <c:size val="9"/>
            <c:spPr>
              <a:solidFill>
                <a:srgbClr val="147D88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CC6-2C4B-892F-65BA6759DA70}"/>
            </c:ext>
          </c:extLst>
        </c:ser>
        <c:ser>
          <c:idx val="1"/>
          <c:order val="1"/>
          <c:tx>
            <c:v>energetic</c:v>
          </c:tx>
          <c:spPr>
            <a:ln w="9525">
              <a:solidFill>
                <a:srgbClr val="E07A5F"/>
              </a:solidFill>
            </a:ln>
          </c:spPr>
          <c:marker>
            <c:symbol val="circle"/>
            <c:size val="9"/>
            <c:spPr>
              <a:solidFill>
                <a:srgbClr val="E07A5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7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CC6-2C4B-892F-65BA6759DA70}"/>
            </c:ext>
          </c:extLst>
        </c:ser>
        <c:ser>
          <c:idx val="2"/>
          <c:order val="2"/>
          <c:tx>
            <c:v>new song</c:v>
          </c:tx>
          <c:spPr>
            <a:ln w="19050">
              <a:solidFill>
                <a:srgbClr val="132A3A"/>
              </a:solidFill>
            </a:ln>
          </c:spPr>
          <c:marker>
            <c:symbol val="star"/>
            <c:size val="16"/>
            <c:spPr>
              <a:solidFill>
                <a:srgbClr val="132A3A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6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CC6-2C4B-892F-65BA6759DA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"/>
          <c:min val="1"/>
        </c:scaling>
        <c:delete val="0"/>
        <c:axPos val="l"/>
        <c:majorGridlines>
          <c:spPr>
            <a:ln w="9525">
              <a:solidFill>
                <a:srgbClr val="E4E9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Helvetica Neue"/>
                    <a:ea typeface="Helvetica Neue"/>
                    <a:cs typeface="Helvetica Neue"/>
                  </a:rPr>
                  <a:t>Energy (1–10)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10"/>
          <c:min val="1"/>
        </c:scaling>
        <c:delete val="0"/>
        <c:axPos val="b"/>
        <c:majorGridlines>
          <c:spPr>
            <a:ln w="9525">
              <a:solidFill>
                <a:srgbClr val="E4E9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Helvetica Neue"/>
                    <a:ea typeface="Helvetica Neue"/>
                    <a:cs typeface="Helvetica Neue"/>
                  </a:rPr>
                  <a:t>Danceability (1–10)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crossBetween val="midCat"/>
        <c:majorUnit val="1"/>
      </c:valAx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475B6A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AD4DE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naming the Week 1 deliverable and how students will use the website after class.</a:t>
            </a:r>
          </a:p>
          <a:p>
            <a:r>
              <a:t>Sources: /Users/me/Documents/repos/ai-ml/src/capstone.md; /Users/me/Documents/repos/ai-ml/src/intro/whatisai.md; /Users/me/Documents/repos/ai-ml/src/intro/numpy.md;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capstone as a destination, not a test. Students will reuse the same prepare, build, inspect, and explain habits throughout the semester.</a:t>
            </a:r>
          </a:p>
          <a:p>
            <a:r>
              <a:t>Sources: /Users/me/Documents/repos/ai-ml/src/capstone.md; /Users/me/Documents/repos/ai-ml/index.md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every bracketed field with the current course contact details and Discord invitation before presenting.</a:t>
            </a:r>
          </a:p>
          <a:p>
            <a:r>
              <a:t>Sources: /Users/me/Documents/repos/ai-ml/index.md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set expectations and point students to the same finish line on the website.</a:t>
            </a:r>
          </a:p>
          <a:p>
            <a:r>
              <a:t>Sources: /Users/me/Documents/repos/ai-ml/index.md;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one familiar AI system, then ask what data it might learn from.</a:t>
            </a:r>
          </a:p>
          <a:p>
            <a:r>
              <a:t>Sources: /Users/me/Documents/repos/ai-ml/src/intro/whatisai.md; /Users/me/Documents/repos/ai-ml/src/res/ai_ml_diag.png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parking rule as the explicit-rule example and spam filtering as the learned-pattern example.</a:t>
            </a:r>
          </a:p>
          <a:p>
            <a:r>
              <a:t>Sources: /Users/me/Documents/repos/ai-ml/src/intro/whatisai.md; /Users/me/Documents/repos/ai-ml/src/res/symbolic_ai.png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students classify two additional examples before revealing the answer.</a:t>
            </a:r>
          </a:p>
          <a:p>
            <a:r>
              <a:t>Sources: /Users/me/Documents/repos/ai-ml/src/intro/whatisai.md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method as a local vote. The slide shows every song in the tiny training set, so students can predict the result before running the code.</a:t>
            </a:r>
          </a:p>
          <a:p>
            <a:r>
              <a:t>Sources: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code from top to bottom. Ask students to predict both printed lines before revealing the output.</a:t>
            </a:r>
          </a:p>
          <a:p>
            <a:r>
              <a:t>Sources: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the visual pairing between names and values. This is the same idea used by the notebook's song dictionary.</a:t>
            </a:r>
          </a:p>
          <a:p>
            <a:r>
              <a:t>Sources: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Focus on the repeated action rather than syntax details. The following NumPy slide shows why collecting the numbers is useful.</a:t>
            </a:r>
          </a:p>
          <a:p>
            <a:r>
              <a:t>Sources: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Have students predict the shape before running the notebook cell.</a:t>
            </a:r>
          </a:p>
          <a:p>
            <a:r>
              <a:t>Sources: /Users/me/Documents/repos/ai-ml/src/intro/numpy.md; /Users/me/Documents/repos/ai-ml/src/res/numpy_arr_axis.png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after the mask prints. Ask why the mask must have the same length as the source array.</a:t>
            </a:r>
          </a:p>
          <a:p>
            <a:r>
              <a:t>Sources: /Users/me/Documents/repos/ai-ml/src/intro/numpy.md;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Live-code the three model lines after showing the song and mood arrays. Emphasize that students already understand the data. The library handles the model machinery.</a:t>
            </a:r>
          </a:p>
          <a:p>
            <a:r>
              <a:t>Sources: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Collect the checkpoint before students leave. Remind absent students that the notebook includes the same validation cell.</a:t>
            </a:r>
          </a:p>
          <a:p>
            <a:r>
              <a:t>Sources: /Users/me/Documents/repos/ai-ml/src/assessments/checkpoints.md; /Users/me/Documents/repos/ai-ml/notebooks/week-01-array-explorer.ipynb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BC85-F684-C51F-50DF-990DF4FE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DF3D0-517C-7331-C6A8-339C6027D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015A6-60C9-B3AB-3EC8-E1DC15C1F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Collect the checkpoint before students leave. Remind absent students that the notebook includes the same validation cell.</a:t>
            </a:r>
          </a:p>
          <a:p>
            <a:r>
              <a:t>Sources: /Users/me/Documents/repos/ai-ml/src/assessments/checkpoints.md; /Users/me/Documents/repos/ai-ml/notebooks/week-01-array-explorer.ipynb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ED007-6796-1A7F-CAED-27CF342020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7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D27DCA-9872-4D19-9C08-E3D1462775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E3AB79-A0AA-4866-84A1-D703CE1D978B}"/>
              </a:ext>
            </a:extLst>
          </p:cNvPr>
          <p:cNvSpPr>
            <a:spLocks noGrp="1"/>
          </p:cNvSpPr>
          <p:nvPr/>
        </p:nvSpPr>
        <p:spPr>
          <a:xfrm>
            <a:off x="819150" y="10668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0B89B-4B62-4851-B92A-7C2F4A77E934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1440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Foundations, Python, and NumPy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1B77D1-B0C5-47D5-BC1A-431FD88EB740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From AI concepts to a first prediction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F9BAAF2-E847-451B-9D33-0CA581E57F05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952750" cy="0"/>
          </a:xfrm>
          <a:prstGeom prst="line">
            <a:avLst/>
          </a:prstGeom>
          <a:noFill/>
          <a:ln w="476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B5E1FA21-7E51-F773-E596-2858909E9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4969713"/>
            <a:ext cx="3014090" cy="100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5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85491A1-F8F7-4E8A-BF1D-D632282082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5EBD78-0077-4523-9102-93336A2E9E8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AB2640-4FD6-4F47-99B9-1885C93881C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Where this semester is going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2C09FB-3C9C-48EE-BFB8-BAB566D4380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AFDFE-72B9-40C8-9FF7-4B0963B5F31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95C81B-D01E-4D69-A74C-187D9EA2E0ED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10382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Build the confidence to turn an idea into a small, understandable machine-learning project.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5111DF-969F-4FAF-8095-9C295FF7110C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Our goals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91759F-B8E0-4F6D-B75B-08473F418202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5143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Read and change Python without fear</a:t>
            </a:r>
          </a:p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Use data to train and test simple models</a:t>
            </a:r>
          </a:p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Explain what a model predicts and why the result matters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CB4745B-B63D-49CE-9881-BADF72EB9E48}"/>
              </a:ext>
            </a:extLst>
          </p:cNvPr>
          <p:cNvSpPr>
            <a:spLocks noGrp="1"/>
          </p:cNvSpPr>
          <p:nvPr/>
        </p:nvSpPr>
        <p:spPr>
          <a:xfrm>
            <a:off x="6324600" y="3048000"/>
            <a:ext cx="0" cy="260985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24A3E-B505-40E4-B1B3-CF7731B4B86C}"/>
              </a:ext>
            </a:extLst>
          </p:cNvPr>
          <p:cNvSpPr>
            <a:spLocks noGrp="1"/>
          </p:cNvSpPr>
          <p:nvPr/>
        </p:nvSpPr>
        <p:spPr>
          <a:xfrm>
            <a:off x="6896100" y="304800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Capstone destination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1A2EE-F352-4E0C-BF99-43FEB3CAC420}"/>
              </a:ext>
            </a:extLst>
          </p:cNvPr>
          <p:cNvSpPr>
            <a:spLocks noGrp="1"/>
          </p:cNvSpPr>
          <p:nvPr/>
        </p:nvSpPr>
        <p:spPr>
          <a:xfrm>
            <a:off x="6896100" y="37147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Weeks 8–10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A0248C-F606-498C-993B-893A35959BCF}"/>
              </a:ext>
            </a:extLst>
          </p:cNvPr>
          <p:cNvSpPr>
            <a:spLocks noGrp="1"/>
          </p:cNvSpPr>
          <p:nvPr/>
        </p:nvSpPr>
        <p:spPr>
          <a:xfrm>
            <a:off x="6896100" y="4229100"/>
            <a:ext cx="409575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Prepare the data, build a model, inspect the results, and share a project that another person can run and understand.</a:t>
            </a:r>
          </a:p>
        </p:txBody>
      </p:sp>
    </p:spTree>
    <p:extLst>
      <p:ext uri="{BB962C8B-B14F-4D97-AF65-F5344CB8AC3E}">
        <p14:creationId xmlns:p14="http://schemas.microsoft.com/office/powerpoint/2010/main" val="70424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760C65D-6D1D-5711-0E11-F4CA669DE005}"/>
              </a:ext>
            </a:extLst>
          </p:cNvPr>
          <p:cNvSpPr/>
          <p:nvPr/>
        </p:nvSpPr>
        <p:spPr>
          <a:xfrm>
            <a:off x="6589059" y="2585029"/>
            <a:ext cx="1547530" cy="15475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11CFDA-E914-4C87-BDAE-8D5687A25E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C88A46-5A97-4FFD-BE10-772D966EC62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8B8FF-5196-4DEE-8CE5-8C207BA62A7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Stay connected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B190290-A9AC-44EC-BA87-0CB5DD8F9A4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70953-79DB-4FB7-B0ED-5D0DF28335A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7567A-05D5-4329-A4F7-BA750E70141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Course contact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226A8F-7CCD-4AA6-B988-7B0033BA8BB1}"/>
              </a:ext>
            </a:extLst>
          </p:cNvPr>
          <p:cNvSpPr>
            <a:spLocks noGrp="1"/>
          </p:cNvSpPr>
          <p:nvPr/>
        </p:nvSpPr>
        <p:spPr>
          <a:xfrm>
            <a:off x="742950" y="2686049"/>
            <a:ext cx="4857750" cy="24991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John Girgis</a:t>
            </a:r>
            <a:endParaRPr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Email: 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jlg62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@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njit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.edu]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Office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hours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:</a:t>
            </a: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 FMH104 (IEEE Lounge), 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M/W </a:t>
            </a: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4:00-5:30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Clem Eze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Email: cce24@njit.edu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FEDCF88-2A95-4198-A63E-3F2F221F6747}"/>
              </a:ext>
            </a:extLst>
          </p:cNvPr>
          <p:cNvSpPr>
            <a:spLocks noGrp="1"/>
          </p:cNvSpPr>
          <p:nvPr/>
        </p:nvSpPr>
        <p:spPr>
          <a:xfrm>
            <a:off x="5943600" y="2000250"/>
            <a:ext cx="0" cy="285750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AD4CC5-794D-4CD7-B16E-BEE63AA6D63E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Discord and course hub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3B37E-5250-4FC5-A29B-89A6F5E35859}"/>
              </a:ext>
            </a:extLst>
          </p:cNvPr>
          <p:cNvSpPr>
            <a:spLocks noGrp="1"/>
          </p:cNvSpPr>
          <p:nvPr/>
        </p:nvSpPr>
        <p:spPr>
          <a:xfrm>
            <a:off x="8286633" y="2585029"/>
            <a:ext cx="3331621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Discord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Website: </a:t>
            </a:r>
            <a:r>
              <a:rPr lang="en-US" sz="1875" b="0" dirty="0" err="1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astarryknight.github.io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/ai-ml</a:t>
            </a:r>
            <a:endParaRPr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B39B70-0DFE-3D16-8198-01A9856B8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743" y="2653775"/>
            <a:ext cx="1422953" cy="142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7DAFF94-B262-34B8-6AF4-E859A6EE51E8}"/>
              </a:ext>
            </a:extLst>
          </p:cNvPr>
          <p:cNvGrpSpPr/>
          <p:nvPr/>
        </p:nvGrpSpPr>
        <p:grpSpPr>
          <a:xfrm>
            <a:off x="6577407" y="4578673"/>
            <a:ext cx="1559182" cy="1555427"/>
            <a:chOff x="6632091" y="4647587"/>
            <a:chExt cx="1559182" cy="155542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1D1ECE-38C8-82DB-B940-5031FC330E75}"/>
                </a:ext>
              </a:extLst>
            </p:cNvPr>
            <p:cNvSpPr/>
            <p:nvPr/>
          </p:nvSpPr>
          <p:spPr>
            <a:xfrm>
              <a:off x="6643743" y="4655484"/>
              <a:ext cx="1547530" cy="15475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A qr code with a bird&#10;&#10;AI-generated content may be incorrect.">
              <a:extLst>
                <a:ext uri="{FF2B5EF4-FFF2-40B4-BE49-F238E27FC236}">
                  <a16:creationId xmlns:a16="http://schemas.microsoft.com/office/drawing/2014/main" id="{00E04EDA-D1DE-742A-B437-27BF2CBD8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2091" y="4647587"/>
              <a:ext cx="1547526" cy="1547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58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66BE1D-0179-4C61-9884-CEFF0A46E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62FCC-FB68-4D16-B9B1-1EAC44679E2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A4B39-FCA9-4606-AEF1-5F1377BC83E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4AED9BE-A8D9-49BC-9E37-4F0471140F4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F1C9D-6513-4D60-81B5-33EE93143F6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76224-B882-47D0-832F-A216AD1F73FF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By the end of the session, every student should have: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4058C-980D-4A21-AB84-53047BA62FC0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97155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plain-language distinction between AI and machine learning</a:t>
            </a: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NumPy array, summary statistics, and one Boolean mask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labeled graph plus two observations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first song-mood prediction from a scikit-learn model</a:t>
            </a:r>
          </a:p>
        </p:txBody>
      </p:sp>
    </p:spTree>
    <p:extLst>
      <p:ext uri="{BB962C8B-B14F-4D97-AF65-F5344CB8AC3E}">
        <p14:creationId xmlns:p14="http://schemas.microsoft.com/office/powerpoint/2010/main" val="177652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30064CD-8607-493F-B6FC-069B6E50A4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F59097-770B-4341-BEF5-4C186045A61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E6414-8BB8-43D4-A115-0960364FC94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AI and machine learning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032A777-8486-40CD-A6C2-AE5B84CF11B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5C2DE6-6873-41F5-BEDB-CA3D32DF014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B7951-0F4D-441A-8C32-653A94A2E5AC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Artificial intelligence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BF02DC-78E7-4B2B-A3ED-3247977BD8DB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4476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Systems that perform tasks associated with intelligent behavior.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076BF-A277-47D7-9509-A4837E48B720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Machine learning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88BFD-498D-435A-90EF-032615B70AFB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4476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Methods that learn patterns from examples instead of relying only on hand-written rules.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E0990E-4EF7-47B1-B8E3-78DD3A3873FA}"/>
              </a:ext>
            </a:extLst>
          </p:cNvPr>
          <p:cNvSpPr>
            <a:spLocks noGrp="1"/>
          </p:cNvSpPr>
          <p:nvPr/>
        </p:nvSpPr>
        <p:spPr>
          <a:xfrm>
            <a:off x="5943600" y="2000250"/>
            <a:ext cx="5486400" cy="3105150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15050" y="2293620"/>
            <a:ext cx="5143500" cy="251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6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1AADC0-9E0F-4FCE-9C10-1DB776C856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14EA4-F77D-45D6-91CA-395E37A6D50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E27393-3BFD-49D7-8B09-29F26921FA0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Rule-based and data-driven systems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92EC42F-987C-45B1-BE29-4F4686322DC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A3452-6308-4436-8B81-9DC06990D65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FD0D97-5550-4512-9487-7ECBE38B8B4F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5238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2359914"/>
            <a:ext cx="4895850" cy="15666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2C4861-2BFE-4650-AE78-4DF0634FB00D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Rule-based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F9DE0F-AD86-4A8A-A6CF-19341D9775F1}"/>
              </a:ext>
            </a:extLst>
          </p:cNvPr>
          <p:cNvSpPr>
            <a:spLocks noGrp="1"/>
          </p:cNvSpPr>
          <p:nvPr/>
        </p:nvSpPr>
        <p:spPr>
          <a:xfrm>
            <a:off x="762000" y="512445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People write explicit conditions. The logic stays clear when rules are stable.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22851-7664-43AF-9BC1-5B79B84F1328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Data-driven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0035C9-AB49-4F84-8292-E9DE26C5CEA9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42862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Examples replace many hand-written conditions</a:t>
            </a:r>
          </a:p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Training finds a pattern that supports prediction</a:t>
            </a:r>
          </a:p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Representative data and evaluation determine reliability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65E507-2131-4391-AB50-39C1B2468786}"/>
              </a:ext>
            </a:extLst>
          </p:cNvPr>
          <p:cNvSpPr>
            <a:spLocks noGrp="1"/>
          </p:cNvSpPr>
          <p:nvPr/>
        </p:nvSpPr>
        <p:spPr>
          <a:xfrm>
            <a:off x="6667500" y="5143500"/>
            <a:ext cx="4191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Where would an explicit rule be safer or easier to explain?</a:t>
            </a:r>
          </a:p>
        </p:txBody>
      </p:sp>
    </p:spTree>
    <p:extLst>
      <p:ext uri="{BB962C8B-B14F-4D97-AF65-F5344CB8AC3E}">
        <p14:creationId xmlns:p14="http://schemas.microsoft.com/office/powerpoint/2010/main" val="153300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181FFEE-CABC-47F7-AA76-E91DF12B0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EAD272-4927-4866-9516-B35D9DA6B7C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381BE7-F4AB-4423-B38E-678EC4A89F0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Three common machine-learning problems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F389E2E-BEF4-4D15-A3F4-1861E018AD54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FCAAD-D89A-4FDD-8375-9C040CC40C3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72C50-1C0A-4D79-9E1B-2D3CBC1A301C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Regression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CC809-1D80-4298-B3CE-B136400E2770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857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Predict a number</a:t>
            </a:r>
          </a:p>
          <a:p>
            <a:endParaRPr sz="1875" b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Example: delivery time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80AE922-43DA-4973-ADC7-A3C2558B183A}"/>
              </a:ext>
            </a:extLst>
          </p:cNvPr>
          <p:cNvSpPr>
            <a:spLocks noGrp="1"/>
          </p:cNvSpPr>
          <p:nvPr/>
        </p:nvSpPr>
        <p:spPr>
          <a:xfrm>
            <a:off x="3829050" y="2000250"/>
            <a:ext cx="0" cy="257175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23CE9-33EC-47F8-9C3F-0A60528FAB5B}"/>
              </a:ext>
            </a:extLst>
          </p:cNvPr>
          <p:cNvSpPr>
            <a:spLocks noGrp="1"/>
          </p:cNvSpPr>
          <p:nvPr/>
        </p:nvSpPr>
        <p:spPr>
          <a:xfrm>
            <a:off x="4362450" y="2095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1BC9E2-8F64-4D04-9EB5-BF03C6292201}"/>
              </a:ext>
            </a:extLst>
          </p:cNvPr>
          <p:cNvSpPr>
            <a:spLocks noGrp="1"/>
          </p:cNvSpPr>
          <p:nvPr/>
        </p:nvSpPr>
        <p:spPr>
          <a:xfrm>
            <a:off x="4362450" y="2647950"/>
            <a:ext cx="2857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Predict a category</a:t>
            </a:r>
          </a:p>
          <a:p>
            <a:endParaRPr sz="1875" b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Example: spam or not spam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9E2A3CC-AEC6-42D7-B912-E9B9A33FF900}"/>
              </a:ext>
            </a:extLst>
          </p:cNvPr>
          <p:cNvSpPr>
            <a:spLocks noGrp="1"/>
          </p:cNvSpPr>
          <p:nvPr/>
        </p:nvSpPr>
        <p:spPr>
          <a:xfrm>
            <a:off x="7448550" y="2000250"/>
            <a:ext cx="0" cy="257175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7B23EC-1102-429B-AE61-BB44D483D70C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Clustering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C85BDF-1513-4FF1-AFDF-E529E6E49807}"/>
              </a:ext>
            </a:extLst>
          </p:cNvPr>
          <p:cNvSpPr>
            <a:spLocks noGrp="1"/>
          </p:cNvSpPr>
          <p:nvPr/>
        </p:nvSpPr>
        <p:spPr>
          <a:xfrm>
            <a:off x="7981950" y="2647950"/>
            <a:ext cx="31432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Group similar examples</a:t>
            </a:r>
          </a:p>
          <a:p>
            <a:endParaRPr sz="1875" b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Example: songs with similar audio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4A06A9-4197-4DA8-8A76-FB2291467689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Which problem type fits predicting tomorrow’s temperature?</a:t>
            </a:r>
          </a:p>
        </p:txBody>
      </p:sp>
    </p:spTree>
    <p:extLst>
      <p:ext uri="{BB962C8B-B14F-4D97-AF65-F5344CB8AC3E}">
        <p14:creationId xmlns:p14="http://schemas.microsoft.com/office/powerpoint/2010/main" val="28038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4074E3-B776-4319-95A7-11733E3F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FF4E54-FED2-410A-ADE2-8DB6DB20767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2C545-1FCD-454D-8691-691DE969293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K-nearest neighbors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2C5C696-EF00-4476-8F90-FD35C1E1F05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69438-6B37-4D96-8D10-25CFD90975E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742950" y="1866900"/>
          <a:ext cx="66675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E332920-08CD-4C8D-ACB7-36CC18D943B2}"/>
              </a:ext>
            </a:extLst>
          </p:cNvPr>
          <p:cNvSpPr>
            <a:spLocks noGrp="1"/>
          </p:cNvSpPr>
          <p:nvPr/>
        </p:nvSpPr>
        <p:spPr>
          <a:xfrm>
            <a:off x="7962900" y="213360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new song gets the label used by most of its closest examples.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C98AE-FA7D-4364-85F9-DCFF39250632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238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gold point is the new song. With three neighbors, the model predicts energetic.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1FC8A-1F19-4145-B15C-5324202F0E78}"/>
              </a:ext>
            </a:extLst>
          </p:cNvPr>
          <p:cNvSpPr>
            <a:spLocks noGrp="1"/>
          </p:cNvSpPr>
          <p:nvPr/>
        </p:nvSpPr>
        <p:spPr>
          <a:xfrm>
            <a:off x="7962900" y="5143500"/>
            <a:ext cx="3238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Class question: What could change if we move the gold point?</a:t>
            </a:r>
          </a:p>
        </p:txBody>
      </p:sp>
    </p:spTree>
    <p:extLst>
      <p:ext uri="{BB962C8B-B14F-4D97-AF65-F5344CB8AC3E}">
        <p14:creationId xmlns:p14="http://schemas.microsoft.com/office/powerpoint/2010/main" val="202990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11A41D-04B2-4440-ACC2-51CBFF5513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6BA079-7EAD-4CA9-84CA-8A57703325A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D7695-A71F-437E-9B92-49DED4FAB67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Python starts with names and values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62E6F95-B650-488E-97EF-D33D7A73143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8EB49-DFF7-4FC3-95B5-1A9926D5395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B09311-86F3-4613-A3BF-BA88E19714FC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5429250" cy="3143250"/>
          </a:xfrm>
          <a:prstGeom prst="roundRect">
            <a:avLst>
              <a:gd name="adj" fmla="val 4242"/>
            </a:avLst>
          </a:prstGeom>
          <a:solidFill>
            <a:srgbClr val="E9EEF2"/>
          </a:solidFill>
          <a:ln w="9525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99C9-5B80-4926-A47E-0E7C549122BF}"/>
              </a:ext>
            </a:extLst>
          </p:cNvPr>
          <p:cNvSpPr>
            <a:spLocks noGrp="1"/>
          </p:cNvSpPr>
          <p:nvPr/>
        </p:nvSpPr>
        <p:spPr>
          <a:xfrm>
            <a:off x="971550" y="2209800"/>
            <a:ext cx="49720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song_name = "Ocean Eyes"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energy = 3</a:t>
            </a:r>
          </a:p>
          <a:p>
            <a:endParaRPr sz="1650" b="0">
              <a:solidFill>
                <a:srgbClr val="132A3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print(song_name)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print(energy)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1765B1-2F41-40A8-A7CD-A0365BAB39C4}"/>
              </a:ext>
            </a:extLst>
          </p:cNvPr>
          <p:cNvSpPr>
            <a:spLocks noGrp="1"/>
          </p:cNvSpPr>
          <p:nvPr/>
        </p:nvSpPr>
        <p:spPr>
          <a:xfrm>
            <a:off x="6896100" y="2095500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variable is a name for a value.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A21117-96BC-409E-9E1A-4369A1EC467F}"/>
              </a:ext>
            </a:extLst>
          </p:cNvPr>
          <p:cNvSpPr>
            <a:spLocks noGrp="1"/>
          </p:cNvSpPr>
          <p:nvPr/>
        </p:nvSpPr>
        <p:spPr>
          <a:xfrm>
            <a:off x="6896100" y="3067050"/>
            <a:ext cx="4000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Quotes mark text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Numbers can be used in calculations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print lets us see a result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081A2-D017-4779-80D0-A114CF7160FB}"/>
              </a:ext>
            </a:extLst>
          </p:cNvPr>
          <p:cNvSpPr>
            <a:spLocks noGrp="1"/>
          </p:cNvSpPr>
          <p:nvPr/>
        </p:nvSpPr>
        <p:spPr>
          <a:xfrm>
            <a:off x="6896100" y="5105400"/>
            <a:ext cx="4095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Quick check: What will Python print?</a:t>
            </a:r>
          </a:p>
        </p:txBody>
      </p:sp>
    </p:spTree>
    <p:extLst>
      <p:ext uri="{BB962C8B-B14F-4D97-AF65-F5344CB8AC3E}">
        <p14:creationId xmlns:p14="http://schemas.microsoft.com/office/powerpoint/2010/main" val="121825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FDE7FE-AF20-43FA-AC74-933C272674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713AB6-9B43-4727-9C56-8750E46BBD3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A87992-A776-4ECE-B92D-F4BDF3D5B88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Lists and dictionaries organize data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EBFFCC-972C-413B-B3C7-2E21F28E4084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05883-32FF-48B7-9976-D9E66617E255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11BEDC-FF7F-4C24-A95F-6C08AE702FA4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5334000" cy="3619500"/>
          </a:xfrm>
          <a:prstGeom prst="roundRect">
            <a:avLst>
              <a:gd name="adj" fmla="val 3684"/>
            </a:avLst>
          </a:prstGeom>
          <a:solidFill>
            <a:srgbClr val="E9EEF2"/>
          </a:solidFill>
          <a:ln w="9525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36D277-AB78-4517-BE20-A788957109C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487680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song = {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"name": "Ocean Eyes",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"scores": [2, 3],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"mood": "chill"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>
            <a:endParaRPr sz="1650" b="0">
              <a:solidFill>
                <a:srgbClr val="132A3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print(song["mood"])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813F40-6374-4546-A16F-C993B47F5F13}"/>
              </a:ext>
            </a:extLst>
          </p:cNvPr>
          <p:cNvSpPr>
            <a:spLocks noGrp="1"/>
          </p:cNvSpPr>
          <p:nvPr/>
        </p:nvSpPr>
        <p:spPr>
          <a:xfrm>
            <a:off x="6800850" y="20383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Dictionary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330BAA-E479-48A3-B193-F45EDF9A32B1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4095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Connects a label such as mood to its value.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8A548D-7AE7-47CD-979C-C52854AE22BB}"/>
              </a:ext>
            </a:extLst>
          </p:cNvPr>
          <p:cNvSpPr>
            <a:spLocks noGrp="1"/>
          </p:cNvSpPr>
          <p:nvPr/>
        </p:nvSpPr>
        <p:spPr>
          <a:xfrm>
            <a:off x="6800850" y="37338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588F0D-0FF4-48A8-84B4-A2DDDEEBC7A2}"/>
              </a:ext>
            </a:extLst>
          </p:cNvPr>
          <p:cNvSpPr>
            <a:spLocks noGrp="1"/>
          </p:cNvSpPr>
          <p:nvPr/>
        </p:nvSpPr>
        <p:spPr>
          <a:xfrm>
            <a:off x="6800850" y="4229100"/>
            <a:ext cx="4095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Keeps values in order. Here, [2, 3] means danceability 2 and energy 3.</a:t>
            </a:r>
          </a:p>
        </p:txBody>
      </p:sp>
    </p:spTree>
    <p:extLst>
      <p:ext uri="{BB962C8B-B14F-4D97-AF65-F5344CB8AC3E}">
        <p14:creationId xmlns:p14="http://schemas.microsoft.com/office/powerpoint/2010/main" val="127163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E830453-10E2-4984-93D8-01C4463ACA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586F33-64C0-4A90-BC18-36904B57E88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18C855-5738-468E-9F25-F4D283FE2E6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loop repeats one small step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E08433-FA17-47AA-8F41-E46B9F2E966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DDD312-166E-49BC-97B0-4F3CC64328DC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E67871-1652-46F3-8D20-0C9EB98A898E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6191250" cy="2095500"/>
          </a:xfrm>
          <a:prstGeom prst="roundRect">
            <a:avLst>
              <a:gd name="adj" fmla="val 6364"/>
            </a:avLst>
          </a:prstGeom>
          <a:solidFill>
            <a:srgbClr val="E9EEF2"/>
          </a:solidFill>
          <a:ln w="9525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EA8E01-036D-46FE-B799-EBC04C82C4DE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57340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for name, details in songs.items():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    print(name, details["energy"])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EF30EF-80F0-497A-89F9-C76B43ADD1EC}"/>
              </a:ext>
            </a:extLst>
          </p:cNvPr>
          <p:cNvSpPr>
            <a:spLocks noGrp="1"/>
          </p:cNvSpPr>
          <p:nvPr/>
        </p:nvSpPr>
        <p:spPr>
          <a:xfrm>
            <a:off x="7620000" y="2133600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1FEFBF-0D9A-468A-8CBB-567192600484}"/>
              </a:ext>
            </a:extLst>
          </p:cNvPr>
          <p:cNvSpPr>
            <a:spLocks noGrp="1"/>
          </p:cNvSpPr>
          <p:nvPr/>
        </p:nvSpPr>
        <p:spPr>
          <a:xfrm>
            <a:off x="7620000" y="2667000"/>
            <a:ext cx="3333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Run the indented line once for every song.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2D5AE3-ED4A-4976-B5D6-CE5EE7E771D9}"/>
              </a:ext>
            </a:extLst>
          </p:cNvPr>
          <p:cNvSpPr>
            <a:spLocks noGrp="1"/>
          </p:cNvSpPr>
          <p:nvPr/>
        </p:nvSpPr>
        <p:spPr>
          <a:xfrm>
            <a:off x="7620000" y="38100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Indentation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6611A-C3FD-4FB3-B01E-EF503EA6B242}"/>
              </a:ext>
            </a:extLst>
          </p:cNvPr>
          <p:cNvSpPr>
            <a:spLocks noGrp="1"/>
          </p:cNvSpPr>
          <p:nvPr/>
        </p:nvSpPr>
        <p:spPr>
          <a:xfrm>
            <a:off x="7620000" y="4343400"/>
            <a:ext cx="3333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spaces show which code belongs inside the loop.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2A37FA-9BC3-4341-A114-BB917CE42E2B}"/>
              </a:ext>
            </a:extLst>
          </p:cNvPr>
          <p:cNvSpPr>
            <a:spLocks noGrp="1"/>
          </p:cNvSpPr>
          <p:nvPr/>
        </p:nvSpPr>
        <p:spPr>
          <a:xfrm>
            <a:off x="1333500" y="5467350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Next, NumPy collects those repeated numbers into one array.</a:t>
            </a:r>
          </a:p>
        </p:txBody>
      </p:sp>
    </p:spTree>
    <p:extLst>
      <p:ext uri="{BB962C8B-B14F-4D97-AF65-F5344CB8AC3E}">
        <p14:creationId xmlns:p14="http://schemas.microsoft.com/office/powerpoint/2010/main" val="159027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8C8BE4-0CD1-4138-890D-B6CA2E541E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40F79C-9FBE-45BD-B3CB-A8A8C5E7500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1A5E64-D68E-472B-802E-BD0449391B1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NumPy arrays organize numeric data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0D69FD5-BAA9-4CA3-BD6C-85668FF45B5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8ADAB9-D11A-4CEB-8F10-804BB8D3E922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9680A7-E36B-4C67-A7F8-0C6BFB6A08E5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4857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An array has a shape, a data type, and one or more axes.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6EAB4B-191F-4C23-B3CD-2F8B3F565415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47625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Shape describes the size along each axis</a:t>
            </a:r>
          </a:p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data type controls how values are stored</a:t>
            </a:r>
          </a:p>
          <a:p>
            <a:pPr marL="279400" indent="-127000">
              <a:spcAft>
                <a:spcPts val="1100"/>
              </a:spcAft>
              <a:buChar char="•"/>
              <a:def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Vectorized operations apply work across many values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13DC6A-2E3D-481D-AB55-403034EB1678}"/>
              </a:ext>
            </a:extLst>
          </p:cNvPr>
          <p:cNvSpPr>
            <a:spLocks noGrp="1"/>
          </p:cNvSpPr>
          <p:nvPr/>
        </p:nvSpPr>
        <p:spPr>
          <a:xfrm>
            <a:off x="6000750" y="1962150"/>
            <a:ext cx="542925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72200" y="2795261"/>
            <a:ext cx="5086350" cy="17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21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149D4F-38E9-448E-BDE2-CDA234AEBF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1B5EF2-96C5-47DA-B00C-4B8679C920E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75E0F5-D40C-44A4-878C-5AB81A7FCA7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Boolean masks filter matching values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65C9E61-4C23-44EC-A44A-F8208CA553C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069CF-97B2-432A-9CB4-41495D608AB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AEEFEF-FB95-4DF8-87B7-F7FD3E63AFDB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5810250" cy="2952750"/>
          </a:xfrm>
          <a:prstGeom prst="roundRect">
            <a:avLst>
              <a:gd name="adj" fmla="val 4516"/>
            </a:avLst>
          </a:prstGeom>
          <a:solidFill>
            <a:srgbClr val="E9EEF2"/>
          </a:solidFill>
          <a:ln w="9525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E89CB-F8BC-4B4A-9A29-67A25571F896}"/>
              </a:ext>
            </a:extLst>
          </p:cNvPr>
          <p:cNvSpPr>
            <a:spLocks noGrp="1"/>
          </p:cNvSpPr>
          <p:nvPr/>
        </p:nvSpPr>
        <p:spPr>
          <a:xfrm>
            <a:off x="971550" y="2228850"/>
            <a:ext cx="5353050" cy="2533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scores = </a:t>
            </a:r>
            <a:r>
              <a:rPr sz="1650" b="0" dirty="0" err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np.array</a:t>
            </a:r>
            <a:r>
              <a:rPr sz="1650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([52, 57, 63, 68, 74, 79])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mask = scores &gt;= 70</a:t>
            </a:r>
          </a:p>
          <a:p>
            <a:endParaRPr sz="1650" b="0" dirty="0">
              <a:solidFill>
                <a:srgbClr val="132A3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print(mask)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print(scores[mask])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DA27C-BB5F-4387-A6AE-480244E268F8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D0CD4-A694-4626-8515-645B35BF7161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36195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[False False False False  True  True]</a:t>
            </a:r>
          </a:p>
          <a:p>
            <a:endParaRPr sz="1875" b="0" dirty="0">
              <a:solidFill>
                <a:srgbClr val="132A3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[74 79]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284AC-3183-4720-B2F5-6958650BE1D2}"/>
              </a:ext>
            </a:extLst>
          </p:cNvPr>
          <p:cNvSpPr>
            <a:spLocks noGrp="1"/>
          </p:cNvSpPr>
          <p:nvPr/>
        </p:nvSpPr>
        <p:spPr>
          <a:xfrm>
            <a:off x="7239000" y="4572000"/>
            <a:ext cx="381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Pair task: change the condition to select scores below 65.</a:t>
            </a:r>
          </a:p>
        </p:txBody>
      </p:sp>
    </p:spTree>
    <p:extLst>
      <p:ext uri="{BB962C8B-B14F-4D97-AF65-F5344CB8AC3E}">
        <p14:creationId xmlns:p14="http://schemas.microsoft.com/office/powerpoint/2010/main" val="1374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9341FE-5170-46F4-AA9E-5D87AF7E23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55DC2F-97BE-453A-B355-931985FE39D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945A4-FB0B-469D-ACD3-A4D790EAA5D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Three model lines make a prediction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419146-7B5D-4884-8BA8-87F676A96AE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C3D6A-3665-4CB6-ADAD-C3B797CE71B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A7AA67-DC61-48F7-9373-42EF66DA0233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6191250" cy="3143250"/>
          </a:xfrm>
          <a:prstGeom prst="roundRect">
            <a:avLst>
              <a:gd name="adj" fmla="val 4242"/>
            </a:avLst>
          </a:prstGeom>
          <a:solidFill>
            <a:srgbClr val="E9EEF2"/>
          </a:solidFill>
          <a:ln w="9525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71CEC3-0181-4C04-9194-92028C70137D}"/>
              </a:ext>
            </a:extLst>
          </p:cNvPr>
          <p:cNvSpPr>
            <a:spLocks noGrp="1"/>
          </p:cNvSpPr>
          <p:nvPr/>
        </p:nvSpPr>
        <p:spPr>
          <a:xfrm>
            <a:off x="971550" y="2209800"/>
            <a:ext cx="57340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model = KNeighborsClassifier(n_neighbors=3)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model.fit(songs, moods)</a:t>
            </a:r>
          </a:p>
          <a:p>
            <a:pPr algn="l">
              <a:def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model.predict([[6, 7]])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23CBEA-2B64-4E3A-A229-5958492DC792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626AA-F504-425B-ADD7-C3557A2F7688}"/>
              </a:ext>
            </a:extLst>
          </p:cNvPr>
          <p:cNvSpPr>
            <a:spLocks noGrp="1"/>
          </p:cNvSpPr>
          <p:nvPr/>
        </p:nvSpPr>
        <p:spPr>
          <a:xfrm>
            <a:off x="7524750" y="2724150"/>
            <a:ext cx="3429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energetic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5B602-D062-4AAD-9032-9D8AA41905F4}"/>
              </a:ext>
            </a:extLst>
          </p:cNvPr>
          <p:cNvSpPr>
            <a:spLocks noGrp="1"/>
          </p:cNvSpPr>
          <p:nvPr/>
        </p:nvSpPr>
        <p:spPr>
          <a:xfrm>
            <a:off x="7524750" y="3714750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library handles the distance calculations. You provide examples and ask a question.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819B2C-9D36-4242-8227-FD11605192BB}"/>
              </a:ext>
            </a:extLst>
          </p:cNvPr>
          <p:cNvSpPr>
            <a:spLocks noGrp="1"/>
          </p:cNvSpPr>
          <p:nvPr/>
        </p:nvSpPr>
        <p:spPr>
          <a:xfrm>
            <a:off x="1733550" y="554355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endParaRPr sz="2025" b="1" dirty="0">
              <a:solidFill>
                <a:srgbClr val="147D88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8709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30F2D9-E960-4C0C-BCB3-B1560F885F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B01F7C-8D7F-4137-93F9-4449A8288F4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E5190-54E6-4ECC-BFC1-86B2D65EAB2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Exit ticket and take-home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ACFDBAC-B797-482A-ADC6-657FE2505F5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75A02-14F2-4938-9035-FF1BF0D324B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D1326F-4DB0-47FA-A091-0B8DCE7A3B93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Before leaving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326D9-C6FF-49CF-9DAE-BC1177149F69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Define AI and machine learning in one sentence each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Explain what the shape (2, 3) means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Describe why nearby examples can guide a song-mood 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DCF42-83AA-43F5-B5CD-BF8F4F43AE26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Take-home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4CC20A-1B84-4CFE-9FE9-0142541D4F7F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42862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Finish the Array Explorer notebook. Submit the graph and reflection. Include the song prediction as a bonus result.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BB9AD-E770-41A3-BA71-16CE00570119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Notebook: notebooks/week-01-array-explorer.ipynb</a:t>
            </a:r>
          </a:p>
        </p:txBody>
      </p:sp>
    </p:spTree>
    <p:extLst>
      <p:ext uri="{BB962C8B-B14F-4D97-AF65-F5344CB8AC3E}">
        <p14:creationId xmlns:p14="http://schemas.microsoft.com/office/powerpoint/2010/main" val="1374926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E81B-7B9B-9471-5309-5EAD201D8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56BDF20-F1BA-F393-EE1B-2F509954F6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21DBF-0637-2C0C-6E9F-D8F25B38093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554B3F-10F2-D9CC-F9B8-84695BDFC7E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15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Attendance!</a:t>
            </a:r>
            <a:endParaRPr sz="3150" b="1" dirty="0">
              <a:solidFill>
                <a:srgbClr val="132A3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69C0BFA-FEA4-F7BA-C4A3-19B4561C879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A49465-9571-0E4E-680B-86E2F3ABBC8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13" name="Picture 12" descr="A qr code with a dinosaur&#10;&#10;AI-generated content may be incorrect.">
            <a:extLst>
              <a:ext uri="{FF2B5EF4-FFF2-40B4-BE49-F238E27FC236}">
                <a16:creationId xmlns:a16="http://schemas.microsoft.com/office/drawing/2014/main" id="{95383789-3F18-3EA5-0609-D290E141D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963" y="1884829"/>
            <a:ext cx="4249271" cy="424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220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</TotalTime>
  <Words>1629</Words>
  <Application>Microsoft Macintosh PowerPoint</Application>
  <DocSecurity>0</DocSecurity>
  <PresentationFormat>Widescreen</PresentationFormat>
  <Paragraphs>193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Girgis, John</cp:lastModifiedBy>
  <cp:revision>3</cp:revision>
  <dcterms:created xsi:type="dcterms:W3CDTF">2026-09-21T17:17:47Z</dcterms:created>
  <dcterms:modified xsi:type="dcterms:W3CDTF">2026-09-23T01:24:54Z</dcterms:modified>
</cp:coreProperties>
</file>
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1e7cf90999a4b1b" /><Relationship Type="http://schemas.openxmlformats.org/officeDocument/2006/relationships/extended-properties" Target="/docProps/app.xml" Id="R979d348abe2d4b69" /><Relationship Type="http://schemas.openxmlformats.org/officeDocument/2006/relationships/officeDocument" Target="/ppt/presentation.xml" Id="R64708d0c52ae422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0d596e902bd4236"/>
  </p:sldMasterIdLst>
  <p:notesMasterIdLst>
    <p:notesMasterId xmlns:r="http://schemas.openxmlformats.org/officeDocument/2006/relationships" r:id="R61f138ccf6fe4b2f"/>
  </p:notesMasterIdLst>
  <p:sldIdLst>
    <p:sldId xmlns:r="http://schemas.openxmlformats.org/officeDocument/2006/relationships" id="256" r:id="R22d6bba3975c4ba0"/>
    <p:sldId xmlns:r="http://schemas.openxmlformats.org/officeDocument/2006/relationships" id="257" r:id="R2cf545c2a7824e4a"/>
    <p:sldId xmlns:r="http://schemas.openxmlformats.org/officeDocument/2006/relationships" id="258" r:id="R7613684f94e54e4b"/>
    <p:sldId xmlns:r="http://schemas.openxmlformats.org/officeDocument/2006/relationships" id="259" r:id="R3e59d87599d04ed6"/>
    <p:sldId xmlns:r="http://schemas.openxmlformats.org/officeDocument/2006/relationships" id="260" r:id="Rdd94284f31854d9b"/>
    <p:sldId xmlns:r="http://schemas.openxmlformats.org/officeDocument/2006/relationships" id="261" r:id="R5db4141b325c4468"/>
    <p:sldId xmlns:r="http://schemas.openxmlformats.org/officeDocument/2006/relationships" id="262" r:id="R55a67f4fdd4f48e7"/>
    <p:sldId xmlns:r="http://schemas.openxmlformats.org/officeDocument/2006/relationships" id="263" r:id="Ra20ea64d18bd4657"/>
    <p:sldId xmlns:r="http://schemas.openxmlformats.org/officeDocument/2006/relationships" id="264" r:id="R1692d40587ec4538"/>
    <p:sldId xmlns:r="http://schemas.openxmlformats.org/officeDocument/2006/relationships" id="265" r:id="Rcaade048a80a43b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38ccfff3ec941d5" /><Relationship Type="http://schemas.openxmlformats.org/officeDocument/2006/relationships/slideMaster" Target="/ppt/slideMasters/slideMaster1.xml" Id="R10d596e902bd4236" /><Relationship Type="http://schemas.openxmlformats.org/officeDocument/2006/relationships/notesMaster" Target="/ppt/notesMasters/notesMaster1.xml" Id="R61f138ccf6fe4b2f" /><Relationship Type="http://schemas.openxmlformats.org/officeDocument/2006/relationships/presProps" Target="/ppt/presProps.xml" Id="R8780acc329e34669" /><Relationship Type="http://schemas.openxmlformats.org/officeDocument/2006/relationships/tableStyles" Target="/ppt/tableStyles.xml" Id="R6b5f45e08c404f63" /><Relationship Type="http://schemas.openxmlformats.org/officeDocument/2006/relationships/slide" Target="/ppt/slides/slide1.xml" Id="R22d6bba3975c4ba0" /><Relationship Type="http://schemas.openxmlformats.org/officeDocument/2006/relationships/slide" Target="/ppt/slides/slide2.xml" Id="R2cf545c2a7824e4a" /><Relationship Type="http://schemas.openxmlformats.org/officeDocument/2006/relationships/slide" Target="/ppt/slides/slide3.xml" Id="R7613684f94e54e4b" /><Relationship Type="http://schemas.openxmlformats.org/officeDocument/2006/relationships/slide" Target="/ppt/slides/slide4.xml" Id="R3e59d87599d04ed6" /><Relationship Type="http://schemas.openxmlformats.org/officeDocument/2006/relationships/slide" Target="/ppt/slides/slide5.xml" Id="Rdd94284f31854d9b" /><Relationship Type="http://schemas.openxmlformats.org/officeDocument/2006/relationships/slide" Target="/ppt/slides/slide6.xml" Id="R5db4141b325c4468" /><Relationship Type="http://schemas.openxmlformats.org/officeDocument/2006/relationships/slide" Target="/ppt/slides/slide7.xml" Id="R55a67f4fdd4f48e7" /><Relationship Type="http://schemas.openxmlformats.org/officeDocument/2006/relationships/slide" Target="/ppt/slides/slide8.xml" Id="Ra20ea64d18bd4657" /><Relationship Type="http://schemas.openxmlformats.org/officeDocument/2006/relationships/slide" Target="/ppt/slides/slide9.xml" Id="R1692d40587ec4538" /><Relationship Type="http://schemas.openxmlformats.org/officeDocument/2006/relationships/slide" Target="/ppt/slides/slide10.xml" Id="Rcaade048a80a43b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95df3f07d99412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87f3ac3a8d04997" /><Relationship Type="http://schemas.openxmlformats.org/officeDocument/2006/relationships/notesMaster" Target="/ppt/notesMasters/notesMaster1.xml" Id="R1c04d1b681e94d1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9e56b69cfeb4148" /><Relationship Type="http://schemas.openxmlformats.org/officeDocument/2006/relationships/notesMaster" Target="/ppt/notesMasters/notesMaster1.xml" Id="R2827576c0ce14c2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73c3ba2c0de4f79" /><Relationship Type="http://schemas.openxmlformats.org/officeDocument/2006/relationships/notesMaster" Target="/ppt/notesMasters/notesMaster1.xml" Id="R26ba778b2d47444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e0139de2d1444a0" /><Relationship Type="http://schemas.openxmlformats.org/officeDocument/2006/relationships/notesMaster" Target="/ppt/notesMasters/notesMaster1.xml" Id="Raee6218cdfee471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db67513505d4f6b" /><Relationship Type="http://schemas.openxmlformats.org/officeDocument/2006/relationships/notesMaster" Target="/ppt/notesMasters/notesMaster1.xml" Id="R38730c7225eb49f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3e85937eeed4a86" /><Relationship Type="http://schemas.openxmlformats.org/officeDocument/2006/relationships/notesMaster" Target="/ppt/notesMasters/notesMaster1.xml" Id="Rf0f7eff4cebb450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c1f7b7cdf6f427c" /><Relationship Type="http://schemas.openxmlformats.org/officeDocument/2006/relationships/notesMaster" Target="/ppt/notesMasters/notesMaster1.xml" Id="R26e9de9074e94df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6251fa275ce4b1c" /><Relationship Type="http://schemas.openxmlformats.org/officeDocument/2006/relationships/notesMaster" Target="/ppt/notesMasters/notesMaster1.xml" Id="Rdd6624cafaf64cd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b357b5eb71043c1" /><Relationship Type="http://schemas.openxmlformats.org/officeDocument/2006/relationships/notesMaster" Target="/ppt/notesMasters/notesMaster1.xml" Id="R9a32689f136d479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7c42498192d425a" /><Relationship Type="http://schemas.openxmlformats.org/officeDocument/2006/relationships/notesMaster" Target="/ppt/notesMasters/notesMaster1.xml" Id="Rad0e6592080f4ae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d577d92d9940e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e4e1000845498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c3202ad083487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71d76da41943d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28244a82564b8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9bf9af933442c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58200E7-4720-4B13-9F88-AF67D91AE0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728CFE6-473C-424B-A42E-2E4BFA3595D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33B55D6-D810-4DFC-8E78-B04B11D17A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C9DB983-B74B-4D88-9FD3-B3DCBB3324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661D9FA-CB3B-49A9-AF28-66B83A16D17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6376CEE-FC47-4D32-9F02-75E9262364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8822C8F-30F8-439A-B5A8-3D2850A903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CF4B65E-1175-4B85-93C5-445D23768B2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8D4CC19-2954-4D3E-932A-B798DCB156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C1B9913-973F-4DD2-A24B-93AFB2493DB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ef35e844463402a" /><Relationship Type="http://schemas.openxmlformats.org/officeDocument/2006/relationships/slideLayout" Target="/ppt/slideLayouts/slideLayout1.xml" Id="Rc846e51bf22e4767" /><Relationship Type="http://schemas.openxmlformats.org/officeDocument/2006/relationships/slideLayout" Target="/ppt/slideLayouts/slideLayout2.xml" Id="R3899d353779b49a4" /><Relationship Type="http://schemas.openxmlformats.org/officeDocument/2006/relationships/slideLayout" Target="/ppt/slideLayouts/slideLayout3.xml" Id="Rb6063505a821424b" /><Relationship Type="http://schemas.openxmlformats.org/officeDocument/2006/relationships/slideLayout" Target="/ppt/slideLayouts/slideLayout4.xml" Id="Rb227cb7843074cc2" /><Relationship Type="http://schemas.openxmlformats.org/officeDocument/2006/relationships/slideLayout" Target="/ppt/slideLayouts/slideLayout5.xml" Id="R4c76e427455d47e7" /><Relationship Type="http://schemas.openxmlformats.org/officeDocument/2006/relationships/slideLayout" Target="/ppt/slideLayouts/slideLayout6.xml" Id="R2d673eda02124fb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846e51bf22e4767"/>
    <p:sldLayoutId xmlns:r="http://schemas.openxmlformats.org/officeDocument/2006/relationships" id="2147483650" r:id="R3899d353779b49a4"/>
    <p:sldLayoutId xmlns:r="http://schemas.openxmlformats.org/officeDocument/2006/relationships" id="2147483651" r:id="Rb6063505a821424b"/>
    <p:sldLayoutId xmlns:r="http://schemas.openxmlformats.org/officeDocument/2006/relationships" id="2147483652" r:id="Rb227cb7843074cc2"/>
    <p:sldLayoutId xmlns:r="http://schemas.openxmlformats.org/officeDocument/2006/relationships" id="2147483653" r:id="R4c76e427455d47e7"/>
    <p:sldLayoutId xmlns:r="http://schemas.openxmlformats.org/officeDocument/2006/relationships" id="2147483654" r:id="R2d673eda02124fb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fa194882e94b3f" /><Relationship Type="http://schemas.openxmlformats.org/officeDocument/2006/relationships/image" Target="/ppt/media/image.png" Id="R20ed2eef12a342d4" /><Relationship Type="http://schemas.openxmlformats.org/officeDocument/2006/relationships/image" Target="/ppt/media/image.svg" Id="R9050e642fb894e66" /><Relationship Type="http://schemas.openxmlformats.org/officeDocument/2006/relationships/notesSlide" Target="/ppt/notesSlides/notesSlide1.xml" Id="R6545111252ab4d2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f97bfe89224786" /><Relationship Type="http://schemas.openxmlformats.org/officeDocument/2006/relationships/notesSlide" Target="/ppt/notesSlides/notesSlide2.xml" Id="Re7f6ca9e3743475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754052091241c7" /><Relationship Type="http://schemas.openxmlformats.org/officeDocument/2006/relationships/notesSlide" Target="/ppt/notesSlides/notesSlide3.xml" Id="R41b5cafed5b6437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806ab214444c85" /><Relationship Type="http://schemas.openxmlformats.org/officeDocument/2006/relationships/notesSlide" Target="/ppt/notesSlides/notesSlide4.xml" Id="R7755c3adc0734b1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5d0cb3b0e24e3f" /><Relationship Type="http://schemas.openxmlformats.org/officeDocument/2006/relationships/notesSlide" Target="/ppt/notesSlides/notesSlide5.xml" Id="R3c70e49d6af9406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daf6eab9964a4c" /><Relationship Type="http://schemas.openxmlformats.org/officeDocument/2006/relationships/notesSlide" Target="/ppt/notesSlides/notesSlide6.xml" Id="R7ec6b425b43d4b7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5c7c1d9e064ba5" /><Relationship Type="http://schemas.openxmlformats.org/officeDocument/2006/relationships/notesSlide" Target="/ppt/notesSlides/notesSlide7.xml" Id="Raa12b172bb894cc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a4c91292f048df" /><Relationship Type="http://schemas.openxmlformats.org/officeDocument/2006/relationships/notesSlide" Target="/ppt/notesSlides/notesSlide8.xml" Id="R53803e8bdd02473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df208560624597" /><Relationship Type="http://schemas.openxmlformats.org/officeDocument/2006/relationships/notesSlide" Target="/ppt/notesSlides/notesSlide9.xml" Id="Re06161b428bd4f2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a4d3bf31844246" /><Relationship Type="http://schemas.openxmlformats.org/officeDocument/2006/relationships/notesSlide" Target="/ppt/notesSlides/notesSlide10.xml" Id="Reb7e362892584b3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32A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660A70-2299-4A9F-B275-66CBA1640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8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040418-AD28-4A58-A30A-510D76B66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0668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78D5D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78D5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78D5D5"/>
                </a:solidFill>
                <a:latin typeface="Helvetica Neue"/>
                <a:ea typeface="Helvetica Neue"/>
                <a:cs typeface="Helvetica Neue"/>
              </a:rPr>
              <a:t>WEEK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9653C6-7BEE-4775-882D-F9882D712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9144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Song Recommendations with Similarity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13B255-F237-4AFA-9C4F-8D33EF445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76650"/>
            <a:ext cx="8096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CFDCE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CFDC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CFDCE5"/>
                </a:solidFill>
                <a:latin typeface="Helvetica Neue"/>
                <a:ea typeface="Helvetica Neue"/>
                <a:cs typeface="Helvetica Neue"/>
              </a:rPr>
              <a:t>Use familiar titles, five audio features, and a short library 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286C7B-8E16-42AE-9931-0CB7F21B0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86300"/>
            <a:ext cx="295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78D5D5"/>
            </a:solidFill>
            <a:prstDash val="solid"/>
          </a:ln>
        </p:spPr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FC3F7E-65B4-4FF8-A4EF-A56EB662E7F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ed2eef12a342d4">
            <a:extLst>
              <a:ext uri="{96DAC541-7B7A-43D3-8B79-37D633B846F1}">
                <asvg:svgBlip xmlns:asvg="http://schemas.microsoft.com/office/drawing/2016/SVG/main" r:embed="R9050e642fb894e6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525000" y="5257800"/>
            <a:ext cx="1809750" cy="7810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0540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1099DD-94DB-46F4-AFD3-617AAEBBF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8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B798B5-AC9A-4B0B-896F-F14544E87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WEEK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541F1F-70F4-4A29-A0A9-8454A1DD2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Today’s finish 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52BC50-EBBB-458E-8AE7-718FB383D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D4D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D423CD-61DE-4974-85C6-F8C13C131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B691B7-7EE8-45C5-8BDD-22EDBD351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Type a song name and receive five nearby songs.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477D6D-5B07-4237-B5FE-A89288067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62250"/>
            <a:ext cx="95250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279400" indent="-127000">
              <a:spcAft>
                <a:spcPts val="1100"/>
              </a:spcAft>
              <a:buChar char="•"/>
              <a:def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Connect familiar song titles to numeric features</a:t>
            </a:r>
          </a:p>
          <a:p xmlns:a="http://schemas.openxmlformats.org/drawingml/2006/main">
            <a:pPr marL="279400" indent="-127000">
              <a:spcAft>
                <a:spcPts val="1100"/>
              </a:spcAft>
              <a:buChar char="•"/>
              <a:def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Use NumPy to collect the values</a:t>
            </a:r>
          </a:p>
          <a:p xmlns:a="http://schemas.openxmlformats.org/drawingml/2006/main">
            <a:pPr marL="279400" indent="-127000">
              <a:spcAft>
                <a:spcPts val="1100"/>
              </a:spcAft>
              <a:buChar char="•"/>
              <a:def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Scale the features and fit NearestNeighbors</a:t>
            </a:r>
          </a:p>
          <a:p xmlns:a="http://schemas.openxmlformats.org/drawingml/2006/main">
            <a:pPr marL="279400" indent="-127000">
              <a:spcAft>
                <a:spcPts val="1100"/>
              </a:spcAft>
              <a:buChar char="•"/>
              <a:def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Judge whether the recommendations make musical sense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71FFA7-78CC-4247-BFD3-DBC404E50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102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Machine learning starts with examples you already understand.</a:t>
            </a:r>
          </a:p>
        </p:txBody>
      </p:sp>
    </p:spTree>
    <p:extLst>
      <p:ext uri="{BB962C8B-B14F-4D97-AF65-F5344CB8AC3E}">
        <p14:creationId xmlns:p14="http://schemas.microsoft.com/office/powerpoint/2010/main" val="11388922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628A20-82D1-42A7-B900-3B54AA940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8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E505D6-57FF-40E2-AB08-B071EAF5D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WEEK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E28B82-FF39-4052-ACA3-DC46135F5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Songs become understandable numbers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47B3E7-564E-4F90-A53B-FF198FAE8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D4D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288E47-BD37-422E-8C5B-777029D35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E6301E-7D46-40F3-9E42-0284C4C0F00C}"/>
              </a:ext>
            </a:extLst>
          </p:cNvPr>
          <p:cNvGraphicFramePr/>
          <p:nvPr/>
        </p:nvGraphicFramePr>
        <p:xfrm>
          <a:off xmlns:a="http://schemas.openxmlformats.org/drawingml/2006/main" x="514350" y="1809750"/>
          <a:ext xmlns:a="http://schemas.openxmlformats.org/drawingml/2006/main" cx="1114425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1428750"/>
                <a:gridCol w="1809750"/>
                <a:gridCol w="1809750"/>
                <a:gridCol w="1714500"/>
                <a:gridCol w="1905000"/>
              </a:tblGrid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12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Song</a:t>
                      </a:r>
                    </a:p>
                  </a:txBody>
                  <a:tcPr marL="91440" marR="91440" marT="45720" marB="45720" anchor="ctr"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BPM</a:t>
                      </a:r>
                    </a:p>
                  </a:txBody>
                  <a:tcPr marL="91440" marR="91440" marT="45720" marB="45720" anchor="ctr"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Danceability</a:t>
                      </a:r>
                    </a:p>
                  </a:txBody>
                  <a:tcPr marL="91440" marR="91440" marT="45720" marB="45720" anchor="ctr"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Valence</a:t>
                      </a:r>
                    </a:p>
                  </a:txBody>
                  <a:tcPr marL="91440" marR="91440" marT="45720" marB="45720" anchor="ctr"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Energy</a:t>
                      </a:r>
                    </a:p>
                  </a:txBody>
                  <a:tcPr marL="91440" marR="91440" marT="45720" marB="45720" anchor="ctr"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Acousticness</a:t>
                      </a:r>
                    </a:p>
                  </a:txBody>
                  <a:tcPr marL="91440" marR="91440" marT="45720" marB="45720" anchor="ctr">
                    <a:solidFill>
                      <a:srgbClr val="132A3A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1275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vampire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138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1275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Cruel Summer</a:t>
                      </a:r>
                    </a:p>
                  </a:txBody>
                  <a:tcPr marL="91440" marR="91440" marT="45720" marB="45720" anchor="ctr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170</a:t>
                      </a:r>
                    </a:p>
                  </a:txBody>
                  <a:tcPr marL="91440" marR="91440" marT="45720" marB="45720" anchor="ctr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55</a:t>
                      </a:r>
                    </a:p>
                  </a:txBody>
                  <a:tcPr marL="91440" marR="91440" marT="45720" marB="45720" anchor="ctr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58</a:t>
                      </a:r>
                    </a:p>
                  </a:txBody>
                  <a:tcPr marL="91440" marR="91440" marT="45720" marB="45720" anchor="ctr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72</a:t>
                      </a:r>
                    </a:p>
                  </a:txBody>
                  <a:tcPr marL="91440" marR="91440" marT="45720" marB="45720" anchor="ctr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EDF2F5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1275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Flowers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118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1275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Seven</a:t>
                      </a:r>
                    </a:p>
                  </a:txBody>
                  <a:tcPr marL="91440" marR="91440" marT="45720" marB="45720" anchor="ctr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125</a:t>
                      </a:r>
                    </a:p>
                  </a:txBody>
                  <a:tcPr marL="91440" marR="91440" marT="45720" marB="45720" anchor="ctr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80</a:t>
                      </a:r>
                    </a:p>
                  </a:txBody>
                  <a:tcPr marL="91440" marR="91440" marT="45720" marB="45720" anchor="ctr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89</a:t>
                      </a:r>
                    </a:p>
                  </a:txBody>
                  <a:tcPr marL="91440" marR="91440" marT="45720" marB="45720" anchor="ctr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83</a:t>
                      </a:r>
                    </a:p>
                  </a:txBody>
                  <a:tcPr marL="91440" marR="91440" marT="45720" marB="45720" anchor="ctr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31</a:t>
                      </a:r>
                    </a:p>
                  </a:txBody>
                  <a:tcPr marL="91440" marR="91440" marT="45720" marB="45720" anchor="ctr">
                    <a:solidFill>
                      <a:srgbClr val="EDF2F5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1E3789-3C33-4F13-8D13-8FCAC459B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48300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20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The title identifies the song. The feature values describe its sound.</a:t>
            </a:r>
          </a:p>
        </p:txBody>
      </p:sp>
    </p:spTree>
    <p:extLst>
      <p:ext uri="{BB962C8B-B14F-4D97-AF65-F5344CB8AC3E}">
        <p14:creationId xmlns:p14="http://schemas.microsoft.com/office/powerpoint/2010/main" val="19428831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E6DB48-D776-4E93-BFB4-641DF7B2D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8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96B5DB-B077-4556-8A11-64A85C5DB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WEEK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4336EF-91CB-4455-8E3B-A67C0CE7C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The feature dictionary defines similarity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0C8C78-242E-4643-9767-FE6953F8F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D4D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EB5742-D9C5-4129-A50F-10B4F34A8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CCB370-7BB1-4D32-985A-2D027C25016C}"/>
              </a:ext>
            </a:extLst>
          </p:cNvPr>
          <p:cNvGraphicFramePr/>
          <p:nvPr/>
        </p:nvGraphicFramePr>
        <p:xfrm>
          <a:off xmlns:a="http://schemas.openxmlformats.org/drawingml/2006/main" x="1000125" y="1752600"/>
          <a:ext xmlns:a="http://schemas.openxmlformats.org/drawingml/2006/main" cx="10096500" cy="3829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4476750"/>
                <a:gridCol w="3048000"/>
              </a:tblGrid>
              <a:tr h="638175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Feature</a:t>
                      </a:r>
                    </a:p>
                  </a:txBody>
                  <a:tcPr marL="91440" marR="91440" marT="45720" marB="45720" anchor="ctr"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Plain-language meaning</a:t>
                      </a:r>
                    </a:p>
                  </a:txBody>
                  <a:tcPr marL="91440" marR="91440" marT="45720" marB="45720" anchor="ctr"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Listen for</a:t>
                      </a:r>
                    </a:p>
                  </a:txBody>
                  <a:tcPr marL="91440" marR="91440" marT="45720" marB="45720" anchor="ctr">
                    <a:solidFill>
                      <a:srgbClr val="132A3A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BPM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Approximate tempo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slow ↔ fast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Danceability</a:t>
                      </a:r>
                    </a:p>
                  </a:txBody>
                  <a:tcPr marL="91440" marR="91440" marT="45720" marB="45720" anchor="ctr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Ease of moving to the track</a:t>
                      </a:r>
                    </a:p>
                  </a:txBody>
                  <a:tcPr marL="91440" marR="91440" marT="45720" marB="45720" anchor="ctr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loose ↔ danceable</a:t>
                      </a:r>
                    </a:p>
                  </a:txBody>
                  <a:tcPr marL="91440" marR="91440" marT="45720" marB="45720" anchor="ctr">
                    <a:solidFill>
                      <a:srgbClr val="EDF2F5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Valence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How positive the mood sounds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dark ↔ bright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Energy</a:t>
                      </a:r>
                    </a:p>
                  </a:txBody>
                  <a:tcPr marL="91440" marR="91440" marT="45720" marB="45720" anchor="ctr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Perceived intensity</a:t>
                      </a:r>
                    </a:p>
                  </a:txBody>
                  <a:tcPr marL="91440" marR="91440" marT="45720" marB="45720" anchor="ctr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calm ↔ intense</a:t>
                      </a:r>
                    </a:p>
                  </a:txBody>
                  <a:tcPr marL="91440" marR="91440" marT="45720" marB="45720" anchor="ctr">
                    <a:solidFill>
                      <a:srgbClr val="EDF2F5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Acousticness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Amount of acoustic character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electronic ↔ acoustic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28534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FAB98B-CFE8-4B43-BA57-A6A86AFFB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8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160BD1-4776-453D-8B84-29DD73F4A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WEEK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3993E1-AEB1-4B9F-A75C-63A2CB4CC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Scaling keeps tempo from dominating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47D3AD-E584-411B-AB38-4675B9EC4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D4D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F5882E-FDA8-46E6-9809-B53B4C143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1481D9-0E07-4D10-89E1-04AE9494F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Before scaling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F5B98F-40AD-4470-9E59-0D0632AA5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4286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BPM can range above 100</a:t>
            </a:r>
          </a:p>
          <a:p xmlns:a="http://schemas.openxmlformats.org/drawingml/2006/main">
            <a:pPr algn="l">
              <a:defRPr sz="21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Other features use 0–100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F4F498-3B05-4AE1-B00F-1204D5E96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67200"/>
            <a:ext cx="4476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Raw distance can overemphasize the feature with the largest numerical spread.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6DB0EC-4935-4F3C-9E68-D6090C77E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981200"/>
            <a:ext cx="0" cy="3352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D4D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6F5F9F-32EB-4164-B19F-DABC43AFD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002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After standardization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B662BB-FC08-43E7-BFD9-6085B14B6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81300"/>
            <a:ext cx="4476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Each feature is centered</a:t>
            </a:r>
          </a:p>
          <a:p xmlns:a="http://schemas.openxmlformats.org/drawingml/2006/main">
            <a:pPr algn="l">
              <a:defRPr sz="21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and given a comparable spread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E82347-701B-48DA-AEE7-D8111C390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67200"/>
            <a:ext cx="4476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Now distance reflects a mix of tempo, mood, energy, rhythm, and acoustic character.</a:t>
            </a:r>
          </a:p>
        </p:txBody>
      </p:sp>
    </p:spTree>
    <p:extLst>
      <p:ext uri="{BB962C8B-B14F-4D97-AF65-F5344CB8AC3E}">
        <p14:creationId xmlns:p14="http://schemas.microsoft.com/office/powerpoint/2010/main" val="20400073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B2D7D6-1EC6-48D0-9321-A8EFEF9F3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8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8587B0-BF7F-4509-A0D1-39F7E31BC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WEEK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8B6EBC-4927-465C-AC62-C2BD97E3F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The library model needs three steps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70B0E8-070A-4EF1-A594-E7FBC1E3F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D4D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A5E6FF-9925-4365-A1A6-14F80BC25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B88772-6C04-4085-82AA-8E2DC78DC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2369344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4DE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Select five columns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CA594D-C81E-4EB8-A772-25ED89824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3294" y="2362200"/>
            <a:ext cx="2369344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4DE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Scale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D6D96D-71BB-4704-8EA3-A93E8F146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638" y="2362200"/>
            <a:ext cx="2369344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4DE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Fit neighbors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4C3121-7DC2-4489-8595-C1C80E046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3981" y="2362200"/>
            <a:ext cx="2369344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47D88"/>
          </a:solidFill>
          <a:ln xmlns:a="http://schemas.openxmlformats.org/drawingml/2006/main" w="19050">
            <a:solidFill>
              <a:srgbClr val="147D88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Search by title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F97E89-749F-4F1D-9353-B19B8619A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8494" y="2743200"/>
            <a:ext cx="2286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A9AA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4672B6-43DC-445D-8057-829D92FD5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8838" y="2743200"/>
            <a:ext cx="2286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A9AA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B34F77-7D3D-4874-8784-380DD7CC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9181" y="2743200"/>
            <a:ext cx="2286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A9AA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80122E-F364-45D6-8C30-0338D40F1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24815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7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NearestNeighbors finds rows with the smallest distance from the chosen song.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F5FB3D-65F2-418A-9C9F-0A6F4302F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219700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The model is short because the data representation does most of the explaining.</a:t>
            </a:r>
          </a:p>
        </p:txBody>
      </p:sp>
    </p:spTree>
    <p:extLst>
      <p:ext uri="{BB962C8B-B14F-4D97-AF65-F5344CB8AC3E}">
        <p14:creationId xmlns:p14="http://schemas.microsoft.com/office/powerpoint/2010/main" val="10607668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EDE62B-F690-43E1-A750-E8C30D9F2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8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6B6EFE-9851-4406-A6BB-E694E687D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WEEK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9DF57C-9B58-4DDE-828C-90B74DB21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Recommendations for vampire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1294F8-58F9-4ED0-B6AE-C23099523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D4D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853F34-80F4-4C22-810A-E4B622593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29A012-8AB4-49CD-AADE-7F7E893FE238}"/>
              </a:ext>
            </a:extLst>
          </p:cNvPr>
          <p:cNvGraphicFramePr/>
          <p:nvPr/>
        </p:nvGraphicFramePr>
        <p:xfrm>
          <a:off xmlns:a="http://schemas.openxmlformats.org/drawingml/2006/main" x="876300" y="1752600"/>
          <a:ext xmlns:a="http://schemas.openxmlformats.org/drawingml/2006/main" cx="10287000" cy="3762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47750"/>
                <a:gridCol w="4095750"/>
                <a:gridCol w="3143250"/>
                <a:gridCol w="2000250"/>
              </a:tblGrid>
              <a:tr h="627063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Rank</a:t>
                      </a:r>
                    </a:p>
                  </a:txBody>
                  <a:tcPr marL="91440" marR="91440" marT="45720" marB="45720" anchor="ctr"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Song</a:t>
                      </a:r>
                    </a:p>
                  </a:txBody>
                  <a:tcPr marL="91440" marR="91440" marT="45720" marB="45720" anchor="ctr"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Artist</a:t>
                      </a:r>
                    </a:p>
                  </a:txBody>
                  <a:tcPr marL="91440" marR="91440" marT="45720" marB="45720" anchor="ctr">
                    <a:solidFill>
                      <a:srgbClr val="132A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Distance</a:t>
                      </a:r>
                    </a:p>
                  </a:txBody>
                  <a:tcPr marL="91440" marR="91440" marT="45720" marB="45720" anchor="ctr">
                    <a:solidFill>
                      <a:srgbClr val="132A3A"/>
                    </a:solidFill>
                  </a:tcPr>
                </a:tc>
              </a:tr>
              <a:tr h="627063"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Snooze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SZA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0.515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27063"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Satellite</a:t>
                      </a:r>
                    </a:p>
                  </a:txBody>
                  <a:tcPr marL="91440" marR="91440" marT="45720" marB="45720" anchor="ctr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Harry Styles</a:t>
                      </a:r>
                    </a:p>
                  </a:txBody>
                  <a:tcPr marL="91440" marR="91440" marT="45720" marB="45720" anchor="ctr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0.655</a:t>
                      </a:r>
                    </a:p>
                  </a:txBody>
                  <a:tcPr marL="91440" marR="91440" marT="45720" marB="45720" anchor="ctr">
                    <a:solidFill>
                      <a:srgbClr val="EDF2F5"/>
                    </a:solidFill>
                  </a:tcPr>
                </a:tc>
              </a:tr>
              <a:tr h="627063"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Come Back Home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Sofia Carson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0.686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27063"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Viva La Vida</a:t>
                      </a:r>
                    </a:p>
                  </a:txBody>
                  <a:tcPr marL="91440" marR="91440" marT="45720" marB="45720" anchor="ctr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Coldplay</a:t>
                      </a:r>
                    </a:p>
                  </a:txBody>
                  <a:tcPr marL="91440" marR="91440" marT="45720" marB="45720" anchor="ctr">
                    <a:solidFill>
                      <a:srgbClr val="EDF2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0.768</a:t>
                      </a:r>
                    </a:p>
                  </a:txBody>
                  <a:tcPr marL="91440" marR="91440" marT="45720" marB="45720" anchor="ctr">
                    <a:solidFill>
                      <a:srgbClr val="EDF2F5"/>
                    </a:solidFill>
                  </a:tcPr>
                </a:tc>
              </a:tr>
              <a:tr h="627063">
                <a:tc>
                  <a:txBody>
                    <a:bodyPr/>
                    <a:lstStyle/>
                    <a:p>
                      <a:pPr algn="l"/>
                      <a:r>
                        <a:rPr sz="1425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Angel Baby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Troye Sivan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32A3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0.873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9E1EBE-D30C-434B-9FC2-9E6C43175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781675"/>
            <a:ext cx="819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Smaller distance means more similar on the five selected features.</a:t>
            </a:r>
          </a:p>
        </p:txBody>
      </p:sp>
    </p:spTree>
    <p:extLst>
      <p:ext uri="{BB962C8B-B14F-4D97-AF65-F5344CB8AC3E}">
        <p14:creationId xmlns:p14="http://schemas.microsoft.com/office/powerpoint/2010/main" val="100981630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9C6CBE-7E6D-42F2-ABF1-882118E8A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8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1FD1D8-76A8-42A1-B954-0FAEC7EE4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WEEK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554E7D-7E61-48DB-9096-9C34EE299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People still judge recommendation quality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9B3A7B-636C-4E23-AB56-EB3C0A457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D4D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C0EAEC-59BC-42A6-9F99-E5A05EC52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E9CC39-EEE8-41FD-A37F-8A8BC9848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193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The model can measure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FC5538-81CE-4983-87FD-1D32B2995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24150"/>
            <a:ext cx="4476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279400" indent="-127000">
              <a:spcAft>
                <a:spcPts val="1100"/>
              </a:spcAft>
              <a:buChar char="•"/>
              <a:def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Closeness on the chosen features</a:t>
            </a:r>
          </a:p>
          <a:p xmlns:a="http://schemas.openxmlformats.org/drawingml/2006/main">
            <a:pPr marL="279400" indent="-127000">
              <a:spcAft>
                <a:spcPts val="1100"/>
              </a:spcAft>
              <a:buChar char="•"/>
              <a:def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A consistent ranking rule</a:t>
            </a:r>
          </a:p>
          <a:p xmlns:a="http://schemas.openxmlformats.org/drawingml/2006/main">
            <a:pPr marL="279400" indent="-127000">
              <a:spcAft>
                <a:spcPts val="1100"/>
              </a:spcAft>
              <a:buChar char="•"/>
              <a:def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The same query repeated reliably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F26F91-6CAE-4CB7-AAC3-8EAF27CC0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000250"/>
            <a:ext cx="0" cy="3143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D4D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758551-B8FE-4AD2-9B9E-15C040F5B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193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A listener must judge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32A01A-8BA6-4D92-A1D7-578BA55BB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24150"/>
            <a:ext cx="4476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marL="279400" indent="-127000">
              <a:spcAft>
                <a:spcPts val="1100"/>
              </a:spcAft>
              <a:buChar char="•"/>
              <a:def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Whether the list feels musically coherent</a:t>
            </a:r>
          </a:p>
          <a:p xmlns:a="http://schemas.openxmlformats.org/drawingml/2006/main">
            <a:pPr marL="279400" indent="-127000">
              <a:spcAft>
                <a:spcPts val="1100"/>
              </a:spcAft>
              <a:buChar char="•"/>
              <a:def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Which feature may be missing</a:t>
            </a:r>
          </a:p>
          <a:p xmlns:a="http://schemas.openxmlformats.org/drawingml/2006/main">
            <a:pPr marL="279400" indent="-127000">
              <a:spcAft>
                <a:spcPts val="1100"/>
              </a:spcAft>
              <a:buChar char="•"/>
              <a:def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Whether one feature matters too much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DA2CEF-A58C-4CCB-B81F-C30428A56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257800"/>
            <a:ext cx="822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Useful ML combines a repeatable rule with human evaluation.</a:t>
            </a:r>
          </a:p>
        </p:txBody>
      </p:sp>
    </p:spTree>
    <p:extLst>
      <p:ext uri="{BB962C8B-B14F-4D97-AF65-F5344CB8AC3E}">
        <p14:creationId xmlns:p14="http://schemas.microsoft.com/office/powerpoint/2010/main" val="49861228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66988D-F17E-4EA3-B886-5DCE603F9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8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8E9578-EAAB-42CD-A852-A09C58C90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WEEK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AA9859-8653-4BC5-A3C3-F796B44A7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K-means adds broad musical neighborhoods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0C1A33-1416-45A8-A071-143BA1388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D4D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8CBAF1-B938-43E9-B6E2-CA679075D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D42DFE-36C3-44F7-9CDF-2ABC622DC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621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E07A5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E07A5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E07A5F"/>
                </a:solidFill>
                <a:latin typeface="Helvetica Neue"/>
                <a:ea typeface="Helvetica Neue"/>
                <a:cs typeface="Helvetica Neue"/>
              </a:rPr>
              <a:t>Optional depth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905EC7-081D-469F-947E-B23007449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2369344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4DE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Scaled songs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C2A6A4-41E7-4ACE-9F43-396331748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3294" y="2781300"/>
            <a:ext cx="2369344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4DE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Choose 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5CE4CC-F671-422A-BCFE-61BB0CE75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638" y="2781300"/>
            <a:ext cx="2369344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4DE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Fit clusters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FF21B3-33F1-45E7-A481-FB24C9FC0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3981" y="2781300"/>
            <a:ext cx="2369344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47D88"/>
          </a:solidFill>
          <a:ln xmlns:a="http://schemas.openxmlformats.org/drawingml/2006/main" w="19050">
            <a:solidFill>
              <a:srgbClr val="147D88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Inspect groups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A0B4B4-F9D2-4CB3-BE7E-B88730944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8494" y="3162300"/>
            <a:ext cx="2286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A9AA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13ABA5-4C13-4AA5-B4D0-33A4B4751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8838" y="3162300"/>
            <a:ext cx="2286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A9AA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BC60F8-4F02-4713-A1D1-380BBD073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9181" y="3162300"/>
            <a:ext cx="2286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A9AA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267AED-7E3E-48F8-9973-06C95B62B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495800"/>
            <a:ext cx="838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7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Use clustering to explore broad groups, not as the main recommender.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AC9FC3-D11D-4660-A3D6-5A4008222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578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Neighbors answer: what is close to this song? Clusters answer: what broad group is this song in?</a:t>
            </a:r>
          </a:p>
        </p:txBody>
      </p:sp>
    </p:spTree>
    <p:extLst>
      <p:ext uri="{BB962C8B-B14F-4D97-AF65-F5344CB8AC3E}">
        <p14:creationId xmlns:p14="http://schemas.microsoft.com/office/powerpoint/2010/main" val="146622948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AEC500-DC49-45F3-9D06-4C42AD0F4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8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0F43DE-A068-4A1E-B647-C885E9A15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WEEK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1140E2-1529-4EB3-BFAC-027B4B2CC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Notebook activity and exit ticket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783191-0DA5-4F67-88BE-37DB13982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D4D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7BEDAB-1045-48F7-B9B8-9B4C68F2F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515F97-8AD0-40D0-AAE3-E65AFDF2E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47900"/>
            <a:ext cx="2369344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4DE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Pick a seed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E27297-1A15-440F-BE08-8FCE96169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3294" y="2247900"/>
            <a:ext cx="2369344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4DE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Read its numbers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EF7B82-616B-4D20-B765-22B9BDAAB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638" y="2247900"/>
            <a:ext cx="2369344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4DE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Get five neighbors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34BB04-D6EB-4364-945D-76E76E469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3981" y="2247900"/>
            <a:ext cx="2369344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47D88"/>
          </a:solidFill>
          <a:ln xmlns:a="http://schemas.openxmlformats.org/drawingml/2006/main" w="19050">
            <a:solidFill>
              <a:srgbClr val="147D88"/>
            </a:solidFill>
            <a:prstDash val="solid"/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Judge the list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B4E1A7-9C45-4D30-A272-5E86EAA91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8494" y="2628900"/>
            <a:ext cx="2286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A9AA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C6DCEC-D985-4D03-B2B4-41CA9480E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8838" y="2628900"/>
            <a:ext cx="2286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A9AA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16655E-F491-4363-B495-2BE7A8BD3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9181" y="2628900"/>
            <a:ext cx="2286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A9AA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0C714E-C752-4CEE-9DE8-8DB80BEEF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2100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Exit ticket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686109-0D3B-47B9-B02C-760F3140E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210050"/>
            <a:ext cx="6572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Name one recommendation that fits and one feature you would add or remove.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DA9AE8-BB60-4041-A155-E35FE0F57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60070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57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Notebook: notebooks/week-05-song-recommender.ipynb</a:t>
            </a:r>
          </a:p>
        </p:txBody>
      </p:sp>
    </p:spTree>
    <p:extLst>
      <p:ext uri="{BB962C8B-B14F-4D97-AF65-F5344CB8AC3E}">
        <p14:creationId xmlns:p14="http://schemas.microsoft.com/office/powerpoint/2010/main" val="14049848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2026-10-11T18:33:39.1380000Z</dcterms:created>
  <dcterms:modified xsi:type="dcterms:W3CDTF">2026-10-11T18:33:39.1380000Z</dcterms:modified>
</coreProperties>
</file>
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d4a0035e694f68" /><Relationship Type="http://schemas.openxmlformats.org/officeDocument/2006/relationships/extended-properties" Target="/docProps/app.xml" Id="Rf9ff4498116e4c70" /><Relationship Type="http://schemas.openxmlformats.org/officeDocument/2006/relationships/officeDocument" Target="/ppt/presentation.xml" Id="R62a2b54850f542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2e22e17e4a4d78"/>
  </p:sldMasterIdLst>
  <p:notesMasterIdLst>
    <p:notesMasterId xmlns:r="http://schemas.openxmlformats.org/officeDocument/2006/relationships" r:id="Ra3186701e2664eb8"/>
  </p:notesMasterIdLst>
  <p:sldIdLst>
    <p:sldId xmlns:r="http://schemas.openxmlformats.org/officeDocument/2006/relationships" id="256" r:id="R1104a6f687bf40e1"/>
    <p:sldId xmlns:r="http://schemas.openxmlformats.org/officeDocument/2006/relationships" id="257" r:id="Rd91dd445601c473a"/>
    <p:sldId xmlns:r="http://schemas.openxmlformats.org/officeDocument/2006/relationships" id="258" r:id="Rec36e3dc90834de4"/>
    <p:sldId xmlns:r="http://schemas.openxmlformats.org/officeDocument/2006/relationships" id="259" r:id="Re9ded4d4eead4e0a"/>
    <p:sldId xmlns:r="http://schemas.openxmlformats.org/officeDocument/2006/relationships" id="260" r:id="R25adc224e7a946f2"/>
    <p:sldId xmlns:r="http://schemas.openxmlformats.org/officeDocument/2006/relationships" id="261" r:id="R507619928221410d"/>
    <p:sldId xmlns:r="http://schemas.openxmlformats.org/officeDocument/2006/relationships" id="262" r:id="R4620d9cb46304d5c"/>
    <p:sldId xmlns:r="http://schemas.openxmlformats.org/officeDocument/2006/relationships" id="263" r:id="Re3dbe72bd9ff429d"/>
    <p:sldId xmlns:r="http://schemas.openxmlformats.org/officeDocument/2006/relationships" id="264" r:id="R6ef83961747340ac"/>
    <p:sldId xmlns:r="http://schemas.openxmlformats.org/officeDocument/2006/relationships" id="265" r:id="R036f97fda84b40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f883ca83c94c9f" /><Relationship Type="http://schemas.openxmlformats.org/officeDocument/2006/relationships/slideMaster" Target="/ppt/slideMasters/slideMaster1.xml" Id="R632e22e17e4a4d78" /><Relationship Type="http://schemas.openxmlformats.org/officeDocument/2006/relationships/notesMaster" Target="/ppt/notesMasters/notesMaster1.xml" Id="Ra3186701e2664eb8" /><Relationship Type="http://schemas.openxmlformats.org/officeDocument/2006/relationships/presProps" Target="/ppt/presProps.xml" Id="R18b48e35600a4220" /><Relationship Type="http://schemas.openxmlformats.org/officeDocument/2006/relationships/tableStyles" Target="/ppt/tableStyles.xml" Id="Rec4523f891ab4792" /><Relationship Type="http://schemas.openxmlformats.org/officeDocument/2006/relationships/slide" Target="/ppt/slides/slide1.xml" Id="R1104a6f687bf40e1" /><Relationship Type="http://schemas.openxmlformats.org/officeDocument/2006/relationships/slide" Target="/ppt/slides/slide2.xml" Id="Rd91dd445601c473a" /><Relationship Type="http://schemas.openxmlformats.org/officeDocument/2006/relationships/slide" Target="/ppt/slides/slide3.xml" Id="Rec36e3dc90834de4" /><Relationship Type="http://schemas.openxmlformats.org/officeDocument/2006/relationships/slide" Target="/ppt/slides/slide4.xml" Id="Re9ded4d4eead4e0a" /><Relationship Type="http://schemas.openxmlformats.org/officeDocument/2006/relationships/slide" Target="/ppt/slides/slide5.xml" Id="R25adc224e7a946f2" /><Relationship Type="http://schemas.openxmlformats.org/officeDocument/2006/relationships/slide" Target="/ppt/slides/slide6.xml" Id="R507619928221410d" /><Relationship Type="http://schemas.openxmlformats.org/officeDocument/2006/relationships/slide" Target="/ppt/slides/slide7.xml" Id="R4620d9cb46304d5c" /><Relationship Type="http://schemas.openxmlformats.org/officeDocument/2006/relationships/slide" Target="/ppt/slides/slide8.xml" Id="Re3dbe72bd9ff429d" /><Relationship Type="http://schemas.openxmlformats.org/officeDocument/2006/relationships/slide" Target="/ppt/slides/slide9.xml" Id="R6ef83961747340ac" /><Relationship Type="http://schemas.openxmlformats.org/officeDocument/2006/relationships/slide" Target="/ppt/slides/slide10.xml" Id="R036f97fda84b40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3f475b9ec84a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9ff7226e694ac0" /><Relationship Type="http://schemas.openxmlformats.org/officeDocument/2006/relationships/notesMaster" Target="/ppt/notesMasters/notesMaster1.xml" Id="Rdc7f3359d7ff4a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1565eaac714cad" /><Relationship Type="http://schemas.openxmlformats.org/officeDocument/2006/relationships/notesMaster" Target="/ppt/notesMasters/notesMaster1.xml" Id="Rd813c87f3b8a47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06c399167c43ac" /><Relationship Type="http://schemas.openxmlformats.org/officeDocument/2006/relationships/notesMaster" Target="/ppt/notesMasters/notesMaster1.xml" Id="R7f6808f8ef114b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de0e5c7ce242a4" /><Relationship Type="http://schemas.openxmlformats.org/officeDocument/2006/relationships/notesMaster" Target="/ppt/notesMasters/notesMaster1.xml" Id="R7a426e42df0748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bade2a09854288" /><Relationship Type="http://schemas.openxmlformats.org/officeDocument/2006/relationships/notesMaster" Target="/ppt/notesMasters/notesMaster1.xml" Id="R4dfa2435b82645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6109b778994b25" /><Relationship Type="http://schemas.openxmlformats.org/officeDocument/2006/relationships/notesMaster" Target="/ppt/notesMasters/notesMaster1.xml" Id="R07dd6ac43b4c41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bc7c25179b4de7" /><Relationship Type="http://schemas.openxmlformats.org/officeDocument/2006/relationships/notesMaster" Target="/ppt/notesMasters/notesMaster1.xml" Id="Re1e8f8f0ad1e4d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ccf985a4264dec" /><Relationship Type="http://schemas.openxmlformats.org/officeDocument/2006/relationships/notesMaster" Target="/ppt/notesMasters/notesMaster1.xml" Id="R1c358993a9844a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17f56818414433" /><Relationship Type="http://schemas.openxmlformats.org/officeDocument/2006/relationships/notesMaster" Target="/ppt/notesMasters/notesMaster1.xml" Id="R5c1b762c97ab4f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e19fe04d454ebf" /><Relationship Type="http://schemas.openxmlformats.org/officeDocument/2006/relationships/notesMaster" Target="/ppt/notesMasters/notesMaster1.xml" Id="R15e17098ad7f4b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ae6ddaf924f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5834a5237f40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15b01fb8342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d34a08bc643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836562b094e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22e4d5e9244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14432D-B914-44D0-9316-FEC335EB27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42ED64-4229-4F36-8330-27E81AEFB2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1B858D2-1E67-4478-A8BE-53811EFDFC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E37696-60FA-4788-81E6-03984E7D0C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BD3084-FFC0-4A4A-80A0-0C70CD8739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268456-57CD-4165-A2B2-C0A08CD58F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EF09B5-AF22-4F6F-8D24-11D83E5BC2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66EF95-0DEE-4504-881A-3616FAEB95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51B5AA-5C5F-42DE-B304-630FE9BE33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A60B6E-73DD-4BD6-929D-A30858D511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5dff35bfd844e3" /><Relationship Type="http://schemas.openxmlformats.org/officeDocument/2006/relationships/slideLayout" Target="/ppt/slideLayouts/slideLayout1.xml" Id="R3a4d43bfb2d64100" /><Relationship Type="http://schemas.openxmlformats.org/officeDocument/2006/relationships/slideLayout" Target="/ppt/slideLayouts/slideLayout2.xml" Id="R44703d0552704491" /><Relationship Type="http://schemas.openxmlformats.org/officeDocument/2006/relationships/slideLayout" Target="/ppt/slideLayouts/slideLayout3.xml" Id="R4f5142dce80d48aa" /><Relationship Type="http://schemas.openxmlformats.org/officeDocument/2006/relationships/slideLayout" Target="/ppt/slideLayouts/slideLayout4.xml" Id="Re6aaa1a5dddc40ce" /><Relationship Type="http://schemas.openxmlformats.org/officeDocument/2006/relationships/slideLayout" Target="/ppt/slideLayouts/slideLayout5.xml" Id="R744665d2d4a84ff9" /><Relationship Type="http://schemas.openxmlformats.org/officeDocument/2006/relationships/slideLayout" Target="/ppt/slideLayouts/slideLayout6.xml" Id="R796e1a3537fc4e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4d43bfb2d64100"/>
    <p:sldLayoutId xmlns:r="http://schemas.openxmlformats.org/officeDocument/2006/relationships" id="2147483650" r:id="R44703d0552704491"/>
    <p:sldLayoutId xmlns:r="http://schemas.openxmlformats.org/officeDocument/2006/relationships" id="2147483651" r:id="R4f5142dce80d48aa"/>
    <p:sldLayoutId xmlns:r="http://schemas.openxmlformats.org/officeDocument/2006/relationships" id="2147483652" r:id="Re6aaa1a5dddc40ce"/>
    <p:sldLayoutId xmlns:r="http://schemas.openxmlformats.org/officeDocument/2006/relationships" id="2147483653" r:id="R744665d2d4a84ff9"/>
    <p:sldLayoutId xmlns:r="http://schemas.openxmlformats.org/officeDocument/2006/relationships" id="2147483654" r:id="R796e1a3537fc4e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d337d83fdb4e47" /><Relationship Type="http://schemas.openxmlformats.org/officeDocument/2006/relationships/image" Target="/ppt/media/image.png" Id="R6fb9c1a15c084045" /><Relationship Type="http://schemas.openxmlformats.org/officeDocument/2006/relationships/image" Target="/ppt/media/image.svg" Id="Rb5b561abefb5425d" /><Relationship Type="http://schemas.openxmlformats.org/officeDocument/2006/relationships/notesSlide" Target="/ppt/notesSlides/notesSlide1.xml" Id="Rbb3f2861bf764b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39e9854eaa4b47" /><Relationship Type="http://schemas.openxmlformats.org/officeDocument/2006/relationships/notesSlide" Target="/ppt/notesSlides/notesSlide2.xml" Id="Rb8779dca246341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6d3f9f88844b4f" /><Relationship Type="http://schemas.openxmlformats.org/officeDocument/2006/relationships/notesSlide" Target="/ppt/notesSlides/notesSlide3.xml" Id="Re3f935ddb29d48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513b48959b4917" /><Relationship Type="http://schemas.openxmlformats.org/officeDocument/2006/relationships/notesSlide" Target="/ppt/notesSlides/notesSlide4.xml" Id="Rb58039eb59cb4b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380219c382475d" /><Relationship Type="http://schemas.openxmlformats.org/officeDocument/2006/relationships/notesSlide" Target="/ppt/notesSlides/notesSlide5.xml" Id="R6f2930ef82f94e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eafe1fe6b3470b" /><Relationship Type="http://schemas.openxmlformats.org/officeDocument/2006/relationships/notesSlide" Target="/ppt/notesSlides/notesSlide6.xml" Id="Rabc427a3f2a546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d93c80e3474123" /><Relationship Type="http://schemas.openxmlformats.org/officeDocument/2006/relationships/notesSlide" Target="/ppt/notesSlides/notesSlide7.xml" Id="Rdd780ca78ab248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5a92fa93942ff" /><Relationship Type="http://schemas.openxmlformats.org/officeDocument/2006/relationships/notesSlide" Target="/ppt/notesSlides/notesSlide8.xml" Id="Ra08c2ab47bf441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77c0a7b13642c5" /><Relationship Type="http://schemas.openxmlformats.org/officeDocument/2006/relationships/notesSlide" Target="/ppt/notesSlides/notesSlide9.xml" Id="R80d0f100ffa84c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011354f51f4e03" /><Relationship Type="http://schemas.openxmlformats.org/officeDocument/2006/relationships/notesSlide" Target="/ppt/notesSlides/notesSlide10.xml" Id="Re97535ce7afa44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396ED-0582-4AF5-991C-D399589E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C9F8E-C81C-4CB7-8214-C0D10600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rPr>
              <a:t>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F2569-5837-4479-B538-B6C07C7A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914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Neural Networks and Handwritten Digits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B93B9-88EB-427E-9EA2-FCED2D00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809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Train one small network, inspect its errors, and compare a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DECD4-5FEC-4806-88CC-77FE527F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5D5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FE487-701B-4011-B693-779F9DA7EB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9c1a15c084045">
            <a:extLst>
              <a:ext uri="{96DAC541-7B7A-43D3-8B79-37D633B846F1}">
                <asvg:svgBlip xmlns:asvg="http://schemas.microsoft.com/office/drawing/2016/SVG/main" r:embed="Rb5b561abefb542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0" y="5257800"/>
            <a:ext cx="1809750" cy="78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14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2BC1D-A885-47DF-8BB3-08D937BE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3EADA-0F96-423B-8EDE-DEE2F72E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6D5E1-4A83-4E76-A034-4003C936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Today’s finish 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19E36-210E-4721-8060-5F422AEB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F687F-78EC-49A5-A0DF-8EE6B782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8AF67-1D16-4ADF-B153-47689521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Train a library model that recognizes 8×8 handwritten digits.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79290-2F0E-486D-89DB-4846D6A1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971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See how an image becomes 64 input values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Use one hidden layer with 32 units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Compare the network with a linear baseline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Inspect the loss curve, confusion matrix, and real mistakes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90314-7A65-4A01-9203-9DA4B95E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The goal is not neural-network math. It is learning to inspect a model.</a:t>
            </a:r>
          </a:p>
        </p:txBody>
      </p:sp>
    </p:spTree>
    <p:extLst>
      <p:ext uri="{BB962C8B-B14F-4D97-AF65-F5344CB8AC3E}">
        <p14:creationId xmlns:p14="http://schemas.microsoft.com/office/powerpoint/2010/main" val="2579463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A33C7-3151-4265-A7BD-AF05C5E0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01A95-00F9-4BC9-A41F-74629D68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29A2C-B62D-4301-B3D0-9C33C683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One image becomes 64 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81C88-C91C-4252-811E-BBE3F7D9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2F183-D843-4182-B741-4C339284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64340-E1BB-4CBE-85B0-8765A2594654}"/>
              </a:ext>
            </a:extLst>
          </p:cNvPr>
          <p:cNvGraphicFramePr/>
          <p:nvPr/>
        </p:nvGraphicFramePr>
        <p:xfrm>
          <a:off xmlns:a="http://schemas.openxmlformats.org/drawingml/2006/main" x="1009650" y="19526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</a:tblGrid>
              <a:tr h="47625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272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272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272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6161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6161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9A9A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3636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A9A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49B07-B258-4221-A434-6B9CC69D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33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8 rows × 8 columns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903E1-1CE7-45C4-BEB2-DFE8104D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4476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Each square stores a brightness value from 0 to 16.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67EDC-2925-4B93-B5EC-D654DC9B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71950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Flatten the grid into 64 numbers so the model can read it.</a:t>
            </a:r>
          </a:p>
        </p:txBody>
      </p:sp>
    </p:spTree>
    <p:extLst>
      <p:ext uri="{BB962C8B-B14F-4D97-AF65-F5344CB8AC3E}">
        <p14:creationId xmlns:p14="http://schemas.microsoft.com/office/powerpoint/2010/main" val="409858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F28AF-B425-47D3-9FFF-F371193C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BE17C-61F4-4B95-816A-84FE91AB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AE974-46E3-44B6-BD17-B2D1A440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Hidden layers combine pixel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E3882-8AC2-4215-840A-510EF79D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9DFB4-0531-44E5-93E2-0B2B1343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98369-4018-4221-9B69-A26CDAD8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64 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EFF92-772F-41A4-A3BA-CFF62159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pixel brightness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9FFA3-9BD6-4360-9847-6F011638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76600"/>
            <a:ext cx="95250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B4E76-0BF9-4143-8255-38CBE0D7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2004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28575">
            <a:solidFill>
              <a:srgbClr val="147D88"/>
            </a:solidFill>
            <a:prstDash val="solid"/>
          </a:ln>
        </p:spPr>
        <p:txBody>
          <a:bodyPr xmlns:a="http://schemas.openxmlformats.org/drawingml/2006/main" lIns="171450" tIns="171450" rIns="171450" bIns="1714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32 hidden units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Combine small pixel patterns</a:t>
            </a:r>
          </a:p>
          <a:p xmlns:a="http://schemas.openxmlformats.org/drawingml/2006/main">
            <a: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into useful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6328C-8E73-4E34-B2B2-8B88B634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76600"/>
            <a:ext cx="95250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BF918-0385-44CC-BD85-C0BC862B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10 outputs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26064-2B52-4A47-8ED4-F75CE5D7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one score for each digit</a:t>
            </a:r>
          </a:p>
          <a:p xmlns:a="http://schemas.openxmlformats.org/drawingml/2006/main">
            <a:pPr algn="ctr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0 through 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2CA99-D257-4C0A-B04D-AEAAA9A6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Training adjusts the connections so the correct digit receives the strongest score.</a:t>
            </a:r>
          </a:p>
        </p:txBody>
      </p:sp>
    </p:spTree>
    <p:extLst>
      <p:ext uri="{BB962C8B-B14F-4D97-AF65-F5344CB8AC3E}">
        <p14:creationId xmlns:p14="http://schemas.microsoft.com/office/powerpoint/2010/main" val="2102514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5A162-45F4-49CE-96C8-429D6CD9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1D42D-FAD2-4547-ABBF-B86D9337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90748-9A5E-4CE2-A7D8-6A985406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library handles the training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C2AB2-DEF7-40CF-9C9B-6827C553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4A769-7DD1-40CF-9898-9CF599B4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D248A-53F2-4C57-AB6E-7F172B8B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network = MLPClassifier(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A87FF-992F-459A-A3BC-AF73399B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289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hidden_layer_sizes=(32,),</a:t>
            </a:r>
          </a:p>
          <a:p xmlns:a="http://schemas.openxmlformats.org/drawingml/2006/main">
            <a: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early_stopping=True,</a:t>
            </a:r>
          </a:p>
          <a:p xmlns:a="http://schemas.openxmlformats.org/drawingml/2006/main">
            <a: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random_state=42</a:t>
            </a:r>
          </a:p>
          <a:p xmlns:a="http://schemas.openxmlformats.org/drawingml/2006/main">
            <a: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05F9D-D22A-4C6D-B049-2F2823F8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network.fit(X_train, y_train)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17D3E-18BF-49A8-A565-6B072BAA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51D76-0B87-4606-B886-6A14FBEC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You choose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789F9-785F-4447-993C-AF2E79A6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3845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The input data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The hidden-layer size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How to evaluate errors</a:t>
            </a:r>
          </a:p>
        </p:txBody>
      </p:sp>
    </p:spTree>
    <p:extLst>
      <p:ext uri="{BB962C8B-B14F-4D97-AF65-F5344CB8AC3E}">
        <p14:creationId xmlns:p14="http://schemas.microsoft.com/office/powerpoint/2010/main" val="4893365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213A4-6DD2-47EE-BC07-11FD887A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DF5D4-FA07-40A3-BA7D-5AB45C16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8CE9B-6B97-4B59-8ECE-F7443F1B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 baseline keeps complexity honest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9284C-66CB-461A-9007-FFBDFF03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D3349-D61E-4E57-AA05-A0B21942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2B514-F1A3-419B-B508-FB974D54AA8E}"/>
              </a:ext>
            </a:extLst>
          </p:cNvPr>
          <p:cNvGraphicFramePr/>
          <p:nvPr/>
        </p:nvGraphicFramePr>
        <p:xfrm>
          <a:off xmlns:a="http://schemas.openxmlformats.org/drawingml/2006/main" x="1000125" y="2047875"/>
          <a:ext xmlns:a="http://schemas.openxmlformats.org/drawingml/2006/main" cx="100965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286000"/>
                <a:gridCol w="2286000"/>
                <a:gridCol w="2857500"/>
              </a:tblGrid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Fit time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can it learn?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regression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run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run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boundaries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Neural network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run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run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Nonlinear combinations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C09EC-6336-4AD2-B1CB-D7CBB24B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101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 more complex model must earn its place through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6062C-D4BF-42A1-98A4-6EF530E0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959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Accuracy alone is not enough. We will inspect what each model gets wrong.</a:t>
            </a:r>
          </a:p>
        </p:txBody>
      </p:sp>
    </p:spTree>
    <p:extLst>
      <p:ext uri="{BB962C8B-B14F-4D97-AF65-F5344CB8AC3E}">
        <p14:creationId xmlns:p14="http://schemas.microsoft.com/office/powerpoint/2010/main" val="924621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FFE50-0FA4-4683-B10A-5368C833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FE54F-2963-4BB0-A410-6D3BACF8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0C13A-C07F-4A74-9C0D-CA936AE7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Loss tracks training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E107A-B9BE-4822-BEA7-C900393B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46FAB-B378-4F38-A205-82A92522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DCD17-8DC4-4C65-A639-616C212A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Predict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CD506-3917-482D-9A3E-D7F27E30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294" y="219075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Measure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33A44-5566-46F9-9F64-2373F91F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219075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Adjust weights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77640-84C9-42CC-89F3-B4238981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981" y="219075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7D88"/>
          </a:solidFill>
          <a:ln xmlns:a="http://schemas.openxmlformats.org/drawingml/2006/main" w="19050">
            <a:solidFill>
              <a:srgbClr val="147D8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Repeat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3D23D-B24D-412D-BD86-6173BD48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5717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F665D-AE2A-47A2-AA08-5B449509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5717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29D8B-FC6D-46A5-BBD9-FF6EFC8C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81" y="25717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A210D-EE94-4178-9635-0E78098E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767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Loss answers: How wrong is the network during training?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41490-95C6-4B08-ADA1-D9DCB00F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 generally falling curve suggests learning. A noisy or flat curve is a prompt to investigate, not panic.</a:t>
            </a:r>
          </a:p>
        </p:txBody>
      </p:sp>
    </p:spTree>
    <p:extLst>
      <p:ext uri="{BB962C8B-B14F-4D97-AF65-F5344CB8AC3E}">
        <p14:creationId xmlns:p14="http://schemas.microsoft.com/office/powerpoint/2010/main" val="604675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3626B-B656-4234-B3B6-D2CF1F36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501F4-5B64-46D5-9816-5BF29A5D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C075C-7B87-4833-90AA-827106AA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confusion matrix reveals patterns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8C5E4-3A09-4810-AA04-729BC991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14CC1-1031-440E-BEFE-C102CBA4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86424-2B55-4E6C-859C-F5573AE5120C}"/>
              </a:ext>
            </a:extLst>
          </p:cNvPr>
          <p:cNvGraphicFramePr/>
          <p:nvPr/>
        </p:nvGraphicFramePr>
        <p:xfrm>
          <a:off xmlns:a="http://schemas.openxmlformats.org/drawingml/2006/main" x="933450" y="1962150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1143000"/>
                <a:gridCol w="1143000"/>
                <a:gridCol w="1143000"/>
              </a:tblGrid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 ↓ / Predicted →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5CE65-41D2-4C5A-9B61-55B095F4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Read across a row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7B884-A08F-41E6-87BE-1316D9CB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Which prediction did the model make for this actual digit?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82C9D-83A7-4288-AA0D-84816246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286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diagonal holds correct predictions. Off-diagonal cells show specific confusions.</a:t>
            </a:r>
          </a:p>
        </p:txBody>
      </p:sp>
    </p:spTree>
    <p:extLst>
      <p:ext uri="{BB962C8B-B14F-4D97-AF65-F5344CB8AC3E}">
        <p14:creationId xmlns:p14="http://schemas.microsoft.com/office/powerpoint/2010/main" val="1739197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BD8C1-5B83-4EE4-A025-E3781E7F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572FA-DE80-4F00-8606-77E41979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19A55-4E03-42FD-9E20-E52C8259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Misclassified images explain the metric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4FCB5-6132-428B-A6C8-6E787723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1A178-D54C-4538-A95D-492975D8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6B04B-33FB-4770-A631-68C06B8C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For two mistakes, record: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F8204-0A1F-42EB-9620-4CDE894A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The actual digit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The predicted digit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What shape might have confused the model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Whether a person might also hesitate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79393-BD17-4E17-A50D-AF3E4B43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812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EB70F-06F4-4ABB-A74F-C3E16DE0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621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Then try one small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6ED5F-1503-4BA8-B7EC-91FD1823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05100"/>
            <a:ext cx="4286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Change 32 hidden units to 16 or 64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Retrain with the same random seed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Compare accuracy, fit time, and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3503C-DB2B-4E35-9A26-2F96633A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6735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experiment is useful even when the score does not improve.</a:t>
            </a:r>
          </a:p>
        </p:txBody>
      </p:sp>
    </p:spTree>
    <p:extLst>
      <p:ext uri="{BB962C8B-B14F-4D97-AF65-F5344CB8AC3E}">
        <p14:creationId xmlns:p14="http://schemas.microsoft.com/office/powerpoint/2010/main" val="13710802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6E98A-52BB-4059-8603-A797F123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08C6B-2891-4FF7-BD94-DA7E0D9A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B70A1-3ECA-49F0-81B8-328CE7B0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Notebook activity and exit ticket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83A97-9E49-4251-B25B-45F87543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251C8-DD1D-4875-B6B9-63CDE26C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1AD2B-5CA2-4577-A9B0-BB4F5BEE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Inspect digits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D7DC0-1028-4371-AF03-7308AD69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294" y="224790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Train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B8788-AB33-473D-8BB9-7A1C680B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224790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Train network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61951-7F37-4F21-B7D2-ED9FB4D2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981" y="224790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7D88"/>
          </a:solidFill>
          <a:ln xmlns:a="http://schemas.openxmlformats.org/drawingml/2006/main" w="19050">
            <a:solidFill>
              <a:srgbClr val="147D8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Explain two errors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6DA9E-CBDF-4D8B-ACB7-3129E0BB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6289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A307F-3CD8-4377-86E2-09C54457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6289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63C73-D805-4DBA-AED6-9DC126F9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81" y="26289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C6CBE-1189-42DE-9A9E-FBACF140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10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Exit ticket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AAB82-761E-47D8-AD1B-F0BD976C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10050"/>
            <a:ext cx="657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What evidence would convince you that the network is more useful than the baseline?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A2165-64AC-4F53-8953-2204EED7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00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Notebook: notebooks/week-06-digit-classifier.ipynb</a:t>
            </a:r>
          </a:p>
        </p:txBody>
      </p:sp>
    </p:spTree>
    <p:extLst>
      <p:ext uri="{BB962C8B-B14F-4D97-AF65-F5344CB8AC3E}">
        <p14:creationId xmlns:p14="http://schemas.microsoft.com/office/powerpoint/2010/main" val="18556576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2026-10-11T18:33:43.2820000Z</dcterms:created>
  <dcterms:modified xsi:type="dcterms:W3CDTF">2026-10-11T18:33:43.2820000Z</dcterms:modified>
</coreProperties>
</file>